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64" r:id="rId2"/>
    <p:sldId id="272" r:id="rId3"/>
    <p:sldId id="266" r:id="rId4"/>
    <p:sldId id="265" r:id="rId5"/>
    <p:sldId id="267" r:id="rId6"/>
    <p:sldId id="268" r:id="rId7"/>
    <p:sldId id="269" r:id="rId8"/>
    <p:sldId id="270" r:id="rId9"/>
    <p:sldId id="271" r:id="rId10"/>
    <p:sldId id="273" r:id="rId11"/>
    <p:sldId id="274" r:id="rId12"/>
    <p:sldId id="275" r:id="rId13"/>
    <p:sldId id="276" r:id="rId14"/>
    <p:sldId id="277" r:id="rId15"/>
    <p:sldId id="278" r:id="rId16"/>
    <p:sldId id="279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695D"/>
    <a:srgbClr val="F3F3F3"/>
    <a:srgbClr val="F9F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howGuides="1">
      <p:cViewPr>
        <p:scale>
          <a:sx n="75" d="100"/>
          <a:sy n="75" d="100"/>
        </p:scale>
        <p:origin x="252" y="-32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2/14/2024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2/14/2024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2/14/2024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2/14/2024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2/14/2024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2/14/2024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2/14/2024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2/14/2024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2/14/2024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2/14/2024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2/14/2024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2/14/2024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dirty="0">
                <a:solidFill>
                  <a:schemeClr val="accent3"/>
                </a:solidFill>
              </a:rPr>
              <a:t>Do you know what’s funny?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Unit 3.1 – </a:t>
            </a:r>
            <a:r>
              <a:rPr lang="en-US" i="1" dirty="0"/>
              <a:t>Born a Crime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C1FD-538E-06D4-1E05-758A0987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>
                <a:solidFill>
                  <a:schemeClr val="accent3"/>
                </a:solidFill>
              </a:rPr>
              <a:t>Humour in </a:t>
            </a:r>
            <a:r>
              <a:rPr lang="en-AU" sz="4400" i="1" dirty="0">
                <a:solidFill>
                  <a:schemeClr val="accent3"/>
                </a:solidFill>
              </a:rPr>
              <a:t>Born a Crime</a:t>
            </a:r>
            <a:endParaRPr lang="en-AU" sz="4400" dirty="0">
              <a:solidFill>
                <a:schemeClr val="accent3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2912A-614E-57EB-D466-863D5AF41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727325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9DF5-B952-E903-4461-8FA05D38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1-minute </a:t>
            </a:r>
            <a:r>
              <a:rPr lang="en-AU" dirty="0" err="1"/>
              <a:t>thinkstorm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9A3E9-38DA-B290-F4DE-58669050B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AU" sz="3200" dirty="0"/>
              <a:t>What makes something funny?</a:t>
            </a:r>
          </a:p>
        </p:txBody>
      </p:sp>
    </p:spTree>
    <p:extLst>
      <p:ext uri="{BB962C8B-B14F-4D97-AF65-F5344CB8AC3E}">
        <p14:creationId xmlns:p14="http://schemas.microsoft.com/office/powerpoint/2010/main" val="350321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2100D-0295-95A3-450F-42812E41C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1DFF6-F54D-7C79-3175-9A851869C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342E7-2C9A-A6CF-8CF7-D6CFE16314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To improve your skills in writing about an author’s language choices.</a:t>
            </a:r>
          </a:p>
          <a:p>
            <a:r>
              <a:rPr lang="en-AU" dirty="0"/>
              <a:t>To understand how authors create tension and humour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70A1B8-15E0-40D0-3D93-8D848A3A9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You will be successful when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3B4C8-D839-832C-CE99-3E3E9CE0CEF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AU" dirty="0"/>
              <a:t>You have written an explanation of the way Noah creates humour in the text.</a:t>
            </a:r>
          </a:p>
        </p:txBody>
      </p:sp>
    </p:spTree>
    <p:extLst>
      <p:ext uri="{BB962C8B-B14F-4D97-AF65-F5344CB8AC3E}">
        <p14:creationId xmlns:p14="http://schemas.microsoft.com/office/powerpoint/2010/main" val="215792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0E96-D301-B0BB-5BD3-EFE7AD4F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Humour is 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D09F-5162-AA00-3B98-400D81646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AU" sz="2800" b="1" dirty="0">
                <a:solidFill>
                  <a:schemeClr val="accent3"/>
                </a:solidFill>
              </a:rPr>
              <a:t>“At least they would have woken me up before they killed me!”</a:t>
            </a:r>
          </a:p>
          <a:p>
            <a:pPr marL="0" indent="0">
              <a:buNone/>
            </a:pPr>
            <a:r>
              <a:rPr lang="en-AU" sz="2800" dirty="0"/>
              <a:t>At the end of the first chapter, “Run”, the dramatic climax has passed – Noah and his mother have jumped from a moving bus to escape a potentially violent death.</a:t>
            </a:r>
          </a:p>
          <a:p>
            <a:pPr marL="0" indent="0">
              <a:buNone/>
            </a:pPr>
            <a:r>
              <a:rPr lang="en-AU" sz="2800" dirty="0"/>
              <a:t>The sense of relief is reinforced by the humourous reflection above. There is a tension between the seriousness of the events, and the lightness in Noah’s annoyance at being woken up.</a:t>
            </a:r>
          </a:p>
          <a:p>
            <a:pPr marL="0" indent="0">
              <a:buNone/>
            </a:pPr>
            <a:r>
              <a:rPr lang="en-AU" sz="2800" dirty="0"/>
              <a:t>Did he actually say that? It doesn’t matter. It’s funny.</a:t>
            </a:r>
          </a:p>
        </p:txBody>
      </p:sp>
    </p:spTree>
    <p:extLst>
      <p:ext uri="{BB962C8B-B14F-4D97-AF65-F5344CB8AC3E}">
        <p14:creationId xmlns:p14="http://schemas.microsoft.com/office/powerpoint/2010/main" val="164704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39695-2AB8-6481-96A0-394778D5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570C-FD29-0CA4-C60A-EAC8C509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Humour is 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086E6-ECDC-DA70-C611-B13BFE11D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Humour is created in the tension between two conflicting ideas.</a:t>
            </a:r>
            <a:endParaRPr lang="en-AU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AU" b="1" dirty="0"/>
              <a:t>Puns</a:t>
            </a:r>
            <a:r>
              <a:rPr lang="en-AU" dirty="0"/>
              <a:t> (wordplay) – tension between two words or meanings.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Two goldfish are in a tank. One says: “You man the guns! I’ll drive!”</a:t>
            </a:r>
          </a:p>
          <a:p>
            <a:pPr marL="0" indent="0">
              <a:buNone/>
            </a:pPr>
            <a:r>
              <a:rPr lang="en-AU" b="1" dirty="0"/>
              <a:t>Dramatic irony</a:t>
            </a:r>
            <a:r>
              <a:rPr lang="en-AU" dirty="0"/>
              <a:t> – tension between what the audience knows and what a character knows.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In “Go Hitler!” the reader knows exactly why the Jewish event organisers are offended.</a:t>
            </a:r>
          </a:p>
        </p:txBody>
      </p:sp>
    </p:spTree>
    <p:extLst>
      <p:ext uri="{BB962C8B-B14F-4D97-AF65-F5344CB8AC3E}">
        <p14:creationId xmlns:p14="http://schemas.microsoft.com/office/powerpoint/2010/main" val="4261310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621C3-AE2E-3FFC-B515-B29FDE586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AC081-C4AB-C554-C924-EC9DE84D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Humour is 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2640B-3A06-3858-2650-8D2519C11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Humour is created in the tension between two conflicting ideas.</a:t>
            </a:r>
            <a:endParaRPr lang="en-AU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AU" b="1" dirty="0"/>
              <a:t>Farce</a:t>
            </a:r>
            <a:r>
              <a:rPr lang="en-AU" dirty="0"/>
              <a:t> (or slapstick) – tension between how we expect people to behave and how they </a:t>
            </a:r>
            <a:r>
              <a:rPr lang="en-AU" i="1" dirty="0"/>
              <a:t>actually</a:t>
            </a:r>
            <a:r>
              <a:rPr lang="en-AU" dirty="0"/>
              <a:t> behave.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We would not expect somebody to place a newspaper on the floor and do a shit. There’s also a tension created by a blind woman hearing it.</a:t>
            </a:r>
          </a:p>
          <a:p>
            <a:pPr marL="0" indent="0">
              <a:buNone/>
            </a:pPr>
            <a:r>
              <a:rPr lang="en-AU" b="1" dirty="0"/>
              <a:t>Comedy of errors </a:t>
            </a:r>
            <a:r>
              <a:rPr lang="en-AU" dirty="0"/>
              <a:t>– tension between right and wrong choices.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Similarly, Trevor should have chosen to poop outside, but didn’t. He then should have chosen to own up, but instead prayed to kill the Demon responsible for doing it.</a:t>
            </a:r>
          </a:p>
        </p:txBody>
      </p:sp>
    </p:spTree>
    <p:extLst>
      <p:ext uri="{BB962C8B-B14F-4D97-AF65-F5344CB8AC3E}">
        <p14:creationId xmlns:p14="http://schemas.microsoft.com/office/powerpoint/2010/main" val="4116956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1BA5D-EC2E-49AA-421E-47974EFB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7F2F-23B6-AF2C-ADC4-494C2D7F9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Humour is 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E5510-BD78-08DB-F538-E95545A1D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Humour is created in the tension between two conflicting ideas.</a:t>
            </a:r>
            <a:endParaRPr lang="en-AU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AU" b="1" dirty="0"/>
              <a:t>Realisations</a:t>
            </a:r>
            <a:r>
              <a:rPr lang="en-AU" dirty="0"/>
              <a:t> – the moment that the tension is released. Tension between what the character thought and what they now know.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“How did you n</a:t>
            </a:r>
          </a:p>
          <a:p>
            <a:pPr marL="0" indent="0">
              <a:buNone/>
            </a:pPr>
            <a:r>
              <a:rPr lang="en-AU" b="1" dirty="0"/>
              <a:t>Tonal humour</a:t>
            </a:r>
            <a:r>
              <a:rPr lang="en-AU" dirty="0"/>
              <a:t> – the tension between different emotions.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“The genius of Apartheid.”</a:t>
            </a:r>
          </a:p>
          <a:p>
            <a:pPr marL="426645" lvl="1" indent="0">
              <a:buNone/>
            </a:pPr>
            <a:r>
              <a:rPr lang="en-AU" sz="2400" i="1" dirty="0">
                <a:solidFill>
                  <a:schemeClr val="accent2"/>
                </a:solidFill>
              </a:rPr>
              <a:t>“Perfect racism”</a:t>
            </a:r>
          </a:p>
        </p:txBody>
      </p:sp>
    </p:spTree>
    <p:extLst>
      <p:ext uri="{BB962C8B-B14F-4D97-AF65-F5344CB8AC3E}">
        <p14:creationId xmlns:p14="http://schemas.microsoft.com/office/powerpoint/2010/main" val="3952220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9647-9444-5845-F988-FBFCCD6A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719F9-2431-AB15-7CFE-249ED51F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5-10-minute writing task</a:t>
            </a:r>
          </a:p>
          <a:p>
            <a:pPr marL="0" indent="0">
              <a:buNone/>
            </a:pPr>
            <a:endParaRPr lang="en-AU" b="1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AU" dirty="0"/>
              <a:t>Summarise the use of comedy in </a:t>
            </a:r>
            <a:r>
              <a:rPr lang="en-AU" i="1" dirty="0"/>
              <a:t>Born a Crime</a:t>
            </a:r>
            <a:r>
              <a:rPr lang="en-AU" dirty="0"/>
              <a:t>. How does Trevor Noah create humour?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9241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6975-EE98-F001-2502-9F11E4EA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>
                <a:solidFill>
                  <a:schemeClr val="accent3"/>
                </a:solidFill>
              </a:rPr>
              <a:t>Writing about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8FF58-487E-F35D-9673-BB8807A634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367369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0BF0-EBBE-8BE9-C8ED-89FE44066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Purpose and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4AA36-5B6B-6C38-93B7-EBE6B7CA3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Don’t start with the audience!</a:t>
            </a:r>
          </a:p>
          <a:p>
            <a:pPr marL="0" indent="0">
              <a:buNone/>
            </a:pPr>
            <a:r>
              <a:rPr lang="en-AU" dirty="0"/>
              <a:t>When writing about purpose and audience, a mistake we often make is to start by identifying the audience.</a:t>
            </a:r>
          </a:p>
          <a:p>
            <a:pPr marL="722313" indent="0">
              <a:buNone/>
            </a:pPr>
            <a:r>
              <a:rPr lang="en-AU" i="1" dirty="0">
                <a:solidFill>
                  <a:schemeClr val="accent3"/>
                </a:solidFill>
              </a:rPr>
              <a:t>The audience of </a:t>
            </a:r>
            <a:r>
              <a:rPr lang="en-AU" dirty="0">
                <a:solidFill>
                  <a:schemeClr val="accent3"/>
                </a:solidFill>
              </a:rPr>
              <a:t>Born a Crime</a:t>
            </a:r>
            <a:r>
              <a:rPr lang="en-AU" i="1" dirty="0">
                <a:solidFill>
                  <a:schemeClr val="accent3"/>
                </a:solidFill>
              </a:rPr>
              <a:t> is people who are interested in Trevor Noah</a:t>
            </a:r>
            <a:r>
              <a:rPr lang="en-AU" dirty="0">
                <a:solidFill>
                  <a:schemeClr val="accent3"/>
                </a:solidFill>
              </a:rPr>
              <a:t>.</a:t>
            </a:r>
          </a:p>
          <a:p>
            <a:pPr marL="0" indent="0">
              <a:buNone/>
            </a:pPr>
            <a:r>
              <a:rPr lang="en-AU" dirty="0"/>
              <a:t>This is shallow and essentially pointless.</a:t>
            </a:r>
          </a:p>
          <a:p>
            <a:pPr marL="0" indent="0">
              <a:buNone/>
            </a:pPr>
            <a:r>
              <a:rPr lang="en-AU" dirty="0"/>
              <a:t>Instead, we need to start with </a:t>
            </a:r>
            <a:r>
              <a:rPr lang="en-AU" b="1" dirty="0"/>
              <a:t>purpose.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4621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2464-0477-496C-B21E-CD42D9D25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101C-9D9A-9E9A-BA38-6837D9F35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Purpose </a:t>
            </a:r>
            <a:r>
              <a:rPr lang="en-AU" strike="sngStrik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and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E2821-0BF1-E11D-8E9B-37EAC983E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701799"/>
            <a:ext cx="3320919" cy="46359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200" b="1" dirty="0">
                <a:solidFill>
                  <a:schemeClr val="accent3"/>
                </a:solidFill>
              </a:rPr>
              <a:t>What are the purposes of </a:t>
            </a:r>
            <a:r>
              <a:rPr lang="en-AU" sz="2200" b="1" i="1" dirty="0">
                <a:solidFill>
                  <a:schemeClr val="accent3"/>
                </a:solidFill>
              </a:rPr>
              <a:t>Born a Crime</a:t>
            </a:r>
            <a:r>
              <a:rPr lang="en-AU" sz="2200" b="1" dirty="0">
                <a:solidFill>
                  <a:schemeClr val="accent3"/>
                </a:solidFill>
              </a:rPr>
              <a:t>?</a:t>
            </a:r>
          </a:p>
          <a:p>
            <a:pPr marL="0" indent="0">
              <a:buNone/>
            </a:pPr>
            <a:r>
              <a:rPr lang="en-AU" sz="2200" dirty="0"/>
              <a:t>There are always multiple purposes.</a:t>
            </a:r>
          </a:p>
          <a:p>
            <a:pPr marL="0" indent="0">
              <a:buNone/>
            </a:pPr>
            <a:r>
              <a:rPr lang="en-AU" sz="2200" dirty="0"/>
              <a:t>What do you think Trevor Noah was trying to achieve by creating this text?</a:t>
            </a:r>
          </a:p>
          <a:p>
            <a:pPr marL="1973263" indent="-1973263">
              <a:buNone/>
              <a:tabLst>
                <a:tab pos="2060575" algn="l"/>
              </a:tabLst>
            </a:pPr>
            <a:endParaRPr lang="en-A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0D5D79-9296-E055-F963-711A176CA981}"/>
              </a:ext>
            </a:extLst>
          </p:cNvPr>
          <p:cNvSpPr txBox="1"/>
          <p:nvPr/>
        </p:nvSpPr>
        <p:spPr>
          <a:xfrm>
            <a:off x="4942284" y="1628800"/>
            <a:ext cx="618836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7300" indent="-1257300">
              <a:spcAft>
                <a:spcPts val="600"/>
              </a:spcAft>
              <a:buNone/>
              <a:tabLst>
                <a:tab pos="2060575" algn="l"/>
              </a:tabLst>
            </a:pPr>
            <a:r>
              <a:rPr lang="en-AU" sz="2000" b="1" dirty="0">
                <a:solidFill>
                  <a:schemeClr val="accent3"/>
                </a:solidFill>
              </a:rPr>
              <a:t>Informative</a:t>
            </a:r>
            <a:r>
              <a:rPr lang="en-AU" sz="2000" dirty="0"/>
              <a:t> – to convey the experience of life in post-Apartheid South Africa</a:t>
            </a:r>
          </a:p>
          <a:p>
            <a:pPr marL="1257300" indent="-1257300">
              <a:spcAft>
                <a:spcPts val="600"/>
              </a:spcAft>
              <a:buNone/>
              <a:tabLst>
                <a:tab pos="2060575" algn="l"/>
              </a:tabLst>
            </a:pPr>
            <a:r>
              <a:rPr lang="en-AU" sz="2000" b="1" dirty="0">
                <a:solidFill>
                  <a:schemeClr val="accent3"/>
                </a:solidFill>
              </a:rPr>
              <a:t>Didactic</a:t>
            </a:r>
            <a:r>
              <a:rPr lang="en-AU" sz="2000" dirty="0"/>
              <a:t> – to educate the audience; to show us how we might learn from one person’s experiences.</a:t>
            </a:r>
          </a:p>
          <a:p>
            <a:pPr marL="1257300" indent="-1257300">
              <a:spcAft>
                <a:spcPts val="600"/>
              </a:spcAft>
              <a:buNone/>
              <a:tabLst>
                <a:tab pos="2060575" algn="l"/>
              </a:tabLst>
            </a:pPr>
            <a:r>
              <a:rPr lang="en-AU" sz="2000" b="1" dirty="0">
                <a:solidFill>
                  <a:schemeClr val="accent3"/>
                </a:solidFill>
              </a:rPr>
              <a:t>To entertain </a:t>
            </a:r>
            <a:r>
              <a:rPr lang="en-AU" sz="2000" dirty="0"/>
              <a:t>– to make the reader keep reading, whether that be through comedy or dramatic tension.</a:t>
            </a:r>
          </a:p>
          <a:p>
            <a:pPr marL="1257300" indent="-1257300">
              <a:spcAft>
                <a:spcPts val="600"/>
              </a:spcAft>
              <a:buNone/>
              <a:tabLst>
                <a:tab pos="2060575" algn="l"/>
              </a:tabLst>
            </a:pPr>
            <a:r>
              <a:rPr lang="en-AU" sz="2000" b="1" dirty="0">
                <a:solidFill>
                  <a:schemeClr val="accent3"/>
                </a:solidFill>
              </a:rPr>
              <a:t>Social</a:t>
            </a:r>
            <a:r>
              <a:rPr lang="en-AU" sz="2000" dirty="0"/>
              <a:t> – to build a connection (rapport) between Noah and his audience; to make the reader feel like they know him.</a:t>
            </a:r>
          </a:p>
          <a:p>
            <a:pPr marL="1257300" indent="-1257300">
              <a:spcAft>
                <a:spcPts val="600"/>
              </a:spcAft>
              <a:buNone/>
              <a:tabLst>
                <a:tab pos="2060575" algn="l"/>
              </a:tabLst>
            </a:pPr>
            <a:r>
              <a:rPr lang="en-AU" sz="2000" b="1" dirty="0">
                <a:solidFill>
                  <a:schemeClr val="accent3"/>
                </a:solidFill>
              </a:rPr>
              <a:t>Financial</a:t>
            </a:r>
            <a:r>
              <a:rPr lang="en-AU" sz="2000" dirty="0"/>
              <a:t> – to grow an audience and to make money.</a:t>
            </a:r>
          </a:p>
        </p:txBody>
      </p:sp>
    </p:spTree>
    <p:extLst>
      <p:ext uri="{BB962C8B-B14F-4D97-AF65-F5344CB8AC3E}">
        <p14:creationId xmlns:p14="http://schemas.microsoft.com/office/powerpoint/2010/main" val="2955553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0C34B-C293-FC66-780B-6CA9EB75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29E1-52F1-F169-8BB9-10CC0D77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Purpose and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E0F8-4E6C-DABF-8E96-AFCF416B1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Once you can identify a purpose, you can then consider the audience.</a:t>
            </a:r>
          </a:p>
          <a:p>
            <a:pPr marL="0" indent="0">
              <a:buNone/>
            </a:pPr>
            <a:r>
              <a:rPr lang="en-AU" i="1" dirty="0"/>
              <a:t>E.g.</a:t>
            </a:r>
          </a:p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To inform whom?</a:t>
            </a:r>
          </a:p>
          <a:p>
            <a:pPr marL="361950" indent="0">
              <a:buNone/>
            </a:pPr>
            <a:r>
              <a:rPr lang="en-AU" dirty="0"/>
              <a:t>Who do you think Noah wants to inform about the difficulties of 1990s South Africa? </a:t>
            </a:r>
          </a:p>
          <a:p>
            <a:pPr marL="361950" indent="0">
              <a:buNone/>
            </a:pPr>
            <a:r>
              <a:rPr lang="en-AU" dirty="0"/>
              <a:t>Who do you think doesn’t already know about the Immorality Act of 1927 and the eleven official languages of South Africa?</a:t>
            </a:r>
          </a:p>
          <a:p>
            <a:pPr marL="0" indent="0">
              <a:buNone/>
            </a:pPr>
            <a:r>
              <a:rPr lang="en-AU" b="1" dirty="0">
                <a:solidFill>
                  <a:schemeClr val="accent3"/>
                </a:solidFill>
              </a:rPr>
              <a:t>To build rapport with whom?</a:t>
            </a:r>
          </a:p>
          <a:p>
            <a:pPr marL="361950" indent="0">
              <a:buNone/>
            </a:pPr>
            <a:r>
              <a:rPr lang="en-AU" dirty="0"/>
              <a:t>Who do you think would pick up this book? Why would Noah want them to feel closer to him?</a:t>
            </a:r>
          </a:p>
        </p:txBody>
      </p:sp>
    </p:spTree>
    <p:extLst>
      <p:ext uri="{BB962C8B-B14F-4D97-AF65-F5344CB8AC3E}">
        <p14:creationId xmlns:p14="http://schemas.microsoft.com/office/powerpoint/2010/main" val="1524157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40B6-55B0-642F-3710-90C8FF21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about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D487-8B2A-E4E7-2D95-3DA863228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700808"/>
            <a:ext cx="10157354" cy="9361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2000" dirty="0"/>
              <a:t>There are many language choices Noah has made throughout the text.</a:t>
            </a:r>
          </a:p>
          <a:p>
            <a:pPr marL="0" indent="0">
              <a:buNone/>
            </a:pPr>
            <a:r>
              <a:rPr lang="en-AU" sz="2000" dirty="0"/>
              <a:t>In order to </a:t>
            </a:r>
            <a:r>
              <a:rPr lang="en-AU" sz="2000" i="1" dirty="0"/>
              <a:t>explain</a:t>
            </a:r>
            <a:r>
              <a:rPr lang="en-AU" sz="2000" dirty="0"/>
              <a:t> these choices, you need to connect them to a purpose.</a:t>
            </a:r>
          </a:p>
          <a:p>
            <a:pPr marL="0" indent="0">
              <a:buNone/>
            </a:pPr>
            <a:endParaRPr lang="en-AU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88F446-F737-B04A-7349-39A32D46D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34800"/>
              </p:ext>
            </p:extLst>
          </p:nvPr>
        </p:nvGraphicFramePr>
        <p:xfrm>
          <a:off x="1917948" y="2768600"/>
          <a:ext cx="8568952" cy="3632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4024516">
                  <a:extLst>
                    <a:ext uri="{9D8B030D-6E8A-4147-A177-3AD203B41FA5}">
                      <a16:colId xmlns:a16="http://schemas.microsoft.com/office/drawing/2014/main" val="3798105633"/>
                    </a:ext>
                  </a:extLst>
                </a:gridCol>
                <a:gridCol w="4544436">
                  <a:extLst>
                    <a:ext uri="{9D8B030D-6E8A-4147-A177-3AD203B41FA5}">
                      <a16:colId xmlns:a16="http://schemas.microsoft.com/office/drawing/2014/main" val="3009217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Language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00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427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The use of humour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entertain (comedy)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109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Coarse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entertain &amp; to build closeness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730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Violent depictions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inform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226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Explicit foreshadowing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entertain (building tension)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40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Inclusion of other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inform and educate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278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Symbols/motifs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entertain (expression) and educate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483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Informal narrative voice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build closeness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9355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sz="1800" dirty="0"/>
                        <a:t>Reflective narrator and internal dialogue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/>
                        <a:t>To educate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579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8177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2BEA-8814-E42D-CD81-2C2F8A69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Writing about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FDAB-82F4-6638-DE01-C0FC33150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Your task</a:t>
            </a:r>
          </a:p>
        </p:txBody>
      </p:sp>
    </p:spTree>
    <p:extLst>
      <p:ext uri="{BB962C8B-B14F-4D97-AF65-F5344CB8AC3E}">
        <p14:creationId xmlns:p14="http://schemas.microsoft.com/office/powerpoint/2010/main" val="10811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8DAA-9433-7CE2-E05C-3C775C691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Writing about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7DFB2-2F50-96A5-6ADB-77506420A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701800"/>
            <a:ext cx="7929431" cy="287932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dirty="0"/>
              <a:t>Open the OneNote page 06w – Writing about language</a:t>
            </a:r>
          </a:p>
          <a:p>
            <a:pPr marL="457200" indent="-457200">
              <a:buAutoNum type="arabicPeriod"/>
            </a:pPr>
            <a:r>
              <a:rPr lang="en-AU" dirty="0"/>
              <a:t>Write a summary of the text’s purposes.</a:t>
            </a:r>
          </a:p>
          <a:p>
            <a:pPr marL="457200" indent="-457200">
              <a:buAutoNum type="arabicPeriod"/>
            </a:pPr>
            <a:r>
              <a:rPr lang="en-AU" dirty="0"/>
              <a:t>Work with a partner to find your own examples of each type of language choice. </a:t>
            </a:r>
          </a:p>
          <a:p>
            <a:pPr marL="457200" indent="-457200">
              <a:buAutoNum type="arabicPeriod"/>
            </a:pPr>
            <a:r>
              <a:rPr lang="en-AU" dirty="0"/>
              <a:t>Write a sentence that explains the language choice made by Noah by explaining how it helps achieve a purpose. The sentence should include an embedded quote.</a:t>
            </a:r>
          </a:p>
          <a:p>
            <a:pPr marL="457200" indent="-457200">
              <a:buAutoNum type="arabicPeriod"/>
            </a:pPr>
            <a:r>
              <a:rPr lang="en-AU" dirty="0"/>
              <a:t>Write an analytic sentence that explains the effect of multiple language choices.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8665FF-7159-E6A0-B49A-6243A3178C10}"/>
              </a:ext>
            </a:extLst>
          </p:cNvPr>
          <p:cNvSpPr txBox="1">
            <a:spLocks/>
          </p:cNvSpPr>
          <p:nvPr/>
        </p:nvSpPr>
        <p:spPr>
          <a:xfrm>
            <a:off x="9478788" y="1701800"/>
            <a:ext cx="2240799" cy="2087240"/>
          </a:xfrm>
          <a:prstGeom prst="rect">
            <a:avLst/>
          </a:prstGeom>
          <a:solidFill>
            <a:srgbClr val="F9FAEC"/>
          </a:solidFill>
          <a:ln>
            <a:solidFill>
              <a:schemeClr val="accent3"/>
            </a:solidFill>
          </a:ln>
          <a:effectLst>
            <a:outerShdw blurRad="139700" dist="139700" dir="2700000" algn="tl" rotWithShape="0">
              <a:prstClr val="black">
                <a:alpha val="40000"/>
              </a:prstClr>
            </a:outerShdw>
          </a:effectLst>
        </p:spPr>
        <p:txBody>
          <a:bodyPr vert="horz" lIns="121899" tIns="60949" rIns="121899" bIns="60949" rtlCol="0" anchor="ctr">
            <a:normAutofit fontScale="85000" lnSpcReduction="10000"/>
          </a:bodyPr>
          <a:lstStyle>
            <a:lvl1pPr marL="304747" indent="-304747" algn="l" defTabSz="1218987" rtl="0" eaLnBrk="1" latinLnBrk="0" hangingPunct="1">
              <a:lnSpc>
                <a:spcPct val="95000"/>
              </a:lnSpc>
              <a:spcBef>
                <a:spcPts val="1866"/>
              </a:spcBef>
              <a:buSzPct val="10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10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37973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461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264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78859" indent="-304747" algn="l" defTabSz="1218987" rtl="0" eaLnBrk="1" latinLnBrk="0" hangingPunct="1">
              <a:lnSpc>
                <a:spcPct val="95000"/>
              </a:lnSpc>
              <a:spcBef>
                <a:spcPts val="1066"/>
              </a:spcBef>
              <a:buSzPct val="90000"/>
              <a:buFont typeface="Century Gothic" pitchFamily="34" charset="0"/>
              <a:buChar char="–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1800" dirty="0"/>
              <a:t>Remember our work on the </a:t>
            </a:r>
            <a:r>
              <a:rPr lang="en-AU" sz="1800" b="1" dirty="0">
                <a:solidFill>
                  <a:srgbClr val="C00000"/>
                </a:solidFill>
              </a:rPr>
              <a:t>subject</a:t>
            </a:r>
            <a:r>
              <a:rPr lang="en-AU" sz="1800" dirty="0"/>
              <a:t> and </a:t>
            </a:r>
            <a:r>
              <a:rPr lang="en-AU" sz="1800" b="1" i="1" dirty="0">
                <a:solidFill>
                  <a:srgbClr val="00B050"/>
                </a:solidFill>
              </a:rPr>
              <a:t>verb</a:t>
            </a:r>
            <a:r>
              <a:rPr lang="en-AU" sz="1800" dirty="0"/>
              <a:t> of a sentence.</a:t>
            </a:r>
          </a:p>
          <a:p>
            <a:pPr marL="0" indent="0">
              <a:buFont typeface="Arial" pitchFamily="34" charset="0"/>
              <a:buNone/>
            </a:pPr>
            <a:r>
              <a:rPr lang="en-AU" sz="1800" dirty="0"/>
              <a:t>In this task, try to make the language choice the subject of the sentence.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ACD7D6-B90F-2548-C563-3DEB490C5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505699"/>
              </p:ext>
            </p:extLst>
          </p:nvPr>
        </p:nvGraphicFramePr>
        <p:xfrm>
          <a:off x="1197867" y="4809728"/>
          <a:ext cx="10521719" cy="1643608"/>
        </p:xfrm>
        <a:graphic>
          <a:graphicData uri="http://schemas.openxmlformats.org/drawingml/2006/table">
            <a:tbl>
              <a:tblPr/>
              <a:tblGrid>
                <a:gridCol w="1851602">
                  <a:extLst>
                    <a:ext uri="{9D8B030D-6E8A-4147-A177-3AD203B41FA5}">
                      <a16:colId xmlns:a16="http://schemas.microsoft.com/office/drawing/2014/main" val="1804773096"/>
                    </a:ext>
                  </a:extLst>
                </a:gridCol>
                <a:gridCol w="2108839">
                  <a:extLst>
                    <a:ext uri="{9D8B030D-6E8A-4147-A177-3AD203B41FA5}">
                      <a16:colId xmlns:a16="http://schemas.microsoft.com/office/drawing/2014/main" val="134517018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1229343909"/>
                    </a:ext>
                  </a:extLst>
                </a:gridCol>
                <a:gridCol w="3248910">
                  <a:extLst>
                    <a:ext uri="{9D8B030D-6E8A-4147-A177-3AD203B41FA5}">
                      <a16:colId xmlns:a16="http://schemas.microsoft.com/office/drawing/2014/main" val="3920899156"/>
                    </a:ext>
                  </a:extLst>
                </a:gridCol>
              </a:tblGrid>
              <a:tr h="388945"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Language &amp; devices</a:t>
                      </a:r>
                      <a:endParaRPr lang="en-AU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Quotes from the text</a:t>
                      </a:r>
                      <a:endParaRPr lang="en-AU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Explanation with quote embedded</a:t>
                      </a:r>
                      <a:endParaRPr lang="en-AU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4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When examined together…</a:t>
                      </a:r>
                      <a:endParaRPr lang="en-AU" sz="14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397518"/>
                  </a:ext>
                </a:extLst>
              </a:tr>
              <a:tr h="1254663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AU" sz="1300" dirty="0">
                          <a:effectLst/>
                          <a:latin typeface="Calibri" panose="020F0502020204030204" pitchFamily="34" charset="0"/>
                        </a:rPr>
                        <a:t>Reflective narrative voice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effectLst/>
                          <a:latin typeface="Calibri" panose="020F0502020204030204" pitchFamily="34" charset="0"/>
                        </a:rPr>
                        <a:t> “I didn’t fully comprehend the danger we were in at that moment.” 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The reflective narrative voice </a:t>
                      </a:r>
                      <a:r>
                        <a:rPr lang="en-AU" sz="1300" dirty="0">
                          <a:solidFill>
                            <a:srgbClr val="3B695D"/>
                          </a:solidFill>
                          <a:effectLst/>
                          <a:latin typeface="Calibri" panose="020F0502020204030204" pitchFamily="34" charset="0"/>
                        </a:rPr>
                        <a:t>reflects</a:t>
                      </a:r>
                      <a:r>
                        <a:rPr lang="en-AU" sz="13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AU" sz="13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the adult Noah not “fully comprehend[</a:t>
                      </a:r>
                      <a:r>
                        <a:rPr lang="en-AU" sz="13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ing</a:t>
                      </a:r>
                      <a:r>
                        <a:rPr lang="en-AU" sz="13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] the danger” of the situation, allowing</a:t>
                      </a:r>
                      <a:r>
                        <a:rPr lang="en-AU" sz="1300" dirty="0">
                          <a:effectLst/>
                          <a:latin typeface="Calibri" panose="020F0502020204030204" pitchFamily="34" charset="0"/>
                        </a:rPr>
                        <a:t> the audience to better relate to the young Noah’s exposure to violence.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AU" sz="1300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The internal dialogue of Noah wondering “What just happened” </a:t>
                      </a:r>
                      <a:r>
                        <a:rPr lang="en-AU" sz="1300" dirty="0">
                          <a:solidFill>
                            <a:srgbClr val="3B695D"/>
                          </a:solidFill>
                          <a:effectLst/>
                          <a:latin typeface="Calibri" panose="020F0502020204030204" pitchFamily="34" charset="0"/>
                        </a:rPr>
                        <a:t>gives</a:t>
                      </a:r>
                      <a:r>
                        <a:rPr lang="en-AU" sz="1300" dirty="0">
                          <a:effectLst/>
                          <a:latin typeface="Calibri" panose="020F0502020204030204" pitchFamily="34" charset="0"/>
                        </a:rPr>
                        <a:t> the reflection </a:t>
                      </a:r>
                      <a:r>
                        <a:rPr lang="en-AU" sz="1300" dirty="0">
                          <a:solidFill>
                            <a:srgbClr val="3B695D"/>
                          </a:solidFill>
                          <a:effectLst/>
                          <a:latin typeface="Calibri" panose="020F0502020204030204" pitchFamily="34" charset="0"/>
                        </a:rPr>
                        <a:t>added weight </a:t>
                      </a:r>
                      <a:r>
                        <a:rPr lang="en-AU" sz="1300" dirty="0">
                          <a:effectLst/>
                          <a:latin typeface="Calibri" panose="020F0502020204030204" pitchFamily="34" charset="0"/>
                        </a:rPr>
                        <a:t>by increasing the distance between the author and his child self.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41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32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9A4E33EC-D715-440E-9062-8AFA4CC9E341}" vid="{0DFBCB81-4ACA-49F1-BA1C-2B43B27F1FC4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0" ma:contentTypeDescription="Create a new document." ma:contentTypeScope="" ma:versionID="eceeccfb90892b5bada9b120beb2cb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6FE94E-3105-497E-A480-C7FDD538367A}"/>
</file>

<file path=customXml/itemProps2.xml><?xml version="1.0" encoding="utf-8"?>
<ds:datastoreItem xmlns:ds="http://schemas.openxmlformats.org/officeDocument/2006/customXml" ds:itemID="{2D4E70C4-9A6F-46CB-B00E-3EDCDEFC4D5A}"/>
</file>

<file path=customXml/itemProps3.xml><?xml version="1.0" encoding="utf-8"?>
<ds:datastoreItem xmlns:ds="http://schemas.openxmlformats.org/officeDocument/2006/customXml" ds:itemID="{B38091E3-F075-456E-9BEE-4564E381AE58}"/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174</TotalTime>
  <Words>1009</Words>
  <Application>Microsoft Office PowerPoint</Application>
  <PresentationFormat>Custom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Century Gothic</vt:lpstr>
      <vt:lpstr>Books 16x9</vt:lpstr>
      <vt:lpstr>Do you know what’s funny?</vt:lpstr>
      <vt:lpstr>Humour in Born a Crime</vt:lpstr>
      <vt:lpstr>1-minute thinkstorm</vt:lpstr>
      <vt:lpstr>Learning Outcomes</vt:lpstr>
      <vt:lpstr>Humour is tension</vt:lpstr>
      <vt:lpstr>Humour is tension</vt:lpstr>
      <vt:lpstr>Humour is tension</vt:lpstr>
      <vt:lpstr>Humour is tension</vt:lpstr>
      <vt:lpstr>Reflect</vt:lpstr>
      <vt:lpstr>Writing about language</vt:lpstr>
      <vt:lpstr>Purpose and audience</vt:lpstr>
      <vt:lpstr>Purpose and audience</vt:lpstr>
      <vt:lpstr>Purpose and audience</vt:lpstr>
      <vt:lpstr>Writing about language</vt:lpstr>
      <vt:lpstr>Writing about language</vt:lpstr>
      <vt:lpstr>Writing about language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you know what’s funny?</dc:title>
  <dc:creator>Lincoln LE FEVRE</dc:creator>
  <cp:lastModifiedBy>Lincoln LE FEVRE</cp:lastModifiedBy>
  <cp:revision>5</cp:revision>
  <dcterms:created xsi:type="dcterms:W3CDTF">2024-02-14T01:35:44Z</dcterms:created>
  <dcterms:modified xsi:type="dcterms:W3CDTF">2024-02-14T04:30:01Z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0x010100F6DD71352A75C946BB20F54B03F82ED8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