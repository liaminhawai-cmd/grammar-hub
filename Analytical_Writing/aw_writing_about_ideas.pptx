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8" r:id="rId3"/>
    <p:sldId id="259" r:id="rId4"/>
    <p:sldId id="263" r:id="rId5"/>
    <p:sldId id="264" r:id="rId6"/>
    <p:sldId id="265" r:id="rId7"/>
    <p:sldId id="266" r:id="rId8"/>
    <p:sldId id="267" r:id="rId9"/>
    <p:sldId id="268" r:id="rId10"/>
    <p:sldId id="260" r:id="rId11"/>
    <p:sldId id="261" r:id="rId12"/>
    <p:sldId id="262" r:id="rId13"/>
    <p:sldId id="269" r:id="rId14"/>
    <p:sldId id="25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250" autoAdjust="0"/>
    <p:restoredTop sz="94660"/>
  </p:normalViewPr>
  <p:slideViewPr>
    <p:cSldViewPr snapToGrid="0">
      <p:cViewPr varScale="1">
        <p:scale>
          <a:sx n="66" d="100"/>
          <a:sy n="66" d="100"/>
        </p:scale>
        <p:origin x="2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6235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612695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836294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4239862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263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45542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763857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034934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p:cNvSpPr>
          <p:nvPr>
            <p:ph type="pic" idx="1"/>
          </p:nvPr>
        </p:nvSpPr>
        <p:spPr>
          <a:xfrm>
            <a:off x="5334001" y="762000"/>
            <a:ext cx="5333999" cy="5334000"/>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565531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545243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3C2B07E4-CDF9-4C88-A2F3-04620E58224D}" type="datetimeFigureOut">
              <a:rPr lang="en-US" smtClean="0"/>
              <a:t>2/9/2024</a:t>
            </a:fld>
            <a:endParaRPr lang="en-US"/>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765140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3C2B07E4-CDF9-4C88-A2F3-04620E58224D}" type="datetimeFigureOut">
              <a:rPr lang="en-US" smtClean="0"/>
              <a:pPr/>
              <a:t>2/9/2024</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EFE71E98-A417-4ECC-ACEB-C0490C20DB04}" type="slidenum">
              <a:rPr lang="en-US" smtClean="0"/>
              <a:pPr/>
              <a:t>‹#›</a:t>
            </a:fld>
            <a:endParaRPr lang="en-US"/>
          </a:p>
        </p:txBody>
      </p:sp>
    </p:spTree>
    <p:extLst>
      <p:ext uri="{BB962C8B-B14F-4D97-AF65-F5344CB8AC3E}">
        <p14:creationId xmlns:p14="http://schemas.microsoft.com/office/powerpoint/2010/main" val="1958991313"/>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760E4C7-47B8-4356-ABCA-CC9C79E2D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lored pencils inside a pencil holder which is on top of a wood table">
            <a:extLst>
              <a:ext uri="{FF2B5EF4-FFF2-40B4-BE49-F238E27FC236}">
                <a16:creationId xmlns:a16="http://schemas.microsoft.com/office/drawing/2014/main" id="{8086F639-8412-C8B2-9347-D3417FCFDEB3}"/>
              </a:ext>
            </a:extLst>
          </p:cNvPr>
          <p:cNvPicPr>
            <a:picLocks noChangeAspect="1"/>
          </p:cNvPicPr>
          <p:nvPr/>
        </p:nvPicPr>
        <p:blipFill rotWithShape="1">
          <a:blip r:embed="rId2">
            <a:alphaModFix/>
          </a:blip>
          <a:srcRect t="15749"/>
          <a:stretch/>
        </p:blipFill>
        <p:spPr>
          <a:xfrm>
            <a:off x="20" y="1571"/>
            <a:ext cx="12191980" cy="6856429"/>
          </a:xfrm>
          <a:prstGeom prst="rect">
            <a:avLst/>
          </a:prstGeom>
        </p:spPr>
      </p:pic>
      <p:sp useBgFill="1">
        <p:nvSpPr>
          <p:cNvPr id="11" name="Rectangle 10">
            <a:extLst>
              <a:ext uri="{FF2B5EF4-FFF2-40B4-BE49-F238E27FC236}">
                <a16:creationId xmlns:a16="http://schemas.microsoft.com/office/drawing/2014/main" id="{3898FA35-B55D-44B7-9A7D-57C57A4A6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1524000"/>
            <a:ext cx="9144000" cy="381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A70B5D-0D95-99CE-EA7D-17279E9D279A}"/>
              </a:ext>
            </a:extLst>
          </p:cNvPr>
          <p:cNvSpPr>
            <a:spLocks noGrp="1"/>
          </p:cNvSpPr>
          <p:nvPr>
            <p:ph type="ctrTitle"/>
          </p:nvPr>
        </p:nvSpPr>
        <p:spPr>
          <a:xfrm>
            <a:off x="3048000" y="2320213"/>
            <a:ext cx="6095999" cy="1317493"/>
          </a:xfrm>
        </p:spPr>
        <p:txBody>
          <a:bodyPr anchor="b">
            <a:normAutofit/>
          </a:bodyPr>
          <a:lstStyle/>
          <a:p>
            <a:pPr algn="ctr"/>
            <a:r>
              <a:rPr lang="en-AU" dirty="0"/>
              <a:t>Born a crime</a:t>
            </a:r>
          </a:p>
        </p:txBody>
      </p:sp>
      <p:sp>
        <p:nvSpPr>
          <p:cNvPr id="3" name="Subtitle 2">
            <a:extLst>
              <a:ext uri="{FF2B5EF4-FFF2-40B4-BE49-F238E27FC236}">
                <a16:creationId xmlns:a16="http://schemas.microsoft.com/office/drawing/2014/main" id="{9F71197B-3081-C8A9-1423-73AE2DAB95BF}"/>
              </a:ext>
            </a:extLst>
          </p:cNvPr>
          <p:cNvSpPr>
            <a:spLocks noGrp="1"/>
          </p:cNvSpPr>
          <p:nvPr>
            <p:ph type="subTitle" idx="1"/>
          </p:nvPr>
        </p:nvSpPr>
        <p:spPr>
          <a:xfrm>
            <a:off x="3102654" y="4249360"/>
            <a:ext cx="6041346" cy="688369"/>
          </a:xfrm>
        </p:spPr>
        <p:txBody>
          <a:bodyPr>
            <a:normAutofit/>
          </a:bodyPr>
          <a:lstStyle/>
          <a:p>
            <a:pPr algn="ctr"/>
            <a:r>
              <a:rPr lang="en-AU" dirty="0"/>
              <a:t>Writing about ideas</a:t>
            </a:r>
          </a:p>
        </p:txBody>
      </p:sp>
      <p:cxnSp>
        <p:nvCxnSpPr>
          <p:cNvPr id="13" name="Straight Connector 12">
            <a:extLst>
              <a:ext uri="{FF2B5EF4-FFF2-40B4-BE49-F238E27FC236}">
                <a16:creationId xmlns:a16="http://schemas.microsoft.com/office/drawing/2014/main" id="{414C5C93-B9E9-4392-ADCF-ABF21209DD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0422"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071733"/>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9A39-8BF5-A90D-31D7-DABFA527FAF6}"/>
              </a:ext>
            </a:extLst>
          </p:cNvPr>
          <p:cNvSpPr>
            <a:spLocks noGrp="1"/>
          </p:cNvSpPr>
          <p:nvPr>
            <p:ph type="title"/>
          </p:nvPr>
        </p:nvSpPr>
        <p:spPr/>
        <p:txBody>
          <a:bodyPr/>
          <a:lstStyle/>
          <a:p>
            <a:r>
              <a:rPr lang="en-AU" dirty="0"/>
              <a:t>Learning outcomes</a:t>
            </a:r>
          </a:p>
        </p:txBody>
      </p:sp>
      <p:sp>
        <p:nvSpPr>
          <p:cNvPr id="3" name="Text Placeholder 2">
            <a:extLst>
              <a:ext uri="{FF2B5EF4-FFF2-40B4-BE49-F238E27FC236}">
                <a16:creationId xmlns:a16="http://schemas.microsoft.com/office/drawing/2014/main" id="{C646A7AA-67CD-E120-6BF7-8CB590A1DD0A}"/>
              </a:ext>
            </a:extLst>
          </p:cNvPr>
          <p:cNvSpPr>
            <a:spLocks noGrp="1"/>
          </p:cNvSpPr>
          <p:nvPr>
            <p:ph type="body" idx="1"/>
          </p:nvPr>
        </p:nvSpPr>
        <p:spPr/>
        <p:txBody>
          <a:bodyPr/>
          <a:lstStyle/>
          <a:p>
            <a:r>
              <a:rPr lang="en-AU" dirty="0"/>
              <a:t>Learning intentions</a:t>
            </a:r>
          </a:p>
        </p:txBody>
      </p:sp>
      <p:sp>
        <p:nvSpPr>
          <p:cNvPr id="4" name="Content Placeholder 3">
            <a:extLst>
              <a:ext uri="{FF2B5EF4-FFF2-40B4-BE49-F238E27FC236}">
                <a16:creationId xmlns:a16="http://schemas.microsoft.com/office/drawing/2014/main" id="{1D87A0BB-9E14-6182-A567-8C41E98D5524}"/>
              </a:ext>
            </a:extLst>
          </p:cNvPr>
          <p:cNvSpPr>
            <a:spLocks noGrp="1"/>
          </p:cNvSpPr>
          <p:nvPr>
            <p:ph sz="half" idx="2"/>
          </p:nvPr>
        </p:nvSpPr>
        <p:spPr/>
        <p:txBody>
          <a:bodyPr/>
          <a:lstStyle/>
          <a:p>
            <a:r>
              <a:rPr lang="en-AU" dirty="0"/>
              <a:t>To develop your understanding of the key ideas in </a:t>
            </a:r>
            <a:r>
              <a:rPr lang="en-AU" i="1" dirty="0"/>
              <a:t>Born a </a:t>
            </a:r>
            <a:r>
              <a:rPr lang="en-AU" dirty="0"/>
              <a:t>Crime.</a:t>
            </a:r>
          </a:p>
          <a:p>
            <a:r>
              <a:rPr lang="en-AU" dirty="0"/>
              <a:t>To improve your skills in writing about key ideas.</a:t>
            </a:r>
          </a:p>
        </p:txBody>
      </p:sp>
      <p:sp>
        <p:nvSpPr>
          <p:cNvPr id="5" name="Text Placeholder 4">
            <a:extLst>
              <a:ext uri="{FF2B5EF4-FFF2-40B4-BE49-F238E27FC236}">
                <a16:creationId xmlns:a16="http://schemas.microsoft.com/office/drawing/2014/main" id="{3375C236-530A-EF66-C79D-83F422B445ED}"/>
              </a:ext>
            </a:extLst>
          </p:cNvPr>
          <p:cNvSpPr>
            <a:spLocks noGrp="1"/>
          </p:cNvSpPr>
          <p:nvPr>
            <p:ph type="body" sz="quarter" idx="3"/>
          </p:nvPr>
        </p:nvSpPr>
        <p:spPr/>
        <p:txBody>
          <a:bodyPr/>
          <a:lstStyle/>
          <a:p>
            <a:r>
              <a:rPr lang="en-AU" dirty="0"/>
              <a:t>You will be successful when</a:t>
            </a:r>
          </a:p>
        </p:txBody>
      </p:sp>
      <p:sp>
        <p:nvSpPr>
          <p:cNvPr id="6" name="Content Placeholder 5">
            <a:extLst>
              <a:ext uri="{FF2B5EF4-FFF2-40B4-BE49-F238E27FC236}">
                <a16:creationId xmlns:a16="http://schemas.microsoft.com/office/drawing/2014/main" id="{BFBCA856-D642-8646-3AAA-B1F56BF48E38}"/>
              </a:ext>
            </a:extLst>
          </p:cNvPr>
          <p:cNvSpPr>
            <a:spLocks noGrp="1"/>
          </p:cNvSpPr>
          <p:nvPr>
            <p:ph sz="quarter" idx="4"/>
          </p:nvPr>
        </p:nvSpPr>
        <p:spPr/>
        <p:txBody>
          <a:bodyPr/>
          <a:lstStyle/>
          <a:p>
            <a:r>
              <a:rPr lang="en-AU" dirty="0"/>
              <a:t>You have collected a bank of resources relating to key ideas and how each is explored in the text.</a:t>
            </a:r>
          </a:p>
        </p:txBody>
      </p:sp>
    </p:spTree>
    <p:extLst>
      <p:ext uri="{BB962C8B-B14F-4D97-AF65-F5344CB8AC3E}">
        <p14:creationId xmlns:p14="http://schemas.microsoft.com/office/powerpoint/2010/main" val="1704754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D5709-E5BC-0ADC-51AA-1C58919024BE}"/>
              </a:ext>
            </a:extLst>
          </p:cNvPr>
          <p:cNvSpPr>
            <a:spLocks noGrp="1"/>
          </p:cNvSpPr>
          <p:nvPr>
            <p:ph type="title"/>
          </p:nvPr>
        </p:nvSpPr>
        <p:spPr/>
        <p:txBody>
          <a:bodyPr/>
          <a:lstStyle/>
          <a:p>
            <a:r>
              <a:rPr lang="en-AU" dirty="0"/>
              <a:t>Study design</a:t>
            </a:r>
          </a:p>
        </p:txBody>
      </p:sp>
      <p:sp>
        <p:nvSpPr>
          <p:cNvPr id="3" name="Content Placeholder 2">
            <a:extLst>
              <a:ext uri="{FF2B5EF4-FFF2-40B4-BE49-F238E27FC236}">
                <a16:creationId xmlns:a16="http://schemas.microsoft.com/office/drawing/2014/main" id="{AA328569-A18D-DC00-0C6C-FCFFEAB6CFA4}"/>
              </a:ext>
            </a:extLst>
          </p:cNvPr>
          <p:cNvSpPr>
            <a:spLocks noGrp="1"/>
          </p:cNvSpPr>
          <p:nvPr>
            <p:ph idx="1"/>
          </p:nvPr>
        </p:nvSpPr>
        <p:spPr/>
        <p:txBody>
          <a:bodyPr anchor="ctr">
            <a:normAutofit/>
          </a:bodyPr>
          <a:lstStyle/>
          <a:p>
            <a:pPr marL="0" indent="0">
              <a:buNone/>
            </a:pPr>
            <a:r>
              <a:rPr lang="en-AU" sz="2400" dirty="0"/>
              <a:t>What is meant by this outcome description?</a:t>
            </a:r>
          </a:p>
          <a:p>
            <a:pPr marL="0" indent="0">
              <a:buNone/>
            </a:pPr>
            <a:endParaRPr lang="en-AU" sz="2400" dirty="0"/>
          </a:p>
          <a:p>
            <a:pPr marL="0" indent="0" algn="ctr">
              <a:buNone/>
            </a:pPr>
            <a:r>
              <a:rPr lang="en-AU" sz="3200" dirty="0">
                <a:solidFill>
                  <a:schemeClr val="accent2"/>
                </a:solidFill>
              </a:rPr>
              <a:t>On completion of this unit the student should be able to analyse </a:t>
            </a:r>
            <a:r>
              <a:rPr lang="en-AU" sz="3200" u="sng" dirty="0">
                <a:solidFill>
                  <a:schemeClr val="accent2"/>
                </a:solidFill>
              </a:rPr>
              <a:t>ideas</a:t>
            </a:r>
            <a:r>
              <a:rPr lang="en-AU" sz="3200" dirty="0">
                <a:solidFill>
                  <a:schemeClr val="accent2"/>
                </a:solidFill>
              </a:rPr>
              <a:t>, </a:t>
            </a:r>
            <a:r>
              <a:rPr lang="en-AU" sz="3200" u="sng" dirty="0">
                <a:solidFill>
                  <a:schemeClr val="accent2"/>
                </a:solidFill>
              </a:rPr>
              <a:t>concerns</a:t>
            </a:r>
            <a:r>
              <a:rPr lang="en-AU" sz="3200" dirty="0">
                <a:solidFill>
                  <a:schemeClr val="accent2"/>
                </a:solidFill>
              </a:rPr>
              <a:t> and </a:t>
            </a:r>
            <a:r>
              <a:rPr lang="en-AU" sz="3200" u="sng" dirty="0">
                <a:solidFill>
                  <a:schemeClr val="accent2"/>
                </a:solidFill>
              </a:rPr>
              <a:t>values</a:t>
            </a:r>
            <a:r>
              <a:rPr lang="en-AU" sz="3200" dirty="0">
                <a:solidFill>
                  <a:schemeClr val="accent2"/>
                </a:solidFill>
              </a:rPr>
              <a:t> presented in a text …</a:t>
            </a:r>
          </a:p>
          <a:p>
            <a:pPr marL="0" indent="0" algn="ctr">
              <a:buNone/>
            </a:pPr>
            <a:endParaRPr lang="en-AU" sz="3200" dirty="0">
              <a:solidFill>
                <a:schemeClr val="accent2"/>
              </a:solidFill>
            </a:endParaRPr>
          </a:p>
        </p:txBody>
      </p:sp>
    </p:spTree>
    <p:extLst>
      <p:ext uri="{BB962C8B-B14F-4D97-AF65-F5344CB8AC3E}">
        <p14:creationId xmlns:p14="http://schemas.microsoft.com/office/powerpoint/2010/main" val="3139918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E9CAA-48C1-893D-E102-60F13CFBE16B}"/>
              </a:ext>
            </a:extLst>
          </p:cNvPr>
          <p:cNvSpPr>
            <a:spLocks noGrp="1"/>
          </p:cNvSpPr>
          <p:nvPr>
            <p:ph type="title"/>
          </p:nvPr>
        </p:nvSpPr>
        <p:spPr/>
        <p:txBody>
          <a:bodyPr/>
          <a:lstStyle/>
          <a:p>
            <a:r>
              <a:rPr lang="en-AU" dirty="0"/>
              <a:t>What does “Analyse” mean?</a:t>
            </a:r>
          </a:p>
        </p:txBody>
      </p:sp>
      <p:sp>
        <p:nvSpPr>
          <p:cNvPr id="3" name="Content Placeholder 2">
            <a:extLst>
              <a:ext uri="{FF2B5EF4-FFF2-40B4-BE49-F238E27FC236}">
                <a16:creationId xmlns:a16="http://schemas.microsoft.com/office/drawing/2014/main" id="{25CE5208-5824-BEDF-E3C6-53516666E79E}"/>
              </a:ext>
            </a:extLst>
          </p:cNvPr>
          <p:cNvSpPr>
            <a:spLocks noGrp="1"/>
          </p:cNvSpPr>
          <p:nvPr>
            <p:ph idx="1"/>
          </p:nvPr>
        </p:nvSpPr>
        <p:spPr/>
        <p:txBody>
          <a:bodyPr anchor="ctr">
            <a:normAutofit/>
          </a:bodyPr>
          <a:lstStyle/>
          <a:p>
            <a:pPr>
              <a:buClr>
                <a:schemeClr val="accent2"/>
              </a:buClr>
              <a:buFont typeface="Courier New" panose="02070309020205020404" pitchFamily="49" charset="0"/>
              <a:buChar char="o"/>
            </a:pPr>
            <a:r>
              <a:rPr lang="en-AU" sz="2400" dirty="0"/>
              <a:t>To </a:t>
            </a:r>
            <a:r>
              <a:rPr lang="en-AU" sz="2400" b="1" dirty="0">
                <a:solidFill>
                  <a:schemeClr val="accent2"/>
                </a:solidFill>
              </a:rPr>
              <a:t>analyse</a:t>
            </a:r>
            <a:r>
              <a:rPr lang="en-AU" sz="2400" dirty="0"/>
              <a:t> something means to break something into parts, and then explain and explore the connection between its parts.</a:t>
            </a:r>
          </a:p>
          <a:p>
            <a:pPr>
              <a:buClr>
                <a:schemeClr val="accent2"/>
              </a:buClr>
              <a:buFont typeface="Courier New" panose="02070309020205020404" pitchFamily="49" charset="0"/>
              <a:buChar char="o"/>
            </a:pPr>
            <a:r>
              <a:rPr lang="en-AU" sz="2400" dirty="0"/>
              <a:t>To analyse language, we look at how a range of language choices made by the author work together to achieve something.</a:t>
            </a:r>
          </a:p>
          <a:p>
            <a:pPr>
              <a:buClr>
                <a:schemeClr val="accent2"/>
              </a:buClr>
              <a:buFont typeface="Courier New" panose="02070309020205020404" pitchFamily="49" charset="0"/>
              <a:buChar char="o"/>
            </a:pPr>
            <a:r>
              <a:rPr lang="en-AU" sz="2400" dirty="0"/>
              <a:t>To analyse ideas, we look at how a text expresses and explores an idea in different ways, and what this can tell us in relation to its social and historical context.</a:t>
            </a:r>
          </a:p>
        </p:txBody>
      </p:sp>
    </p:spTree>
    <p:extLst>
      <p:ext uri="{BB962C8B-B14F-4D97-AF65-F5344CB8AC3E}">
        <p14:creationId xmlns:p14="http://schemas.microsoft.com/office/powerpoint/2010/main" val="344128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39A6-2CDE-5507-BFD7-7B0CBD2A1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73BF8-21D6-09AA-2B95-0A91765E2E95}"/>
              </a:ext>
            </a:extLst>
          </p:cNvPr>
          <p:cNvSpPr>
            <a:spLocks noGrp="1"/>
          </p:cNvSpPr>
          <p:nvPr>
            <p:ph type="title"/>
          </p:nvPr>
        </p:nvSpPr>
        <p:spPr/>
        <p:txBody>
          <a:bodyPr/>
          <a:lstStyle/>
          <a:p>
            <a:r>
              <a:rPr lang="en-AU" dirty="0"/>
              <a:t>IDEAS</a:t>
            </a:r>
          </a:p>
        </p:txBody>
      </p:sp>
      <p:sp>
        <p:nvSpPr>
          <p:cNvPr id="3" name="Content Placeholder 2">
            <a:extLst>
              <a:ext uri="{FF2B5EF4-FFF2-40B4-BE49-F238E27FC236}">
                <a16:creationId xmlns:a16="http://schemas.microsoft.com/office/drawing/2014/main" id="{A0265609-3F52-A152-3DA3-2BEFBB5D61D0}"/>
              </a:ext>
            </a:extLst>
          </p:cNvPr>
          <p:cNvSpPr>
            <a:spLocks noGrp="1"/>
          </p:cNvSpPr>
          <p:nvPr>
            <p:ph idx="1"/>
          </p:nvPr>
        </p:nvSpPr>
        <p:spPr/>
        <p:txBody>
          <a:bodyPr anchor="ctr">
            <a:normAutofit fontScale="92500" lnSpcReduction="10000"/>
          </a:bodyPr>
          <a:lstStyle/>
          <a:p>
            <a:pPr marL="0" indent="0">
              <a:buClr>
                <a:schemeClr val="accent2"/>
              </a:buClr>
              <a:buNone/>
            </a:pPr>
            <a:r>
              <a:rPr lang="en-AU" sz="2400" dirty="0"/>
              <a:t>Remember this useful acronym.</a:t>
            </a:r>
          </a:p>
          <a:p>
            <a:pPr marL="0" indent="0">
              <a:buClr>
                <a:schemeClr val="accent2"/>
              </a:buClr>
              <a:buNone/>
            </a:pPr>
            <a:r>
              <a:rPr lang="en-AU" sz="2400" dirty="0"/>
              <a:t>It can help you with your annotations and with your analytic writing.</a:t>
            </a:r>
          </a:p>
          <a:p>
            <a:pPr marL="3048000" indent="0">
              <a:buClr>
                <a:schemeClr val="accent2"/>
              </a:buClr>
              <a:buNone/>
            </a:pPr>
            <a:r>
              <a:rPr lang="en-AU" sz="2400" b="1" dirty="0">
                <a:solidFill>
                  <a:schemeClr val="accent2"/>
                </a:solidFill>
              </a:rPr>
              <a:t>I </a:t>
            </a:r>
            <a:r>
              <a:rPr lang="en-AU" sz="2400" dirty="0"/>
              <a:t>– Identify</a:t>
            </a:r>
          </a:p>
          <a:p>
            <a:pPr marL="3048000" indent="0">
              <a:buClr>
                <a:schemeClr val="accent2"/>
              </a:buClr>
              <a:buNone/>
            </a:pPr>
            <a:r>
              <a:rPr lang="en-AU" sz="2400" b="1" dirty="0">
                <a:solidFill>
                  <a:schemeClr val="accent2"/>
                </a:solidFill>
              </a:rPr>
              <a:t>D</a:t>
            </a:r>
            <a:r>
              <a:rPr lang="en-AU" sz="2400" dirty="0"/>
              <a:t> – Describe</a:t>
            </a:r>
          </a:p>
          <a:p>
            <a:pPr marL="3048000" indent="0">
              <a:buClr>
                <a:schemeClr val="accent2"/>
              </a:buClr>
              <a:buNone/>
            </a:pPr>
            <a:r>
              <a:rPr lang="en-AU" sz="2400" b="1" dirty="0">
                <a:solidFill>
                  <a:schemeClr val="accent2"/>
                </a:solidFill>
              </a:rPr>
              <a:t>E</a:t>
            </a:r>
            <a:r>
              <a:rPr lang="en-AU" sz="2400" dirty="0"/>
              <a:t> – Explain </a:t>
            </a:r>
          </a:p>
          <a:p>
            <a:pPr marL="3048000" indent="0">
              <a:buClr>
                <a:schemeClr val="accent2"/>
              </a:buClr>
              <a:buNone/>
            </a:pPr>
            <a:r>
              <a:rPr lang="en-AU" sz="2400" b="1" dirty="0">
                <a:solidFill>
                  <a:schemeClr val="accent2"/>
                </a:solidFill>
              </a:rPr>
              <a:t>A</a:t>
            </a:r>
            <a:r>
              <a:rPr lang="en-AU" sz="2400" dirty="0"/>
              <a:t> – Analyse</a:t>
            </a:r>
          </a:p>
          <a:p>
            <a:pPr marL="3048000" indent="0">
              <a:buClr>
                <a:schemeClr val="accent2"/>
              </a:buClr>
              <a:buNone/>
            </a:pPr>
            <a:r>
              <a:rPr lang="en-AU" sz="2400" b="1" dirty="0">
                <a:solidFill>
                  <a:schemeClr val="accent2"/>
                </a:solidFill>
              </a:rPr>
              <a:t>S</a:t>
            </a:r>
            <a:r>
              <a:rPr lang="en-AU" sz="2400" dirty="0"/>
              <a:t> – Synthesise (or “so what?”)</a:t>
            </a:r>
          </a:p>
        </p:txBody>
      </p:sp>
    </p:spTree>
    <p:extLst>
      <p:ext uri="{BB962C8B-B14F-4D97-AF65-F5344CB8AC3E}">
        <p14:creationId xmlns:p14="http://schemas.microsoft.com/office/powerpoint/2010/main" val="1072853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FF972-405D-206B-4176-8E8C10279767}"/>
              </a:ext>
            </a:extLst>
          </p:cNvPr>
          <p:cNvSpPr>
            <a:spLocks noGrp="1"/>
          </p:cNvSpPr>
          <p:nvPr>
            <p:ph type="title"/>
          </p:nvPr>
        </p:nvSpPr>
        <p:spPr/>
        <p:txBody>
          <a:bodyPr/>
          <a:lstStyle/>
          <a:p>
            <a:r>
              <a:rPr lang="en-AU" dirty="0"/>
              <a:t>Identify &amp; Describe</a:t>
            </a:r>
          </a:p>
        </p:txBody>
      </p:sp>
      <p:sp>
        <p:nvSpPr>
          <p:cNvPr id="3" name="Content Placeholder 2">
            <a:extLst>
              <a:ext uri="{FF2B5EF4-FFF2-40B4-BE49-F238E27FC236}">
                <a16:creationId xmlns:a16="http://schemas.microsoft.com/office/drawing/2014/main" id="{9FE9C39E-7BDD-7080-9C21-3E88EA2BF98C}"/>
              </a:ext>
            </a:extLst>
          </p:cNvPr>
          <p:cNvSpPr>
            <a:spLocks noGrp="1"/>
          </p:cNvSpPr>
          <p:nvPr>
            <p:ph idx="1"/>
          </p:nvPr>
        </p:nvSpPr>
        <p:spPr/>
        <p:txBody>
          <a:bodyPr>
            <a:normAutofit fontScale="92500" lnSpcReduction="10000"/>
          </a:bodyPr>
          <a:lstStyle/>
          <a:p>
            <a:pPr marL="0" indent="0">
              <a:buNone/>
            </a:pPr>
            <a:r>
              <a:rPr lang="en-AU" dirty="0"/>
              <a:t>To </a:t>
            </a:r>
            <a:r>
              <a:rPr lang="en-AU" b="1" dirty="0"/>
              <a:t>identify</a:t>
            </a:r>
            <a:r>
              <a:rPr lang="en-AU" dirty="0"/>
              <a:t> something is to point it out and to name it.</a:t>
            </a:r>
          </a:p>
          <a:p>
            <a:pPr marL="896938" indent="0">
              <a:buNone/>
            </a:pPr>
            <a:r>
              <a:rPr lang="en-AU" i="1" dirty="0">
                <a:solidFill>
                  <a:schemeClr val="accent2"/>
                </a:solidFill>
              </a:rPr>
              <a:t>Born a Crime explores the idea of morality.</a:t>
            </a:r>
          </a:p>
          <a:p>
            <a:pPr marL="896938" indent="0">
              <a:buNone/>
            </a:pPr>
            <a:r>
              <a:rPr lang="en-AU" i="1" dirty="0">
                <a:solidFill>
                  <a:schemeClr val="accent2"/>
                </a:solidFill>
              </a:rPr>
              <a:t>The novel is ultimately about the idea of escape.</a:t>
            </a:r>
            <a:endParaRPr lang="en-AU" dirty="0">
              <a:solidFill>
                <a:schemeClr val="accent2"/>
              </a:solidFill>
            </a:endParaRPr>
          </a:p>
          <a:p>
            <a:pPr marL="0" indent="0">
              <a:buNone/>
            </a:pPr>
            <a:endParaRPr lang="en-AU" dirty="0"/>
          </a:p>
          <a:p>
            <a:pPr marL="0" indent="0">
              <a:buNone/>
            </a:pPr>
            <a:r>
              <a:rPr lang="en-AU" dirty="0"/>
              <a:t>To describe something is to discuss how it appears in context.</a:t>
            </a:r>
          </a:p>
          <a:p>
            <a:pPr marL="896938" indent="0">
              <a:buNone/>
            </a:pPr>
            <a:r>
              <a:rPr lang="en-AU" i="1" dirty="0">
                <a:solidFill>
                  <a:schemeClr val="accent2"/>
                </a:solidFill>
              </a:rPr>
              <a:t>Born a Crime explores the idea of morality for those living through the echoes of Apartheid, a fundamentally immoral society.</a:t>
            </a:r>
          </a:p>
          <a:p>
            <a:pPr marL="896938" indent="0">
              <a:buNone/>
            </a:pPr>
            <a:r>
              <a:rPr lang="en-AU" i="1" dirty="0">
                <a:solidFill>
                  <a:schemeClr val="accent2"/>
                </a:solidFill>
              </a:rPr>
              <a:t>The novel is ultimately about the idea of escape, whether it be from the slums of Alexandra or escape from a near-fatally violent husband.</a:t>
            </a:r>
            <a:endParaRPr lang="en-AU" dirty="0">
              <a:solidFill>
                <a:schemeClr val="accent2"/>
              </a:solidFill>
            </a:endParaRPr>
          </a:p>
          <a:p>
            <a:pPr marL="0" indent="0" algn="ctr">
              <a:buNone/>
            </a:pPr>
            <a:endParaRPr lang="en-AU" i="1" dirty="0"/>
          </a:p>
          <a:p>
            <a:pPr marL="0" indent="0">
              <a:buNone/>
            </a:pPr>
            <a:endParaRPr lang="en-AU" i="1" dirty="0"/>
          </a:p>
        </p:txBody>
      </p:sp>
    </p:spTree>
    <p:extLst>
      <p:ext uri="{BB962C8B-B14F-4D97-AF65-F5344CB8AC3E}">
        <p14:creationId xmlns:p14="http://schemas.microsoft.com/office/powerpoint/2010/main" val="3534003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4169-C9B4-8BBA-87CC-256DA7062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6F1EA-C8C7-C512-846D-FF4BFA0B3931}"/>
              </a:ext>
            </a:extLst>
          </p:cNvPr>
          <p:cNvSpPr>
            <a:spLocks noGrp="1"/>
          </p:cNvSpPr>
          <p:nvPr>
            <p:ph type="title"/>
          </p:nvPr>
        </p:nvSpPr>
        <p:spPr/>
        <p:txBody>
          <a:bodyPr/>
          <a:lstStyle/>
          <a:p>
            <a:r>
              <a:rPr lang="en-AU" dirty="0"/>
              <a:t>Explain</a:t>
            </a:r>
          </a:p>
        </p:txBody>
      </p:sp>
      <p:sp>
        <p:nvSpPr>
          <p:cNvPr id="3" name="Content Placeholder 2">
            <a:extLst>
              <a:ext uri="{FF2B5EF4-FFF2-40B4-BE49-F238E27FC236}">
                <a16:creationId xmlns:a16="http://schemas.microsoft.com/office/drawing/2014/main" id="{FD6B9EDF-5FD4-0598-8AF8-CD54803E1624}"/>
              </a:ext>
            </a:extLst>
          </p:cNvPr>
          <p:cNvSpPr>
            <a:spLocks noGrp="1"/>
          </p:cNvSpPr>
          <p:nvPr>
            <p:ph idx="1"/>
          </p:nvPr>
        </p:nvSpPr>
        <p:spPr/>
        <p:txBody>
          <a:bodyPr>
            <a:normAutofit/>
          </a:bodyPr>
          <a:lstStyle/>
          <a:p>
            <a:pPr marL="0" indent="0">
              <a:buNone/>
            </a:pPr>
            <a:r>
              <a:rPr lang="en-AU" dirty="0"/>
              <a:t>If Identifying and Describing explore the what, when and where, then to </a:t>
            </a:r>
            <a:r>
              <a:rPr lang="en-AU" dirty="0">
                <a:solidFill>
                  <a:schemeClr val="accent2"/>
                </a:solidFill>
              </a:rPr>
              <a:t>Explain</a:t>
            </a:r>
            <a:r>
              <a:rPr lang="en-AU" dirty="0"/>
              <a:t> is to discuss the </a:t>
            </a:r>
            <a:r>
              <a:rPr lang="en-AU" dirty="0">
                <a:solidFill>
                  <a:schemeClr val="accent2"/>
                </a:solidFill>
              </a:rPr>
              <a:t>how</a:t>
            </a:r>
            <a:r>
              <a:rPr lang="en-AU" dirty="0"/>
              <a:t>.</a:t>
            </a:r>
            <a:endParaRPr lang="en-AU" dirty="0">
              <a:solidFill>
                <a:schemeClr val="accent2"/>
              </a:solidFill>
            </a:endParaRPr>
          </a:p>
          <a:p>
            <a:pPr marL="0" indent="0">
              <a:buNone/>
            </a:pPr>
            <a:r>
              <a:rPr lang="en-AU" dirty="0"/>
              <a:t>You might explain </a:t>
            </a:r>
            <a:r>
              <a:rPr lang="en-AU" i="1" dirty="0"/>
              <a:t>how</a:t>
            </a:r>
            <a:r>
              <a:rPr lang="en-AU" dirty="0"/>
              <a:t> an idea is explored through the author’s choices of characterisation, plot development, language or motif.</a:t>
            </a:r>
          </a:p>
          <a:p>
            <a:pPr marL="804863" indent="0">
              <a:buNone/>
              <a:tabLst>
                <a:tab pos="804863" algn="l"/>
              </a:tabLst>
            </a:pPr>
            <a:r>
              <a:rPr lang="en-AU" i="1" dirty="0">
                <a:solidFill>
                  <a:schemeClr val="accent2"/>
                </a:solidFill>
              </a:rPr>
              <a:t>The juxtaposition of Patricia’s righteous religious moral compass against her willingness to break South African law allows Noah to explore the unavoidable contradiction for those living through the echoes of Apartheid, a fundamentally immoral society.</a:t>
            </a:r>
          </a:p>
          <a:p>
            <a:pPr marL="0" indent="0">
              <a:buNone/>
            </a:pPr>
            <a:endParaRPr lang="en-AU" i="1" dirty="0"/>
          </a:p>
        </p:txBody>
      </p:sp>
    </p:spTree>
    <p:extLst>
      <p:ext uri="{BB962C8B-B14F-4D97-AF65-F5344CB8AC3E}">
        <p14:creationId xmlns:p14="http://schemas.microsoft.com/office/powerpoint/2010/main" val="2155848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83388-4C7E-47B5-88D1-D10B5B9F9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68269-338A-DBC5-9AAE-E66474D3F79B}"/>
              </a:ext>
            </a:extLst>
          </p:cNvPr>
          <p:cNvSpPr>
            <a:spLocks noGrp="1"/>
          </p:cNvSpPr>
          <p:nvPr>
            <p:ph type="title"/>
          </p:nvPr>
        </p:nvSpPr>
        <p:spPr/>
        <p:txBody>
          <a:bodyPr/>
          <a:lstStyle/>
          <a:p>
            <a:r>
              <a:rPr lang="en-AU" dirty="0"/>
              <a:t>Analyse</a:t>
            </a:r>
          </a:p>
        </p:txBody>
      </p:sp>
      <p:sp>
        <p:nvSpPr>
          <p:cNvPr id="3" name="Content Placeholder 2">
            <a:extLst>
              <a:ext uri="{FF2B5EF4-FFF2-40B4-BE49-F238E27FC236}">
                <a16:creationId xmlns:a16="http://schemas.microsoft.com/office/drawing/2014/main" id="{CC49906C-8C10-9BA7-8C5E-6BA6DBB7BEC1}"/>
              </a:ext>
            </a:extLst>
          </p:cNvPr>
          <p:cNvSpPr>
            <a:spLocks noGrp="1"/>
          </p:cNvSpPr>
          <p:nvPr>
            <p:ph idx="1"/>
          </p:nvPr>
        </p:nvSpPr>
        <p:spPr/>
        <p:txBody>
          <a:bodyPr anchor="ctr">
            <a:normAutofit/>
          </a:bodyPr>
          <a:lstStyle/>
          <a:p>
            <a:pPr marL="0" indent="0">
              <a:buNone/>
            </a:pPr>
            <a:r>
              <a:rPr lang="en-AU" dirty="0"/>
              <a:t>There’s a reason that this is a high-level, year 12 skill. It pushes your thinking and your writing.</a:t>
            </a:r>
          </a:p>
          <a:p>
            <a:pPr marL="0" indent="0">
              <a:buNone/>
            </a:pPr>
            <a:r>
              <a:rPr lang="en-AU" dirty="0"/>
              <a:t>To analyse an idea, you must discuss the different ways that the idea is portrayed and explored throughout the text, including the tensions between different social values or how our understanding of the idea develops over the course of the text.</a:t>
            </a:r>
          </a:p>
          <a:p>
            <a:pPr marL="0" indent="0">
              <a:buNone/>
            </a:pPr>
            <a:r>
              <a:rPr lang="en-AU" dirty="0"/>
              <a:t>This would come at the end of a paragraph after you have already explained more than one idea.</a:t>
            </a:r>
          </a:p>
        </p:txBody>
      </p:sp>
    </p:spTree>
    <p:extLst>
      <p:ext uri="{BB962C8B-B14F-4D97-AF65-F5344CB8AC3E}">
        <p14:creationId xmlns:p14="http://schemas.microsoft.com/office/powerpoint/2010/main" val="2710892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F548A-4EF9-D1AB-2DD5-3A0E12990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2479F-46F3-D2E6-2F89-0D9F3D950FC0}"/>
              </a:ext>
            </a:extLst>
          </p:cNvPr>
          <p:cNvSpPr>
            <a:spLocks noGrp="1"/>
          </p:cNvSpPr>
          <p:nvPr>
            <p:ph type="title"/>
          </p:nvPr>
        </p:nvSpPr>
        <p:spPr/>
        <p:txBody>
          <a:bodyPr/>
          <a:lstStyle/>
          <a:p>
            <a:r>
              <a:rPr lang="en-AU" dirty="0"/>
              <a:t>Analyse</a:t>
            </a:r>
          </a:p>
        </p:txBody>
      </p:sp>
      <p:sp>
        <p:nvSpPr>
          <p:cNvPr id="3" name="Content Placeholder 2">
            <a:extLst>
              <a:ext uri="{FF2B5EF4-FFF2-40B4-BE49-F238E27FC236}">
                <a16:creationId xmlns:a16="http://schemas.microsoft.com/office/drawing/2014/main" id="{23F14379-E7B6-CA0C-8EA8-A91781EA8555}"/>
              </a:ext>
            </a:extLst>
          </p:cNvPr>
          <p:cNvSpPr>
            <a:spLocks noGrp="1"/>
          </p:cNvSpPr>
          <p:nvPr>
            <p:ph idx="1"/>
          </p:nvPr>
        </p:nvSpPr>
        <p:spPr/>
        <p:txBody>
          <a:bodyPr anchor="ctr">
            <a:normAutofit/>
          </a:bodyPr>
          <a:lstStyle/>
          <a:p>
            <a:pPr marL="804863" indent="0">
              <a:buNone/>
              <a:tabLst>
                <a:tab pos="804863" algn="l"/>
              </a:tabLst>
            </a:pPr>
            <a:r>
              <a:rPr lang="en-AU" i="1" dirty="0">
                <a:solidFill>
                  <a:schemeClr val="accent2"/>
                </a:solidFill>
              </a:rPr>
              <a:t>Characters are trapped between moral and immoral choices throughout the text. Patricia Noah stays married to her violent husband because “God spoke to [her]”, while at other times thanking the same God for a box of stolen burger patties. She refused to play victim to South Africa’s segregation laws, living in a “secret flat” in a white neighbourhood, attending “dangerous” underground clubs and ultimately giving birth to a “crime”. The juxtaposition of Patricia’s righteous religious moral compass against her willingness to break South African law allows Noah to explore the unavoidable contradiction for those living through the echoes of Apartheid, a fundamentally immoral society. </a:t>
            </a:r>
          </a:p>
        </p:txBody>
      </p:sp>
    </p:spTree>
    <p:extLst>
      <p:ext uri="{BB962C8B-B14F-4D97-AF65-F5344CB8AC3E}">
        <p14:creationId xmlns:p14="http://schemas.microsoft.com/office/powerpoint/2010/main" val="2426096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EC830-55FE-DF56-B244-23B9BADE2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DF13C-6F4D-F3B0-CD24-097FA574C088}"/>
              </a:ext>
            </a:extLst>
          </p:cNvPr>
          <p:cNvSpPr>
            <a:spLocks noGrp="1"/>
          </p:cNvSpPr>
          <p:nvPr>
            <p:ph type="title"/>
          </p:nvPr>
        </p:nvSpPr>
        <p:spPr/>
        <p:txBody>
          <a:bodyPr/>
          <a:lstStyle/>
          <a:p>
            <a:r>
              <a:rPr lang="en-AU" dirty="0"/>
              <a:t>Study design</a:t>
            </a:r>
          </a:p>
        </p:txBody>
      </p:sp>
      <p:sp>
        <p:nvSpPr>
          <p:cNvPr id="3" name="Content Placeholder 2">
            <a:extLst>
              <a:ext uri="{FF2B5EF4-FFF2-40B4-BE49-F238E27FC236}">
                <a16:creationId xmlns:a16="http://schemas.microsoft.com/office/drawing/2014/main" id="{5404D3D1-8F9E-7038-F99D-E4D56A1FF128}"/>
              </a:ext>
            </a:extLst>
          </p:cNvPr>
          <p:cNvSpPr>
            <a:spLocks noGrp="1"/>
          </p:cNvSpPr>
          <p:nvPr>
            <p:ph idx="1"/>
          </p:nvPr>
        </p:nvSpPr>
        <p:spPr/>
        <p:txBody>
          <a:bodyPr anchor="ctr">
            <a:normAutofit/>
          </a:bodyPr>
          <a:lstStyle/>
          <a:p>
            <a:pPr marL="0" indent="0">
              <a:buNone/>
            </a:pPr>
            <a:r>
              <a:rPr lang="en-AU" sz="2400" dirty="0"/>
              <a:t>What is meant by this knowledge descriptor?</a:t>
            </a:r>
          </a:p>
          <a:p>
            <a:pPr marL="0" indent="0" algn="ctr">
              <a:buNone/>
            </a:pPr>
            <a:r>
              <a:rPr lang="en-AU" sz="3200" dirty="0">
                <a:solidFill>
                  <a:schemeClr val="accent2"/>
                </a:solidFill>
              </a:rPr>
              <a:t>ideas, concerns and </a:t>
            </a:r>
            <a:r>
              <a:rPr lang="en-AU" sz="3200" u="sng" dirty="0">
                <a:solidFill>
                  <a:schemeClr val="accent2"/>
                </a:solidFill>
              </a:rPr>
              <a:t>conflicts</a:t>
            </a:r>
            <a:r>
              <a:rPr lang="en-AU" sz="3200" dirty="0">
                <a:solidFill>
                  <a:schemeClr val="accent2"/>
                </a:solidFill>
              </a:rPr>
              <a:t> in a text</a:t>
            </a:r>
          </a:p>
          <a:p>
            <a:pPr marL="0" indent="0" algn="ctr">
              <a:buNone/>
            </a:pPr>
            <a:endParaRPr lang="en-AU" sz="3200" dirty="0">
              <a:solidFill>
                <a:schemeClr val="accent2"/>
              </a:solidFill>
            </a:endParaRPr>
          </a:p>
        </p:txBody>
      </p:sp>
    </p:spTree>
    <p:extLst>
      <p:ext uri="{BB962C8B-B14F-4D97-AF65-F5344CB8AC3E}">
        <p14:creationId xmlns:p14="http://schemas.microsoft.com/office/powerpoint/2010/main" val="4142648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808E7-5EC6-FEE0-6D11-948E02718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E9828-7A30-ED13-67D7-6F0DA812246C}"/>
              </a:ext>
            </a:extLst>
          </p:cNvPr>
          <p:cNvSpPr>
            <a:spLocks noGrp="1"/>
          </p:cNvSpPr>
          <p:nvPr>
            <p:ph type="title"/>
          </p:nvPr>
        </p:nvSpPr>
        <p:spPr/>
        <p:txBody>
          <a:bodyPr/>
          <a:lstStyle/>
          <a:p>
            <a:r>
              <a:rPr lang="en-AU" dirty="0"/>
              <a:t>Study design</a:t>
            </a:r>
          </a:p>
        </p:txBody>
      </p:sp>
      <p:sp>
        <p:nvSpPr>
          <p:cNvPr id="3" name="Content Placeholder 2">
            <a:extLst>
              <a:ext uri="{FF2B5EF4-FFF2-40B4-BE49-F238E27FC236}">
                <a16:creationId xmlns:a16="http://schemas.microsoft.com/office/drawing/2014/main" id="{A8AC29C3-D477-78C1-D26B-209F7BD8A5F2}"/>
              </a:ext>
            </a:extLst>
          </p:cNvPr>
          <p:cNvSpPr>
            <a:spLocks noGrp="1"/>
          </p:cNvSpPr>
          <p:nvPr>
            <p:ph idx="1"/>
          </p:nvPr>
        </p:nvSpPr>
        <p:spPr/>
        <p:txBody>
          <a:bodyPr anchor="ctr">
            <a:normAutofit fontScale="92500"/>
          </a:bodyPr>
          <a:lstStyle/>
          <a:p>
            <a:pPr marL="0" indent="0">
              <a:buNone/>
            </a:pPr>
            <a:r>
              <a:rPr lang="en-AU" sz="2400" dirty="0"/>
              <a:t>What about when we look at the full sentence:</a:t>
            </a:r>
          </a:p>
          <a:p>
            <a:pPr marL="0" indent="0">
              <a:buNone/>
            </a:pPr>
            <a:endParaRPr lang="en-AU" sz="2400" dirty="0"/>
          </a:p>
          <a:p>
            <a:pPr marL="0" indent="0" algn="ctr">
              <a:buNone/>
            </a:pPr>
            <a:r>
              <a:rPr lang="en-AU" sz="3200" dirty="0">
                <a:solidFill>
                  <a:schemeClr val="accent2"/>
                </a:solidFill>
              </a:rPr>
              <a:t>On completion of this unit the student should be able to analyse ideas, concerns and values presented in a text, </a:t>
            </a:r>
            <a:r>
              <a:rPr lang="en-AU" sz="3200" b="1" dirty="0">
                <a:solidFill>
                  <a:schemeClr val="accent2"/>
                </a:solidFill>
              </a:rPr>
              <a:t>informed by the vocabulary, text structures and language features and how they make meaning.</a:t>
            </a:r>
          </a:p>
        </p:txBody>
      </p:sp>
    </p:spTree>
    <p:extLst>
      <p:ext uri="{BB962C8B-B14F-4D97-AF65-F5344CB8AC3E}">
        <p14:creationId xmlns:p14="http://schemas.microsoft.com/office/powerpoint/2010/main" val="2047587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D712A-4B5E-8B61-3259-0FF8AF961C61}"/>
              </a:ext>
            </a:extLst>
          </p:cNvPr>
          <p:cNvSpPr>
            <a:spLocks noGrp="1"/>
          </p:cNvSpPr>
          <p:nvPr>
            <p:ph type="title"/>
          </p:nvPr>
        </p:nvSpPr>
        <p:spPr/>
        <p:txBody>
          <a:bodyPr/>
          <a:lstStyle/>
          <a:p>
            <a:r>
              <a:rPr lang="en-AU" dirty="0"/>
              <a:t>Key ideas &amp; concerns</a:t>
            </a:r>
          </a:p>
        </p:txBody>
      </p:sp>
      <p:sp>
        <p:nvSpPr>
          <p:cNvPr id="3" name="Content Placeholder 2">
            <a:extLst>
              <a:ext uri="{FF2B5EF4-FFF2-40B4-BE49-F238E27FC236}">
                <a16:creationId xmlns:a16="http://schemas.microsoft.com/office/drawing/2014/main" id="{76C9185E-788A-3EA2-7A4F-2BEA8A857C49}"/>
              </a:ext>
            </a:extLst>
          </p:cNvPr>
          <p:cNvSpPr>
            <a:spLocks noGrp="1"/>
          </p:cNvSpPr>
          <p:nvPr>
            <p:ph idx="1"/>
          </p:nvPr>
        </p:nvSpPr>
        <p:spPr/>
        <p:txBody>
          <a:bodyPr>
            <a:normAutofit lnSpcReduction="10000"/>
          </a:bodyPr>
          <a:lstStyle/>
          <a:p>
            <a:pPr marL="0" indent="0">
              <a:buNone/>
            </a:pPr>
            <a:r>
              <a:rPr lang="en-AU" sz="2400" dirty="0">
                <a:solidFill>
                  <a:schemeClr val="accent2"/>
                </a:solidFill>
              </a:rPr>
              <a:t>2 mins:</a:t>
            </a:r>
          </a:p>
          <a:p>
            <a:pPr marL="625475" indent="-355600">
              <a:buNone/>
            </a:pPr>
            <a:r>
              <a:rPr lang="en-AU" sz="2400" dirty="0"/>
              <a:t>With the person next to you, brainstorm:</a:t>
            </a:r>
          </a:p>
          <a:p>
            <a:pPr marL="625475" indent="-355600"/>
            <a:r>
              <a:rPr lang="en-AU" sz="2400" dirty="0"/>
              <a:t>What are the five most important ideas that the book concerns itself with?</a:t>
            </a:r>
          </a:p>
          <a:p>
            <a:pPr marL="0" indent="0">
              <a:buNone/>
            </a:pPr>
            <a:r>
              <a:rPr lang="en-AU" sz="2400" dirty="0">
                <a:solidFill>
                  <a:schemeClr val="accent2"/>
                </a:solidFill>
              </a:rPr>
              <a:t>Share:</a:t>
            </a:r>
          </a:p>
          <a:p>
            <a:pPr marL="269875" indent="0">
              <a:buNone/>
            </a:pPr>
            <a:r>
              <a:rPr lang="en-AU" sz="2400" dirty="0"/>
              <a:t>Add any new ideas to the list on the board.</a:t>
            </a:r>
          </a:p>
          <a:p>
            <a:pPr marL="269875" indent="0">
              <a:buNone/>
            </a:pPr>
            <a:r>
              <a:rPr lang="en-AU" sz="2400" dirty="0"/>
              <a:t>As a class, try to place them in order of most to least important.</a:t>
            </a:r>
          </a:p>
        </p:txBody>
      </p:sp>
    </p:spTree>
    <p:extLst>
      <p:ext uri="{BB962C8B-B14F-4D97-AF65-F5344CB8AC3E}">
        <p14:creationId xmlns:p14="http://schemas.microsoft.com/office/powerpoint/2010/main" val="1592583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D3ED2-CDF0-E139-D23F-476351677309}"/>
              </a:ext>
            </a:extLst>
          </p:cNvPr>
          <p:cNvSpPr>
            <a:spLocks noGrp="1"/>
          </p:cNvSpPr>
          <p:nvPr>
            <p:ph type="title"/>
          </p:nvPr>
        </p:nvSpPr>
        <p:spPr/>
        <p:txBody>
          <a:bodyPr/>
          <a:lstStyle/>
          <a:p>
            <a:r>
              <a:rPr lang="en-AU" dirty="0">
                <a:solidFill>
                  <a:schemeClr val="accent2"/>
                </a:solidFill>
              </a:rPr>
              <a:t>Task 1</a:t>
            </a:r>
          </a:p>
        </p:txBody>
      </p:sp>
      <p:sp>
        <p:nvSpPr>
          <p:cNvPr id="3" name="Content Placeholder 2">
            <a:extLst>
              <a:ext uri="{FF2B5EF4-FFF2-40B4-BE49-F238E27FC236}">
                <a16:creationId xmlns:a16="http://schemas.microsoft.com/office/drawing/2014/main" id="{B87A7952-5CFF-52A2-02BB-1D0769891C69}"/>
              </a:ext>
            </a:extLst>
          </p:cNvPr>
          <p:cNvSpPr>
            <a:spLocks noGrp="1"/>
          </p:cNvSpPr>
          <p:nvPr>
            <p:ph idx="1"/>
          </p:nvPr>
        </p:nvSpPr>
        <p:spPr>
          <a:xfrm>
            <a:off x="1429566" y="2286000"/>
            <a:ext cx="9238434" cy="996587"/>
          </a:xfrm>
        </p:spPr>
        <p:txBody>
          <a:bodyPr/>
          <a:lstStyle/>
          <a:p>
            <a:pPr marL="0" indent="0">
              <a:buNone/>
            </a:pPr>
            <a:r>
              <a:rPr lang="en-AU" dirty="0"/>
              <a:t>Complete the OneNote </a:t>
            </a:r>
            <a:r>
              <a:rPr lang="en-AU" dirty="0">
                <a:solidFill>
                  <a:schemeClr val="accent2"/>
                </a:solidFill>
              </a:rPr>
              <a:t>page 05w – Table of key ideas</a:t>
            </a:r>
            <a:r>
              <a:rPr lang="en-AU" dirty="0"/>
              <a:t> in as much detail as possible.</a:t>
            </a:r>
          </a:p>
          <a:p>
            <a:pPr marL="0" indent="0">
              <a:buNone/>
            </a:pPr>
            <a:r>
              <a:rPr lang="en-AU" dirty="0"/>
              <a:t>Aim to finish at least four key ideas in class, and the rest for homework.</a:t>
            </a:r>
          </a:p>
        </p:txBody>
      </p:sp>
      <p:pic>
        <p:nvPicPr>
          <p:cNvPr id="7" name="Picture 6">
            <a:extLst>
              <a:ext uri="{FF2B5EF4-FFF2-40B4-BE49-F238E27FC236}">
                <a16:creationId xmlns:a16="http://schemas.microsoft.com/office/drawing/2014/main" id="{207B644E-38D4-92B3-5458-CCA14A23C9E9}"/>
              </a:ext>
            </a:extLst>
          </p:cNvPr>
          <p:cNvPicPr>
            <a:picLocks noChangeAspect="1"/>
          </p:cNvPicPr>
          <p:nvPr/>
        </p:nvPicPr>
        <p:blipFill>
          <a:blip r:embed="rId2"/>
          <a:stretch>
            <a:fillRect/>
          </a:stretch>
        </p:blipFill>
        <p:spPr>
          <a:xfrm>
            <a:off x="1575167" y="3428999"/>
            <a:ext cx="9677047" cy="2962175"/>
          </a:xfrm>
          <a:prstGeom prst="rect">
            <a:avLst/>
          </a:prstGeom>
        </p:spPr>
      </p:pic>
    </p:spTree>
    <p:extLst>
      <p:ext uri="{BB962C8B-B14F-4D97-AF65-F5344CB8AC3E}">
        <p14:creationId xmlns:p14="http://schemas.microsoft.com/office/powerpoint/2010/main" val="2744417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70ADC1-BBAF-3558-7F2B-7C5C7C32A510}"/>
              </a:ext>
            </a:extLst>
          </p:cNvPr>
          <p:cNvPicPr>
            <a:picLocks noChangeAspect="1"/>
          </p:cNvPicPr>
          <p:nvPr/>
        </p:nvPicPr>
        <p:blipFill>
          <a:blip r:embed="rId2"/>
          <a:stretch>
            <a:fillRect/>
          </a:stretch>
        </p:blipFill>
        <p:spPr>
          <a:xfrm>
            <a:off x="241077" y="419937"/>
            <a:ext cx="11709845" cy="6018126"/>
          </a:xfrm>
          <a:prstGeom prst="rect">
            <a:avLst/>
          </a:prstGeom>
        </p:spPr>
      </p:pic>
    </p:spTree>
    <p:extLst>
      <p:ext uri="{BB962C8B-B14F-4D97-AF65-F5344CB8AC3E}">
        <p14:creationId xmlns:p14="http://schemas.microsoft.com/office/powerpoint/2010/main" val="1753122932"/>
      </p:ext>
    </p:extLst>
  </p:cSld>
  <p:clrMapOvr>
    <a:masterClrMapping/>
  </p:clrMapOvr>
</p:sld>
</file>

<file path=ppt/theme/theme1.xml><?xml version="1.0" encoding="utf-8"?>
<a:theme xmlns:a="http://schemas.openxmlformats.org/drawingml/2006/main" name="Portal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Earth">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0E0D5035-C7F2-4607-91F4-D5D5F886A15A}" vid="{EAFF3D8B-AC13-4E90-80A9-182200FBC86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DD71352A75C946BB20F54B03F82ED8" ma:contentTypeVersion="0" ma:contentTypeDescription="Create a new document." ma:contentTypeScope="" ma:versionID="eceeccfb90892b5bada9b120beb2cbcc">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9173119-D752-464F-B305-8BBA53D81193}"/>
</file>

<file path=customXml/itemProps2.xml><?xml version="1.0" encoding="utf-8"?>
<ds:datastoreItem xmlns:ds="http://schemas.openxmlformats.org/officeDocument/2006/customXml" ds:itemID="{C6147EB2-1ED3-4E82-AF3D-6D9FEF18A2AB}"/>
</file>

<file path=customXml/itemProps3.xml><?xml version="1.0" encoding="utf-8"?>
<ds:datastoreItem xmlns:ds="http://schemas.openxmlformats.org/officeDocument/2006/customXml" ds:itemID="{270F6DBC-7E98-468E-909A-3A50CC77E201}"/>
</file>

<file path=docProps/app.xml><?xml version="1.0" encoding="utf-8"?>
<Properties xmlns="http://schemas.openxmlformats.org/officeDocument/2006/extended-properties" xmlns:vt="http://schemas.openxmlformats.org/officeDocument/2006/docPropsVTypes">
  <TotalTime>88</TotalTime>
  <Words>759</Words>
  <Application>Microsoft Office PowerPoint</Application>
  <PresentationFormat>Widescreen</PresentationFormat>
  <Paragraphs>59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Courier New</vt:lpstr>
      <vt:lpstr>Trade Gothic Next Cond</vt:lpstr>
      <vt:lpstr>Trade Gothic Next Light</vt:lpstr>
      <vt:lpstr>PortalVTI</vt:lpstr>
      <vt:lpstr>Born a crime</vt:lpstr>
      <vt:lpstr>Learning outcomes</vt:lpstr>
      <vt:lpstr>Study design</vt:lpstr>
      <vt:lpstr>What does “Analyse” mean?</vt:lpstr>
      <vt:lpstr>IDEAS</vt:lpstr>
      <vt:lpstr>Identify &amp; Describe</vt:lpstr>
      <vt:lpstr>Explain</vt:lpstr>
      <vt:lpstr>Analyse</vt:lpstr>
      <vt:lpstr>Analyse</vt:lpstr>
      <vt:lpstr>Study design</vt:lpstr>
      <vt:lpstr>Study design</vt:lpstr>
      <vt:lpstr>Key ideas &amp; concerns</vt:lpstr>
      <vt:lpstr>Task 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Born a crime</dc:title>
  <dc:creator>Lincoln LE FEVRE</dc:creator>
  <cp:lastModifiedBy>Lincoln LE FEVRE</cp:lastModifiedBy>
  <cp:revision>2</cp:revision>
  <dcterms:created xsi:type="dcterms:W3CDTF">2024-02-09T03:02:28Z</dcterms:created>
  <dcterms:modified xsi:type="dcterms:W3CDTF">2024-02-09T04:32:26Z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0x010100F6DD71352A75C946BB20F54B03F82ED8</vt:lpwstr>
  </property>
</Properties>
</file>