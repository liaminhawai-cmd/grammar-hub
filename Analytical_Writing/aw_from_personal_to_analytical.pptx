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0" r:id="rId19"/>
    <p:sldId id="272" r:id="rId20"/>
    <p:sldId id="273" r:id="rId21"/>
    <p:sldId id="281" r:id="rId22"/>
    <p:sldId id="282" r:id="rId23"/>
    <p:sldId id="274" r:id="rId24"/>
    <p:sldId id="275" r:id="rId25"/>
    <p:sldId id="276" r:id="rId26"/>
    <p:sldId id="277" r:id="rId2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FD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395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5060-591B-F446-E000-51E6A5F2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3BE91-94B6-1D92-AFFF-A8C8C01A1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90AAF-5A4A-F467-0D8C-B713A5B7B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F96A1-0B9D-CF7F-C04E-83229B581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24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73876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15047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31111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82574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21779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24143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79916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82039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8631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7997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7719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92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8A6DD-9527-41AF-A50B-243C2331D525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23BB6-39AA-4630-BF2C-C9671E8180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19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Subjects and Verbs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Personal to Analytical Writing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E1E1E"/>
                </a:solidFill>
                <a:ea typeface="Arial" pitchFamily="34" charset="-122"/>
                <a:cs typeface="Arial" pitchFamily="34" charset="-120"/>
              </a:rPr>
              <a:t>This lesson is designed to help you improve the quality of your writing.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000000"/>
                </a:solidFill>
                <a:ea typeface="Arial" pitchFamily="34" charset="-122"/>
                <a:cs typeface="Arial" pitchFamily="34" charset="-120"/>
              </a:rPr>
              <a:t>You will learn how to:</a:t>
            </a:r>
            <a:endParaRPr lang="en-US" dirty="0"/>
          </a:p>
          <a:p>
            <a:pPr marL="625475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E1E1E"/>
                </a:solidFill>
                <a:ea typeface="Arial" pitchFamily="34" charset="-122"/>
                <a:cs typeface="Arial" pitchFamily="34" charset="-120"/>
              </a:rPr>
              <a:t>Identify the </a:t>
            </a:r>
            <a:r>
              <a:rPr lang="en-US" b="1" dirty="0">
                <a:solidFill>
                  <a:srgbClr val="800000"/>
                </a:solidFill>
                <a:ea typeface="Arial" pitchFamily="34" charset="-122"/>
                <a:cs typeface="Arial" pitchFamily="34" charset="-120"/>
              </a:rPr>
              <a:t>subject</a:t>
            </a:r>
            <a:r>
              <a:rPr lang="en-US" dirty="0">
                <a:solidFill>
                  <a:srgbClr val="1E1E1E"/>
                </a:solidFill>
                <a:ea typeface="Arial" pitchFamily="34" charset="-122"/>
                <a:cs typeface="Arial" pitchFamily="34" charset="-120"/>
              </a:rPr>
              <a:t> and the </a:t>
            </a:r>
            <a:r>
              <a:rPr lang="en-US" b="1" i="1" dirty="0">
                <a:solidFill>
                  <a:schemeClr val="accent6">
                    <a:lumMod val="50000"/>
                  </a:schemeClr>
                </a:solidFill>
                <a:ea typeface="Arial" pitchFamily="34" charset="-122"/>
                <a:cs typeface="Arial" pitchFamily="34" charset="-120"/>
              </a:rPr>
              <a:t>verb</a:t>
            </a:r>
            <a:r>
              <a:rPr lang="en-US" dirty="0">
                <a:solidFill>
                  <a:srgbClr val="1E1E1E"/>
                </a:solidFill>
                <a:ea typeface="Arial" pitchFamily="34" charset="-122"/>
                <a:cs typeface="Arial" pitchFamily="34" charset="-120"/>
              </a:rPr>
              <a:t> in a sentence</a:t>
            </a:r>
          </a:p>
          <a:p>
            <a:pPr marL="625475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E1E1E"/>
                </a:solidFill>
                <a:cs typeface="Arial" pitchFamily="34" charset="-120"/>
              </a:rPr>
              <a:t>Shift your writing from subjective to analytical</a:t>
            </a:r>
            <a:endParaRPr lang="en-US" dirty="0"/>
          </a:p>
          <a:p>
            <a:pPr marL="625475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1E1E"/>
                </a:solidFill>
                <a:ea typeface="Arial" pitchFamily="34" charset="-122"/>
                <a:cs typeface="Arial" pitchFamily="34" charset="-120"/>
              </a:rPr>
              <a:t>Change the </a:t>
            </a:r>
            <a:r>
              <a:rPr lang="en-US" b="1" dirty="0">
                <a:solidFill>
                  <a:srgbClr val="800000"/>
                </a:solidFill>
                <a:ea typeface="Arial" pitchFamily="34" charset="-122"/>
                <a:cs typeface="Arial" pitchFamily="34" charset="-120"/>
              </a:rPr>
              <a:t>subject</a:t>
            </a:r>
            <a:r>
              <a:rPr lang="en-US" dirty="0">
                <a:solidFill>
                  <a:srgbClr val="1E1E1E"/>
                </a:solidFill>
                <a:ea typeface="Arial" pitchFamily="34" charset="-122"/>
                <a:cs typeface="Arial" pitchFamily="34" charset="-120"/>
              </a:rPr>
              <a:t> of your sentence to improve your writing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Colour Coding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 this presentation, we will use consistent colours to help you identify sentence parts: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274320" cy="274320"/>
          </a:xfrm>
          <a:prstGeom prst="rect">
            <a:avLst/>
          </a:prstGeom>
          <a:solidFill>
            <a:srgbClr val="8000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Subject/Object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 or what of the sentence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274320" cy="2743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process of action of the sentence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274320" cy="2743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Prepositional Phrase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5A82"/>
                </a:solidFill>
                <a:latin typeface="Arial" pitchFamily="34" charset="0"/>
                <a:cs typeface="Arial" pitchFamily="34" charset="-120"/>
              </a:rPr>
              <a:t>The where, when and how of the sentence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Conjunctions will be underlined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Verb?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verb is a word that expresses an action, state, or occurrence.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analytical writing, we use four main types of verbs:</a:t>
            </a:r>
            <a:endParaRPr lang="en-US" sz="16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999C9B-A196-172A-62EE-872F27F98E77}"/>
              </a:ext>
            </a:extLst>
          </p:cNvPr>
          <p:cNvGrpSpPr/>
          <p:nvPr/>
        </p:nvGrpSpPr>
        <p:grpSpPr>
          <a:xfrm>
            <a:off x="1100889" y="2834640"/>
            <a:ext cx="7044489" cy="2148840"/>
            <a:chOff x="457200" y="2834640"/>
            <a:chExt cx="8229600" cy="2148840"/>
          </a:xfrm>
        </p:grpSpPr>
        <p:sp>
          <p:nvSpPr>
            <p:cNvPr id="6" name="Text 4"/>
            <p:cNvSpPr/>
            <p:nvPr/>
          </p:nvSpPr>
          <p:spPr>
            <a:xfrm>
              <a:off x="457200" y="28346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Action Verbs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926080" y="2834640"/>
              <a:ext cx="576072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protagonist </a:t>
              </a:r>
              <a:r>
                <a:rPr lang="en-US" sz="1400" b="1" i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hides</a:t>
              </a:r>
              <a:r>
                <a:rPr lang="en-US" sz="14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objects.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57200" y="34290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Thinking Verbs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926080" y="3429000"/>
              <a:ext cx="576072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Ogawa</a:t>
              </a:r>
              <a:r>
                <a:rPr lang="en-US" sz="14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b="1" i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suggests</a:t>
              </a:r>
              <a:r>
                <a:rPr lang="en-US" sz="14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that memory is fragile.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40233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Existing/Being Verbs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26080" y="4023360"/>
              <a:ext cx="576072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disappearances </a:t>
              </a:r>
              <a:r>
                <a:rPr lang="en-US" sz="1400" b="1" i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are</a:t>
              </a:r>
              <a:r>
                <a:rPr lang="en-US" sz="14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systematic.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57200" y="46177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Analytic Verbs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926080" y="4617720"/>
              <a:ext cx="576072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text </a:t>
              </a:r>
              <a:r>
                <a:rPr lang="en-US" sz="1400" b="1" i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constructs</a:t>
              </a:r>
              <a:r>
                <a:rPr lang="en-US" sz="14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 sense of inevitability.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 Verbs for Text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verbs help us discuss what language features and texts DO: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evokes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undermines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depicts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Subject?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8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person, thing, or idea that:</a:t>
            </a:r>
          </a:p>
          <a:p>
            <a:pPr marL="534988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4988" algn="l"/>
              </a:tabLst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the action of the </a:t>
            </a:r>
            <a:r>
              <a:rPr lang="en-US" sz="1600" i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</a:p>
          <a:p>
            <a:pPr marL="534988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4988" algn="l"/>
              </a:tabLst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Appears immediately before the </a:t>
            </a:r>
            <a:r>
              <a:rPr lang="en-US" sz="1600" i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</a:p>
          <a:p>
            <a:pPr marL="534988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4988" algn="l"/>
              </a:tabLst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Determines who or what the sentence is ABOUT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475923"/>
            <a:ext cx="7315200" cy="1097280"/>
          </a:xfrm>
          <a:prstGeom prst="rect">
            <a:avLst/>
          </a:prstGeom>
          <a:solidFill>
            <a:srgbClr val="97BC62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protagonist </a:t>
            </a:r>
            <a:r>
              <a:rPr lang="en-US" sz="2000" b="1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objects </a:t>
            </a:r>
            <a:r>
              <a:rPr lang="en-US" sz="2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attic</a:t>
            </a:r>
            <a:r>
              <a:rPr lang="en-US" sz="2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Position AND Function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19834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subject has two aspects: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25328"/>
            <a:ext cx="4023360" cy="2560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40080" y="191687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Grammatical Position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74071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subject usually comes BEFORE the verb.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disappearance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occurs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gradually.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725328"/>
            <a:ext cx="4023360" cy="2560320"/>
          </a:xfrm>
          <a:prstGeom prst="rect">
            <a:avLst/>
          </a:prstGeom>
          <a:solidFill>
            <a:srgbClr val="F5F5F5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846320" y="191687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Role (Agent)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2374071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subject is the DOER or TOPIC of the sentence.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Ogawa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constructs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erasure as inevitable.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363754-8A64-1985-A40F-3A8B8B07A507}"/>
              </a:ext>
            </a:extLst>
          </p:cNvPr>
          <p:cNvSpPr txBox="1"/>
          <p:nvPr/>
        </p:nvSpPr>
        <p:spPr>
          <a:xfrm>
            <a:off x="932446" y="4550815"/>
            <a:ext cx="69422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i="1" dirty="0"/>
              <a:t>Note</a:t>
            </a:r>
            <a:r>
              <a:rPr lang="en-AU" sz="1400" i="1" dirty="0"/>
              <a:t>: usually the </a:t>
            </a:r>
            <a:r>
              <a:rPr lang="en-AU" sz="1400" i="1" dirty="0">
                <a:solidFill>
                  <a:srgbClr val="800000"/>
                </a:solidFill>
              </a:rPr>
              <a:t>subject</a:t>
            </a:r>
            <a:r>
              <a:rPr lang="en-AU" sz="1400" i="1" dirty="0"/>
              <a:t> and </a:t>
            </a:r>
            <a:r>
              <a:rPr lang="en-AU" sz="1400" i="1" dirty="0">
                <a:solidFill>
                  <a:srgbClr val="800000"/>
                </a:solidFill>
              </a:rPr>
              <a:t>agent</a:t>
            </a:r>
            <a:r>
              <a:rPr lang="en-AU" sz="1400" i="1" dirty="0"/>
              <a:t> are the same, but not always. We’ll explain this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Identify the Subject and Verb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each sentence, identify the </a:t>
            </a:r>
            <a:r>
              <a:rPr lang="en-US" sz="16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</a:t>
            </a:r>
            <a:r>
              <a:rPr lang="en-US" sz="1600" i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6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DA2718-5F1C-02EB-6F32-B5CF8702B769}"/>
              </a:ext>
            </a:extLst>
          </p:cNvPr>
          <p:cNvGrpSpPr/>
          <p:nvPr/>
        </p:nvGrpSpPr>
        <p:grpSpPr>
          <a:xfrm>
            <a:off x="914400" y="1878129"/>
            <a:ext cx="7772400" cy="2651760"/>
            <a:chOff x="914400" y="1878129"/>
            <a:chExt cx="7772400" cy="2651760"/>
          </a:xfrm>
        </p:grpSpPr>
        <p:sp>
          <p:nvSpPr>
            <p:cNvPr id="5" name="Text 3"/>
            <p:cNvSpPr/>
            <p:nvPr/>
          </p:nvSpPr>
          <p:spPr>
            <a:xfrm>
              <a:off x="914400" y="1878129"/>
              <a:ext cx="7772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1.  The Memory Police patrol the streets.</a:t>
              </a:r>
              <a:endParaRPr lang="en-US" sz="16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2426769"/>
              <a:ext cx="7772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2.  I felt uncomfortable when their legs disappeared without warning.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14400" y="2975409"/>
              <a:ext cx="7772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3.  Ogawa uses sparse language throughout the novel.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3524049"/>
              <a:ext cx="7772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4.  </a:t>
              </a:r>
              <a:r>
                <a:rPr lang="en-AU" sz="16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This moment made me feel tense and uneasy.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14400" y="4072689"/>
              <a:ext cx="7772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5.  Fear controls the population.</a:t>
              </a:r>
              <a:endParaRPr lang="en-US" sz="1600" dirty="0"/>
            </a:p>
          </p:txBody>
        </p:sp>
      </p:grpSp>
      <p:sp>
        <p:nvSpPr>
          <p:cNvPr id="10" name="Text 8"/>
          <p:cNvSpPr/>
          <p:nvPr/>
        </p:nvSpPr>
        <p:spPr>
          <a:xfrm>
            <a:off x="914400" y="4596063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[Think-Pair-Share: Discuss your answers with a partner]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Subjects and Verbs Identified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914400" y="1371599"/>
            <a:ext cx="7772400" cy="2652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Police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streets.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uncomfortable when their legs disappeared without warning.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Ogawa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sparse language throughout the novel.</a:t>
            </a:r>
          </a:p>
          <a:p>
            <a:pPr marL="342900" indent="-342900">
              <a:spcAft>
                <a:spcPts val="1200"/>
              </a:spcAft>
              <a:buAutoNum type="arabicPeriod" startAt="4"/>
            </a:pPr>
            <a:r>
              <a:rPr lang="en-AU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moment </a:t>
            </a:r>
            <a:r>
              <a:rPr lang="en-AU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</a:t>
            </a:r>
            <a:r>
              <a:rPr lang="en-AU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 feel tense and uneasy.</a:t>
            </a:r>
          </a:p>
          <a:p>
            <a:pPr marL="342900" indent="-342900">
              <a:spcAft>
                <a:spcPts val="1200"/>
              </a:spcAft>
              <a:buAutoNum type="arabicPeriod" startAt="4"/>
            </a:pPr>
            <a:r>
              <a:rPr lang="en-US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population.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4E87-9004-F196-DD56-EDB2B1A8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800000"/>
                </a:solidFill>
              </a:rPr>
              <a:t>From “I” to “Ideas”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0C56F-EC5D-2710-017D-497E81681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2400" dirty="0"/>
              <a:t>So far, the purpose of this unit has been to learn how to be mindful of your own responses.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2400" dirty="0"/>
              <a:t>Rather than us telling you what we want you to write (boring), we want you to be able to develop your own interpretation – one that is shaped by your own understanding and experience of the world.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2400" dirty="0"/>
              <a:t>Your next step is to understand how to shift your writing from personal to analytical.</a:t>
            </a:r>
          </a:p>
        </p:txBody>
      </p:sp>
    </p:spTree>
    <p:extLst>
      <p:ext uri="{BB962C8B-B14F-4D97-AF65-F5344CB8AC3E}">
        <p14:creationId xmlns:p14="http://schemas.microsoft.com/office/powerpoint/2010/main" val="393538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"I" as Subject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Personal/Reflective Writing:
</a:t>
            </a:r>
            <a:endParaRPr lang="en-US" sz="16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</a:t>
            </a:r>
            <a:r>
              <a:rPr lang="en-US" sz="1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anxious when the protagonist hid objects.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 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“I” is subjective, but analytic writing needs to be objective.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Writing:
</a:t>
            </a:r>
            <a:endParaRPr lang="en-US" sz="16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 of hiding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r>
              <a:rPr lang="en-US" sz="1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anxiety about discovery.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the Subject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analytical writing, we can transform the subject to focus on:</a:t>
            </a:r>
            <a:endParaRPr lang="en-US" sz="1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FD10B7-0EC9-D653-E32E-E982487B355A}"/>
              </a:ext>
            </a:extLst>
          </p:cNvPr>
          <p:cNvGrpSpPr/>
          <p:nvPr/>
        </p:nvGrpSpPr>
        <p:grpSpPr>
          <a:xfrm>
            <a:off x="1426945" y="2048978"/>
            <a:ext cx="6290109" cy="2743200"/>
            <a:chOff x="640080" y="2103120"/>
            <a:chExt cx="6290109" cy="2743200"/>
          </a:xfrm>
        </p:grpSpPr>
        <p:sp>
          <p:nvSpPr>
            <p:cNvPr id="5" name="Text 3"/>
            <p:cNvSpPr/>
            <p:nvPr/>
          </p:nvSpPr>
          <p:spPr>
            <a:xfrm>
              <a:off x="640080" y="210312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TEXT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2926080" y="2103120"/>
              <a:ext cx="3679257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novel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explores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erasure and memory.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269748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AUTHOR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2926080" y="2697480"/>
              <a:ext cx="3679257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Ogawa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constructs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 dystopian society.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40080" y="329184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CHARACTER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3291840"/>
              <a:ext cx="382965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protagonist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conceals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forbidden objects.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40080" y="38862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LANGUAGE FEATURE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2926080" y="3886200"/>
              <a:ext cx="400410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sparse prose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mirrors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emptiness.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0080" y="448056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IDEA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2926080" y="4480560"/>
              <a:ext cx="400410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Surveillance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creates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fear and compliance.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1: Subject as 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noticed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novel focuses on memory loss.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468880"/>
            <a:ext cx="0" cy="54864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novel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gradual erosion of memory </a:t>
            </a:r>
            <a:r>
              <a:rPr lang="en-US" sz="16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authoritarian control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Subject shifted from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 to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novel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2: Subject as AUTHOR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Ogawa wants to show how fear silences people.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468880"/>
            <a:ext cx="0" cy="54864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Ogawa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constructs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fear as a silencing mechanism that prevents collective resistance.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Subject shifted from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 to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Ogawa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 (the author)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3: Subject as CHARACTER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interesting that the protagonist never resists openly.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468880"/>
            <a:ext cx="0" cy="54864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protagonist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conceals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resistance </a:t>
            </a:r>
            <a:r>
              <a:rPr lang="en-US" sz="16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private, domestic spaces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never challenging the regime publicly.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Subject shifted from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 to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protagonist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4: Subject as LANGUAGE FEATURE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noticed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writing is very simple and empty.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468880"/>
            <a:ext cx="0" cy="54864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sparse, declarative prose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cognitive emptiness created </a:t>
            </a:r>
            <a:r>
              <a:rPr lang="en-US" sz="16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systematic erasure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Subject shifted from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 to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sparse, declarative prose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5: Subject as IDEA/CONCEPT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the surveillance made everyone afraid.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468880"/>
            <a:ext cx="0" cy="54864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Analytical: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constant surveillance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pervasive atmosphere of fear that prevents collective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Subject shifted from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 to "</a:t>
            </a:r>
            <a:r>
              <a:rPr lang="en-US" sz="1300" i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constant surveillance</a:t>
            </a: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 (concept)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6E5AB-B6E4-27B8-7B94-3ADE2D57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0BFDD4-1DFD-F7A6-2165-14A2E62678BA}"/>
              </a:ext>
            </a:extLst>
          </p:cNvPr>
          <p:cNvSpPr/>
          <p:nvPr/>
        </p:nvSpPr>
        <p:spPr>
          <a:xfrm>
            <a:off x="1191127" y="1554841"/>
            <a:ext cx="6521116" cy="1862127"/>
          </a:xfrm>
          <a:prstGeom prst="rect">
            <a:avLst/>
          </a:prstGeom>
          <a:solidFill>
            <a:srgbClr val="FDFF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C3B9526-A9CC-83A1-A78D-9B30CFB39992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the Subject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8269C9-575D-85A3-9C8B-565D43AA4C2E}"/>
              </a:ext>
            </a:extLst>
          </p:cNvPr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383D04-2FEF-FE46-6711-B68224416B6E}"/>
              </a:ext>
            </a:extLst>
          </p:cNvPr>
          <p:cNvSpPr/>
          <p:nvPr/>
        </p:nvSpPr>
        <p:spPr>
          <a:xfrm>
            <a:off x="457200" y="109764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cs typeface="Arial" pitchFamily="34" charset="-120"/>
              </a:rPr>
              <a:t>Which do you think lead to the most sophisticated analyses?</a:t>
            </a:r>
            <a:endParaRPr lang="en-US" sz="1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CC4153-D2EE-954D-4F2E-0A5C205BF332}"/>
              </a:ext>
            </a:extLst>
          </p:cNvPr>
          <p:cNvGrpSpPr/>
          <p:nvPr/>
        </p:nvGrpSpPr>
        <p:grpSpPr>
          <a:xfrm>
            <a:off x="1366787" y="1573490"/>
            <a:ext cx="6290109" cy="1795352"/>
            <a:chOff x="640080" y="2103120"/>
            <a:chExt cx="6290109" cy="2743200"/>
          </a:xfrm>
        </p:grpSpPr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A48D1EA8-B7F9-B8FE-E7B0-C3125C5C653A}"/>
                </a:ext>
              </a:extLst>
            </p:cNvPr>
            <p:cNvSpPr/>
            <p:nvPr/>
          </p:nvSpPr>
          <p:spPr>
            <a:xfrm>
              <a:off x="640080" y="210312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TEXT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557A8EB-B744-A96E-2AB2-CCC4A864CF41}"/>
                </a:ext>
              </a:extLst>
            </p:cNvPr>
            <p:cNvSpPr/>
            <p:nvPr/>
          </p:nvSpPr>
          <p:spPr>
            <a:xfrm>
              <a:off x="2926080" y="2103120"/>
              <a:ext cx="3679257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novel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explores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erasure and memory.</a:t>
              </a:r>
              <a:endParaRPr lang="en-US" sz="1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5B4AD94-A08E-DE2E-5A5E-5756A6F937DC}"/>
                </a:ext>
              </a:extLst>
            </p:cNvPr>
            <p:cNvSpPr/>
            <p:nvPr/>
          </p:nvSpPr>
          <p:spPr>
            <a:xfrm>
              <a:off x="640080" y="269748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AUTHOR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48025358-E87E-E6D6-E184-915F2AF237A8}"/>
                </a:ext>
              </a:extLst>
            </p:cNvPr>
            <p:cNvSpPr/>
            <p:nvPr/>
          </p:nvSpPr>
          <p:spPr>
            <a:xfrm>
              <a:off x="2926080" y="2697480"/>
              <a:ext cx="3679257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Ogawa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constructs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 dystopian society.</a:t>
              </a:r>
              <a:endParaRPr lang="en-US" sz="1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6E20532-2AC1-47E4-6CA7-2DE411DFD2D4}"/>
                </a:ext>
              </a:extLst>
            </p:cNvPr>
            <p:cNvSpPr/>
            <p:nvPr/>
          </p:nvSpPr>
          <p:spPr>
            <a:xfrm>
              <a:off x="640080" y="329184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CHARACTER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9D1EF213-B98B-96E6-4830-E99A1C7FF97B}"/>
                </a:ext>
              </a:extLst>
            </p:cNvPr>
            <p:cNvSpPr/>
            <p:nvPr/>
          </p:nvSpPr>
          <p:spPr>
            <a:xfrm>
              <a:off x="2926080" y="3291840"/>
              <a:ext cx="382965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protagonist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conceals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forbidden objects.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7B1F13D-11B8-A7DC-F263-1EB5A65BB3AC}"/>
                </a:ext>
              </a:extLst>
            </p:cNvPr>
            <p:cNvSpPr/>
            <p:nvPr/>
          </p:nvSpPr>
          <p:spPr>
            <a:xfrm>
              <a:off x="640080" y="38862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LANGUAGE FEATURE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37D30EC0-9FF6-F659-7719-B389A67F9813}"/>
                </a:ext>
              </a:extLst>
            </p:cNvPr>
            <p:cNvSpPr/>
            <p:nvPr/>
          </p:nvSpPr>
          <p:spPr>
            <a:xfrm>
              <a:off x="2926080" y="3886200"/>
              <a:ext cx="400410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sparse prose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mirrors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emptiness.</a:t>
              </a:r>
              <a:endParaRPr lang="en-US" sz="14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EB4BFFC3-09BF-7706-A0F6-CD428F4DB30A}"/>
                </a:ext>
              </a:extLst>
            </p:cNvPr>
            <p:cNvSpPr/>
            <p:nvPr/>
          </p:nvSpPr>
          <p:spPr>
            <a:xfrm>
              <a:off x="640080" y="4480560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</a:t>
              </a:r>
              <a:r>
                <a:rPr lang="en-US" sz="1400" b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IDEA</a:t>
              </a:r>
              <a:endParaRPr 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48C24E73-6705-AE3D-ED36-475E4D6633FA}"/>
                </a:ext>
              </a:extLst>
            </p:cNvPr>
            <p:cNvSpPr/>
            <p:nvPr/>
          </p:nvSpPr>
          <p:spPr>
            <a:xfrm>
              <a:off x="2926080" y="4480560"/>
              <a:ext cx="400410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8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Surveillance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400" i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creates</a:t>
              </a:r>
              <a:r>
                <a:rPr lang="en-US" sz="1400" i="1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fear and compliance.</a:t>
              </a:r>
              <a:endParaRPr lang="en-US" sz="1400" dirty="0"/>
            </a:p>
          </p:txBody>
        </p:sp>
      </p:grpSp>
      <p:sp>
        <p:nvSpPr>
          <p:cNvPr id="16" name="Text 2">
            <a:extLst>
              <a:ext uri="{FF2B5EF4-FFF2-40B4-BE49-F238E27FC236}">
                <a16:creationId xmlns:a16="http://schemas.microsoft.com/office/drawing/2014/main" id="{A86266B6-4324-5F19-CB18-497209CDBE6C}"/>
              </a:ext>
            </a:extLst>
          </p:cNvPr>
          <p:cNvSpPr/>
          <p:nvPr/>
        </p:nvSpPr>
        <p:spPr>
          <a:xfrm>
            <a:off x="457200" y="3518455"/>
            <a:ext cx="8229600" cy="140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cs typeface="Arial" pitchFamily="34" charset="-120"/>
              </a:rPr>
              <a:t>Which types are most likely to appear:</a:t>
            </a:r>
          </a:p>
          <a:p>
            <a:pPr marL="625475" indent="-26511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cs typeface="Arial" pitchFamily="34" charset="-120"/>
              </a:rPr>
              <a:t>In an introduction?</a:t>
            </a:r>
          </a:p>
          <a:p>
            <a:pPr marL="625475" indent="-26511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cs typeface="Arial" pitchFamily="34" charset="-120"/>
              </a:rPr>
              <a:t>In a topic sentence?</a:t>
            </a:r>
          </a:p>
          <a:p>
            <a:pPr marL="625475" indent="-2651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cs typeface="Arial" pitchFamily="34" charset="-120"/>
              </a:rPr>
              <a:t>In an explanation?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31351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Practice: Transform These Sentences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each sentence by changing the subject from "I" to a text-focused subject: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09273"/>
            <a:ext cx="7680960" cy="64008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2100713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 was disturbed by how quickly people forgot.</a:t>
            </a:r>
            <a:endParaRPr lang="en-US" sz="15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D0E9D3-1418-0D17-D9E4-0ACD94BE596A}"/>
              </a:ext>
            </a:extLst>
          </p:cNvPr>
          <p:cNvGrpSpPr/>
          <p:nvPr/>
        </p:nvGrpSpPr>
        <p:grpSpPr>
          <a:xfrm>
            <a:off x="731520" y="2812982"/>
            <a:ext cx="7680960" cy="640080"/>
            <a:chOff x="731520" y="3108960"/>
            <a:chExt cx="7680960" cy="640080"/>
          </a:xfrm>
        </p:grpSpPr>
        <p:sp>
          <p:nvSpPr>
            <p:cNvPr id="7" name="Shape 5"/>
            <p:cNvSpPr/>
            <p:nvPr/>
          </p:nvSpPr>
          <p:spPr>
            <a:xfrm>
              <a:off x="731520" y="3108960"/>
              <a:ext cx="7680960" cy="640080"/>
            </a:xfrm>
            <a:prstGeom prst="rect">
              <a:avLst/>
            </a:prstGeom>
            <a:solidFill>
              <a:srgbClr val="FFF3E0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320040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71463" indent="-271463">
                <a:buNone/>
              </a:pPr>
              <a:r>
                <a:rPr lang="en-US" sz="15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2.  I was reminded of the Diary of Anne Frank by description of the hidden room and how it was constructed.</a:t>
              </a:r>
              <a:endParaRPr lang="en-US" sz="15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F8F797-C5A5-B5F4-877A-F50B5B6960F3}"/>
              </a:ext>
            </a:extLst>
          </p:cNvPr>
          <p:cNvGrpSpPr/>
          <p:nvPr/>
        </p:nvGrpSpPr>
        <p:grpSpPr>
          <a:xfrm>
            <a:off x="731520" y="3674444"/>
            <a:ext cx="7680960" cy="640080"/>
            <a:chOff x="731520" y="4114800"/>
            <a:chExt cx="7680960" cy="640080"/>
          </a:xfrm>
        </p:grpSpPr>
        <p:sp>
          <p:nvSpPr>
            <p:cNvPr id="9" name="Shape 7"/>
            <p:cNvSpPr/>
            <p:nvPr/>
          </p:nvSpPr>
          <p:spPr>
            <a:xfrm>
              <a:off x="731520" y="4114800"/>
              <a:ext cx="7680960" cy="640080"/>
            </a:xfrm>
            <a:prstGeom prst="rect">
              <a:avLst/>
            </a:prstGeom>
            <a:solidFill>
              <a:srgbClr val="FFF3E0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 8"/>
            <p:cNvSpPr/>
            <p:nvPr/>
          </p:nvSpPr>
          <p:spPr>
            <a:xfrm>
              <a:off x="914400" y="420624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71463" indent="-271463">
                <a:buNone/>
              </a:pPr>
              <a:r>
                <a:rPr lang="en-US" sz="1500" dirty="0">
                  <a:solidFill>
                    <a:srgbClr val="1E1E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3.  I noticed the protagonist never describes the disappearances with strong emotions.</a:t>
              </a:r>
              <a:endParaRPr lang="en-US" sz="15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Consider what aspect of the text each sentence discusses.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Transformations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33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I was disturbed by how quickly people forgot.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8462" y="1651936"/>
            <a:ext cx="74740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rapid forgetting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i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regime's success in normalising loss.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99" y="2468880"/>
            <a:ext cx="85003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806450" indent="-806450">
              <a:buNone/>
            </a:pPr>
            <a:r>
              <a:rPr lang="en-AU" sz="14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I was reminded of the Diary of Anne Frank by description of the hidden room and how it was constructed.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8462" y="2779294"/>
            <a:ext cx="7474018" cy="558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description of the methodical construction of the hidden room </a:t>
            </a:r>
            <a:r>
              <a:rPr lang="en-US" sz="1600" b="1" i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highly reminiscent of </a:t>
            </a:r>
            <a:r>
              <a:rPr lang="en-US" sz="1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Diary of a Young Girl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by Anne Frank.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9610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AU" sz="14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I noticed the protagonist never describes the disappearances with strong emotions.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8462" y="3931920"/>
            <a:ext cx="7474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protagonist's emotional restraint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i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reflects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numbing effect of systematic erasure.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BDF9-CCBA-F886-B4EF-55D9212E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800000"/>
                </a:solidFill>
              </a:rPr>
              <a:t>Extension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BAB43-E135-EF12-2B14-E0C8852FF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8937"/>
            <a:ext cx="7886700" cy="35137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1800" b="1" dirty="0">
                <a:solidFill>
                  <a:srgbClr val="800000"/>
                </a:solidFill>
              </a:rPr>
              <a:t>Tip 1</a:t>
            </a:r>
          </a:p>
          <a:p>
            <a:pPr marL="0" indent="0" algn="ctr">
              <a:buNone/>
            </a:pPr>
            <a:endParaRPr lang="en-AU" sz="1800" b="1" dirty="0">
              <a:solidFill>
                <a:srgbClr val="800000"/>
              </a:solidFill>
            </a:endParaRPr>
          </a:p>
          <a:p>
            <a:pPr marL="0" indent="0">
              <a:buNone/>
            </a:pPr>
            <a:r>
              <a:rPr lang="en-AU" sz="1800" dirty="0"/>
              <a:t>Earlier, we mentioned that the </a:t>
            </a:r>
            <a:r>
              <a:rPr lang="en-AU" sz="1800" b="1" dirty="0">
                <a:solidFill>
                  <a:srgbClr val="800000"/>
                </a:solidFill>
              </a:rPr>
              <a:t>subject</a:t>
            </a:r>
            <a:r>
              <a:rPr lang="en-AU" sz="1800" dirty="0"/>
              <a:t> and </a:t>
            </a:r>
            <a:r>
              <a:rPr lang="en-AU" sz="1800" b="1" dirty="0">
                <a:solidFill>
                  <a:srgbClr val="800000"/>
                </a:solidFill>
              </a:rPr>
              <a:t>agent</a:t>
            </a:r>
            <a:r>
              <a:rPr lang="en-AU" sz="1800" dirty="0"/>
              <a:t> aren’t always the same.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1800" dirty="0"/>
              <a:t>When your </a:t>
            </a:r>
            <a:r>
              <a:rPr lang="en-AU" sz="1800" b="1" dirty="0">
                <a:solidFill>
                  <a:srgbClr val="800000"/>
                </a:solidFill>
              </a:rPr>
              <a:t>subject</a:t>
            </a:r>
            <a:r>
              <a:rPr lang="en-AU" sz="1800" dirty="0"/>
              <a:t> refers to a key idea, you will create a </a:t>
            </a:r>
            <a:r>
              <a:rPr lang="en-AU" sz="1800" b="1" dirty="0"/>
              <a:t>passive sentence</a:t>
            </a:r>
            <a:r>
              <a:rPr lang="en-AU" sz="1800" dirty="0"/>
              <a:t>. The agent will come later, or it might not appear at all.</a:t>
            </a:r>
          </a:p>
          <a:p>
            <a:pPr marL="534988" indent="0">
              <a:spcAft>
                <a:spcPts val="1200"/>
              </a:spcAft>
              <a:buNone/>
            </a:pPr>
            <a:r>
              <a:rPr lang="en-AU" sz="2000" b="1" dirty="0">
                <a:solidFill>
                  <a:srgbClr val="800000"/>
                </a:solidFill>
              </a:rPr>
              <a:t>The disappearance of self-expression </a:t>
            </a:r>
            <a:r>
              <a:rPr lang="en-AU" sz="2000" b="1" i="1" dirty="0">
                <a:solidFill>
                  <a:schemeClr val="accent6">
                    <a:lumMod val="50000"/>
                  </a:schemeClr>
                </a:solidFill>
              </a:rPr>
              <a:t>is foreshadowed by</a:t>
            </a:r>
            <a:r>
              <a:rPr lang="en-AU" sz="2000" dirty="0"/>
              <a:t> the description of the narrator’s mother as an artist in the very first chapter.</a:t>
            </a:r>
          </a:p>
          <a:p>
            <a:pPr marL="0" indent="0">
              <a:buNone/>
              <a:tabLst>
                <a:tab pos="0" algn="l"/>
              </a:tabLst>
            </a:pPr>
            <a:r>
              <a:rPr lang="en-AU" sz="1800" dirty="0"/>
              <a:t>The main </a:t>
            </a:r>
            <a:r>
              <a:rPr lang="en-AU" sz="1800" b="1" i="1" dirty="0">
                <a:solidFill>
                  <a:schemeClr val="accent6">
                    <a:lumMod val="50000"/>
                  </a:schemeClr>
                </a:solidFill>
              </a:rPr>
              <a:t>verb</a:t>
            </a:r>
            <a:r>
              <a:rPr lang="en-AU" sz="1800" dirty="0"/>
              <a:t> is the foreshadowing</a:t>
            </a:r>
            <a:r>
              <a:rPr lang="en-AU" sz="2000" dirty="0"/>
              <a:t>, </a:t>
            </a:r>
            <a:r>
              <a:rPr lang="en-AU" sz="1800" dirty="0"/>
              <a:t>and so the </a:t>
            </a:r>
            <a:r>
              <a:rPr lang="en-AU" sz="1800" b="1" dirty="0">
                <a:solidFill>
                  <a:srgbClr val="800000"/>
                </a:solidFill>
              </a:rPr>
              <a:t>subject</a:t>
            </a:r>
            <a:r>
              <a:rPr lang="en-AU" sz="1800" dirty="0"/>
              <a:t> must be the noun group that appears before it. </a:t>
            </a:r>
          </a:p>
        </p:txBody>
      </p:sp>
    </p:spTree>
    <p:extLst>
      <p:ext uri="{BB962C8B-B14F-4D97-AF65-F5344CB8AC3E}">
        <p14:creationId xmlns:p14="http://schemas.microsoft.com/office/powerpoint/2010/main" val="2632853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5372-E523-1745-3CB0-3607325F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AD4B-0094-D93A-C99F-85BE018F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800000"/>
                </a:solidFill>
              </a:rPr>
              <a:t>Extension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316CC-0E77-B54D-2CBC-7ADFEBB18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8937"/>
            <a:ext cx="7886700" cy="351378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AU" sz="1800" b="1" dirty="0">
                <a:solidFill>
                  <a:srgbClr val="800000"/>
                </a:solidFill>
              </a:rPr>
              <a:t>Tip 2</a:t>
            </a:r>
          </a:p>
          <a:p>
            <a:pPr marL="0" indent="0" algn="ctr">
              <a:buNone/>
            </a:pPr>
            <a:endParaRPr lang="en-AU" sz="1800" b="1" dirty="0">
              <a:solidFill>
                <a:srgbClr val="800000"/>
              </a:solidFill>
            </a:endParaRPr>
          </a:p>
          <a:p>
            <a:pPr marL="0" indent="0">
              <a:buNone/>
            </a:pPr>
            <a:r>
              <a:rPr lang="en-AU" sz="1800" dirty="0"/>
              <a:t>When your explanation sentence refers to a language feature as the subject, you’ve given yourself a great place to include your evidence.</a:t>
            </a:r>
          </a:p>
          <a:p>
            <a:pPr marL="0" indent="0">
              <a:buNone/>
            </a:pPr>
            <a:endParaRPr lang="en-AU" sz="1800" dirty="0"/>
          </a:p>
          <a:p>
            <a:pPr marL="444500" indent="0">
              <a:buNone/>
            </a:pPr>
            <a:r>
              <a:rPr lang="en-AU" sz="2000" b="1" dirty="0">
                <a:solidFill>
                  <a:srgbClr val="800000"/>
                </a:solidFill>
              </a:rPr>
              <a:t>The description of empty butcher shops with “just one or two scrawny things” (134) </a:t>
            </a:r>
            <a:r>
              <a:rPr lang="en-AU" sz="2000" b="1" i="1" dirty="0">
                <a:solidFill>
                  <a:schemeClr val="accent6">
                    <a:lumMod val="50000"/>
                  </a:schemeClr>
                </a:solidFill>
              </a:rPr>
              <a:t>represents</a:t>
            </a:r>
            <a:r>
              <a:rPr lang="en-AU" sz="2000" dirty="0"/>
              <a:t> the lack of emotional nourishment as well as the literal hunger that results from this totalitarian control.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1800" dirty="0"/>
              <a:t>This allows you to focus on the language with evidence and then build an interpretation from there.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596837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Independent Practice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reflective response that you chose at the beginning of the lesson.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sentence:</a:t>
            </a:r>
            <a:endParaRPr lang="en-US" dirty="0"/>
          </a:p>
          <a:p>
            <a:pPr marL="557213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current </a:t>
            </a:r>
            <a:r>
              <a:rPr lang="en-US" sz="16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600" b="1" i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b="1" i="1" dirty="0">
              <a:solidFill>
                <a:schemeClr val="accent6">
                  <a:lumMod val="50000"/>
                </a:schemeClr>
              </a:solidFill>
            </a:endParaRPr>
          </a:p>
          <a:p>
            <a:pPr marL="557213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what the sentence is </a:t>
            </a:r>
            <a:r>
              <a:rPr lang="en-US" sz="16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really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(</a:t>
            </a:r>
            <a:r>
              <a:rPr lang="en-US" sz="16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</a:t>
            </a:r>
            <a:r>
              <a:rPr lang="en-US" sz="16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dirty="0"/>
          </a:p>
          <a:p>
            <a:pPr marL="557213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the </a:t>
            </a:r>
            <a:r>
              <a:rPr lang="en-US" sz="16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focus on that element
Follow your subject with an </a:t>
            </a:r>
            <a:r>
              <a:rPr lang="en-US" sz="1600" b="1" i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i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15 minutes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The </a:t>
            </a:r>
            <a:r>
              <a:rPr lang="en-US" sz="16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determines what your sentence is about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The </a:t>
            </a: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action, thought, existence, or analysis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Personal writing centres "I" as the subject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Analytical writing centres the TEXT, AUTHOR, CHARACTER, LANGUAGE, or IDEAS as the subject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Transforming the subject transforms personal reflection into analysis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Homework: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your reflective responses from Weeks 1-4 and choose </a:t>
            </a: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more </a:t>
            </a: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rewrite.
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EVERY sentence that has "I" as the subject.
</a:t>
            </a:r>
            <a:endParaRPr lang="en-US" sz="2000" dirty="0"/>
          </a:p>
          <a:p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to create subjects that focus on:</a:t>
            </a:r>
          </a:p>
          <a:p>
            <a:pPr marL="625475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 or chapter</a:t>
            </a:r>
          </a:p>
          <a:p>
            <a:pPr marL="625475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 and their actions</a:t>
            </a:r>
          </a:p>
          <a:p>
            <a:pPr marL="625475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features (prose style, imagery, etc.)</a:t>
            </a:r>
          </a:p>
          <a:p>
            <a:pPr marL="625475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ideas and concepts (surveillance, memory, erasure)</a:t>
            </a:r>
          </a:p>
          <a:p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how </a:t>
            </a: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 </a:t>
            </a: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listed. </a:t>
            </a:r>
          </a:p>
          <a:p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challenge, avoid referring to Ogawa/The author in your subject as well.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The subject you choose determines the focus of your analysis.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DD71352A75C946BB20F54B03F82ED8" ma:contentTypeVersion="0" ma:contentTypeDescription="Create a new document." ma:contentTypeScope="" ma:versionID="eceeccfb90892b5bada9b120beb2cbc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4E1224F-3E7B-4756-9099-9EEFCF47AE2A}"/>
</file>

<file path=customXml/itemProps2.xml><?xml version="1.0" encoding="utf-8"?>
<ds:datastoreItem xmlns:ds="http://schemas.openxmlformats.org/officeDocument/2006/customXml" ds:itemID="{A2FF2CC4-6180-4F63-A57A-09D5FB76AE9D}"/>
</file>

<file path=customXml/itemProps3.xml><?xml version="1.0" encoding="utf-8"?>
<ds:datastoreItem xmlns:ds="http://schemas.openxmlformats.org/officeDocument/2006/customXml" ds:itemID="{46452B0C-A4AC-4972-9049-2BEE9672CE5F}"/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60</TotalTime>
  <Words>1576</Words>
  <Application>Microsoft Office PowerPoint</Application>
  <PresentationFormat>On-screen Show (16:9)</PresentationFormat>
  <Paragraphs>212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From “I” to “Ideas”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Extension tips</vt:lpstr>
      <vt:lpstr>Extension tips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Subjects and Verbs</dc:title>
  <dc:subject>PptxGenJS Presentation</dc:subject>
  <dc:creator>Year 11 English</dc:creator>
  <cp:lastModifiedBy>Lincoln LE FEVRE</cp:lastModifiedBy>
  <cp:revision>3</cp:revision>
  <dcterms:created xsi:type="dcterms:W3CDTF">2026-02-26T06:59:42Z</dcterms:created>
  <dcterms:modified xsi:type="dcterms:W3CDTF">2026-02-26T22:13:08Z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0x010100F6DD71352A75C946BB20F54B03F82ED8</vt:lpwstr>
  </property>
</Properties>
</file>