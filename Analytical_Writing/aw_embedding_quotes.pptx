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Lst>
  <p:notesMasterIdLst>
    <p:notesMasterId r:id="rId21"/>
  </p:notesMasterIdLst>
  <p:sldIdLst>
    <p:sldId id="256" r:id="rId5"/>
    <p:sldId id="258" r:id="rId6"/>
    <p:sldId id="260" r:id="rId7"/>
    <p:sldId id="261" r:id="rId8"/>
    <p:sldId id="262" r:id="rId9"/>
    <p:sldId id="263" r:id="rId10"/>
    <p:sldId id="266" r:id="rId11"/>
    <p:sldId id="267" r:id="rId12"/>
    <p:sldId id="264" r:id="rId13"/>
    <p:sldId id="265" r:id="rId14"/>
    <p:sldId id="268" r:id="rId15"/>
    <p:sldId id="270" r:id="rId16"/>
    <p:sldId id="269" r:id="rId17"/>
    <p:sldId id="272" r:id="rId18"/>
    <p:sldId id="271" r:id="rId19"/>
    <p:sldId id="273" r:id="rId2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99FF"/>
    <a:srgbClr val="F77B15"/>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8088" autoAdjust="0"/>
    <p:restoredTop sz="94343" autoAdjust="0"/>
  </p:normalViewPr>
  <p:slideViewPr>
    <p:cSldViewPr snapToGrid="0">
      <p:cViewPr varScale="1">
        <p:scale>
          <a:sx n="69" d="100"/>
          <a:sy n="69" d="100"/>
        </p:scale>
        <p:origin x="114" y="6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3" Type="http://schemas.openxmlformats.org/officeDocument/2006/relationships/customXml" Target="../customXml/item3.xml"/><Relationship Id="rId21" Type="http://schemas.openxmlformats.org/officeDocument/2006/relationships/notesMaster" Target="notesMasters/notesMaster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heme" Target="theme/theme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viewProps" Target="viewProp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AU"/>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5AC6406-C324-476C-A8EA-0879A3EDE9E5}" type="datetimeFigureOut">
              <a:rPr lang="en-AU" smtClean="0"/>
              <a:t>27/08/2019</a:t>
            </a:fld>
            <a:endParaRPr lang="en-AU"/>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AU"/>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AU"/>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1E5D99A-41AD-4767-A9AD-31543BFA8A34}" type="slidenum">
              <a:rPr lang="en-AU" smtClean="0"/>
              <a:t>‹#›</a:t>
            </a:fld>
            <a:endParaRPr lang="en-AU"/>
          </a:p>
        </p:txBody>
      </p:sp>
    </p:spTree>
    <p:extLst>
      <p:ext uri="{BB962C8B-B14F-4D97-AF65-F5344CB8AC3E}">
        <p14:creationId xmlns:p14="http://schemas.microsoft.com/office/powerpoint/2010/main" val="407761083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a:spLocks noChangeAspect="1"/>
          </p:cNvSpPr>
          <p:nvPr/>
        </p:nvSpPr>
        <p:spPr>
          <a:xfrm>
            <a:off x="231140" y="243840"/>
            <a:ext cx="11724640" cy="6377939"/>
          </a:xfrm>
          <a:prstGeom prst="rect">
            <a:avLst/>
          </a:prstGeom>
          <a:solidFill>
            <a:schemeClr val="accent1"/>
          </a:solid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109980" y="882376"/>
            <a:ext cx="9966960" cy="2926080"/>
          </a:xfrm>
        </p:spPr>
        <p:txBody>
          <a:bodyPr anchor="b">
            <a:normAutofit/>
          </a:bodyPr>
          <a:lstStyle>
            <a:lvl1pPr algn="ctr">
              <a:lnSpc>
                <a:spcPct val="85000"/>
              </a:lnSpc>
              <a:defRPr sz="7200" b="1" cap="all" baseline="0">
                <a:solidFill>
                  <a:srgbClr val="FFFFFF"/>
                </a:solidFill>
              </a:defRPr>
            </a:lvl1pPr>
          </a:lstStyle>
          <a:p>
            <a:r>
              <a:rPr lang="en-US"/>
              <a:t>Click to edit Master title style</a:t>
            </a:r>
            <a:endParaRPr lang="en-US" dirty="0"/>
          </a:p>
        </p:txBody>
      </p:sp>
      <p:sp>
        <p:nvSpPr>
          <p:cNvPr id="3" name="Subtitle 2"/>
          <p:cNvSpPr>
            <a:spLocks noGrp="1"/>
          </p:cNvSpPr>
          <p:nvPr>
            <p:ph type="subTitle" idx="1"/>
          </p:nvPr>
        </p:nvSpPr>
        <p:spPr>
          <a:xfrm>
            <a:off x="1709530" y="3869634"/>
            <a:ext cx="8767860" cy="1388165"/>
          </a:xfrm>
        </p:spPr>
        <p:txBody>
          <a:bodyPr>
            <a:normAutofit/>
          </a:bodyPr>
          <a:lstStyle>
            <a:lvl1pPr marL="0" indent="0" algn="ctr">
              <a:buNone/>
              <a:defRPr sz="2200">
                <a:solidFill>
                  <a:srgbClr val="FFFFFF"/>
                </a:solidFill>
              </a:defRPr>
            </a:lvl1pPr>
            <a:lvl2pPr marL="457200" indent="0" algn="ctr">
              <a:buNone/>
              <a:defRPr sz="2200"/>
            </a:lvl2pPr>
            <a:lvl3pPr marL="914400" indent="0" algn="ctr">
              <a:buNone/>
              <a:defRPr sz="22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lvl1pPr>
              <a:defRPr>
                <a:solidFill>
                  <a:srgbClr val="FFFFFF"/>
                </a:solidFill>
              </a:defRPr>
            </a:lvl1pPr>
          </a:lstStyle>
          <a:p>
            <a:fld id="{35F57D26-D15D-4685-84D2-7C6845F00950}" type="datetimeFigureOut">
              <a:rPr lang="en-AU" smtClean="0"/>
              <a:t>27/08/2019</a:t>
            </a:fld>
            <a:endParaRPr lang="en-AU"/>
          </a:p>
        </p:txBody>
      </p:sp>
      <p:sp>
        <p:nvSpPr>
          <p:cNvPr id="5" name="Footer Placeholder 4"/>
          <p:cNvSpPr>
            <a:spLocks noGrp="1"/>
          </p:cNvSpPr>
          <p:nvPr>
            <p:ph type="ftr" sz="quarter" idx="11"/>
          </p:nvPr>
        </p:nvSpPr>
        <p:spPr/>
        <p:txBody>
          <a:bodyPr/>
          <a:lstStyle>
            <a:lvl1pPr>
              <a:defRPr>
                <a:solidFill>
                  <a:srgbClr val="FFFFFF"/>
                </a:solidFill>
              </a:defRPr>
            </a:lvl1pPr>
          </a:lstStyle>
          <a:p>
            <a:endParaRPr lang="en-AU"/>
          </a:p>
        </p:txBody>
      </p:sp>
      <p:sp>
        <p:nvSpPr>
          <p:cNvPr id="6" name="Slide Number Placeholder 5"/>
          <p:cNvSpPr>
            <a:spLocks noGrp="1"/>
          </p:cNvSpPr>
          <p:nvPr>
            <p:ph type="sldNum" sz="quarter" idx="12"/>
          </p:nvPr>
        </p:nvSpPr>
        <p:spPr/>
        <p:txBody>
          <a:bodyPr/>
          <a:lstStyle>
            <a:lvl1pPr>
              <a:defRPr>
                <a:solidFill>
                  <a:srgbClr val="FFFFFF"/>
                </a:solidFill>
              </a:defRPr>
            </a:lvl1pPr>
          </a:lstStyle>
          <a:p>
            <a:fld id="{B3E1DFC1-B4BD-4DC7-BAB9-C91555346EF7}" type="slidenum">
              <a:rPr lang="en-AU" smtClean="0"/>
              <a:t>‹#›</a:t>
            </a:fld>
            <a:endParaRPr lang="en-AU"/>
          </a:p>
        </p:txBody>
      </p:sp>
      <p:cxnSp>
        <p:nvCxnSpPr>
          <p:cNvPr id="8" name="Straight Connector 7"/>
          <p:cNvCxnSpPr/>
          <p:nvPr/>
        </p:nvCxnSpPr>
        <p:spPr>
          <a:xfrm>
            <a:off x="1978660" y="3733800"/>
            <a:ext cx="8229601" cy="0"/>
          </a:xfrm>
          <a:prstGeom prst="line">
            <a:avLst/>
          </a:prstGeom>
          <a:ln>
            <a:solidFill>
              <a:srgbClr val="FFFFFF"/>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63551315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5F57D26-D15D-4685-84D2-7C6845F00950}" type="datetimeFigureOut">
              <a:rPr lang="en-AU" smtClean="0"/>
              <a:t>27/08/2019</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B3E1DFC1-B4BD-4DC7-BAB9-C91555346EF7}" type="slidenum">
              <a:rPr lang="en-AU" smtClean="0"/>
              <a:t>‹#›</a:t>
            </a:fld>
            <a:endParaRPr lang="en-AU"/>
          </a:p>
        </p:txBody>
      </p:sp>
    </p:spTree>
    <p:extLst>
      <p:ext uri="{BB962C8B-B14F-4D97-AF65-F5344CB8AC3E}">
        <p14:creationId xmlns:p14="http://schemas.microsoft.com/office/powerpoint/2010/main" val="379720047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06424" y="1173575"/>
            <a:ext cx="9966960" cy="2926080"/>
          </a:xfrm>
        </p:spPr>
        <p:txBody>
          <a:bodyPr anchor="b">
            <a:noAutofit/>
          </a:bodyPr>
          <a:lstStyle>
            <a:lvl1pPr algn="ctr">
              <a:lnSpc>
                <a:spcPct val="85000"/>
              </a:lnSpc>
              <a:defRPr sz="7200" b="0" cap="all" baseline="0"/>
            </a:lvl1pPr>
          </a:lstStyle>
          <a:p>
            <a:r>
              <a:rPr lang="en-US"/>
              <a:t>Click to edit Master title style</a:t>
            </a:r>
            <a:endParaRPr lang="en-US" dirty="0"/>
          </a:p>
        </p:txBody>
      </p:sp>
      <p:sp>
        <p:nvSpPr>
          <p:cNvPr id="3" name="Text Placeholder 2"/>
          <p:cNvSpPr>
            <a:spLocks noGrp="1"/>
          </p:cNvSpPr>
          <p:nvPr>
            <p:ph type="body" idx="1"/>
          </p:nvPr>
        </p:nvSpPr>
        <p:spPr>
          <a:xfrm>
            <a:off x="1709928" y="4154520"/>
            <a:ext cx="8769096" cy="1363806"/>
          </a:xfrm>
        </p:spPr>
        <p:txBody>
          <a:bodyPr anchor="t">
            <a:normAutofit/>
          </a:bodyPr>
          <a:lstStyle>
            <a:lvl1pPr marL="0" indent="0" algn="ctr">
              <a:buNone/>
              <a:defRPr sz="2200">
                <a:solidFill>
                  <a:schemeClr val="accent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35F57D26-D15D-4685-84D2-7C6845F00950}" type="datetimeFigureOut">
              <a:rPr lang="en-AU" smtClean="0"/>
              <a:t>27/08/2019</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B3E1DFC1-B4BD-4DC7-BAB9-C91555346EF7}" type="slidenum">
              <a:rPr lang="en-AU" smtClean="0"/>
              <a:t>‹#›</a:t>
            </a:fld>
            <a:endParaRPr lang="en-AU"/>
          </a:p>
        </p:txBody>
      </p:sp>
      <p:cxnSp>
        <p:nvCxnSpPr>
          <p:cNvPr id="7" name="Straight Connector 6"/>
          <p:cNvCxnSpPr/>
          <p:nvPr/>
        </p:nvCxnSpPr>
        <p:spPr>
          <a:xfrm>
            <a:off x="1981200" y="4020408"/>
            <a:ext cx="8229601" cy="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84300233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43000" y="2057399"/>
            <a:ext cx="4754880" cy="4023360"/>
          </a:xfrm>
        </p:spPr>
        <p:txBody>
          <a:bodyPr/>
          <a:lstStyle>
            <a:lvl1pPr>
              <a:defRPr sz="22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67612" y="2057400"/>
            <a:ext cx="4754880" cy="4023360"/>
          </a:xfrm>
        </p:spPr>
        <p:txBody>
          <a:bodyPr/>
          <a:lstStyle>
            <a:lvl1pPr>
              <a:defRPr sz="22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35F57D26-D15D-4685-84D2-7C6845F00950}" type="datetimeFigureOut">
              <a:rPr lang="en-AU" smtClean="0"/>
              <a:t>27/08/2019</a:t>
            </a:fld>
            <a:endParaRPr lang="en-AU"/>
          </a:p>
        </p:txBody>
      </p:sp>
      <p:sp>
        <p:nvSpPr>
          <p:cNvPr id="6" name="Footer Placeholder 5"/>
          <p:cNvSpPr>
            <a:spLocks noGrp="1"/>
          </p:cNvSpPr>
          <p:nvPr>
            <p:ph type="ftr" sz="quarter" idx="11"/>
          </p:nvPr>
        </p:nvSpPr>
        <p:spPr/>
        <p:txBody>
          <a:bodyPr/>
          <a:lstStyle/>
          <a:p>
            <a:endParaRPr lang="en-AU"/>
          </a:p>
        </p:txBody>
      </p:sp>
      <p:sp>
        <p:nvSpPr>
          <p:cNvPr id="7" name="Slide Number Placeholder 6"/>
          <p:cNvSpPr>
            <a:spLocks noGrp="1"/>
          </p:cNvSpPr>
          <p:nvPr>
            <p:ph type="sldNum" sz="quarter" idx="12"/>
          </p:nvPr>
        </p:nvSpPr>
        <p:spPr/>
        <p:txBody>
          <a:bodyPr/>
          <a:lstStyle/>
          <a:p>
            <a:fld id="{B3E1DFC1-B4BD-4DC7-BAB9-C91555346EF7}" type="slidenum">
              <a:rPr lang="en-AU" smtClean="0"/>
              <a:t>‹#›</a:t>
            </a:fld>
            <a:endParaRPr lang="en-AU"/>
          </a:p>
        </p:txBody>
      </p:sp>
    </p:spTree>
    <p:extLst>
      <p:ext uri="{BB962C8B-B14F-4D97-AF65-F5344CB8AC3E}">
        <p14:creationId xmlns:p14="http://schemas.microsoft.com/office/powerpoint/2010/main" val="206237204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1143000" y="2001511"/>
            <a:ext cx="4754880" cy="777240"/>
          </a:xfrm>
        </p:spPr>
        <p:txBody>
          <a:bodyPr anchor="ctr"/>
          <a:lstStyle>
            <a:lvl1pPr marL="0" indent="0">
              <a:spcBef>
                <a:spcPts val="0"/>
              </a:spcBef>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43000" y="2721483"/>
            <a:ext cx="4754880" cy="3383280"/>
          </a:xfrm>
        </p:spPr>
        <p:txBody>
          <a:bodyPr/>
          <a:lstStyle>
            <a:lvl1pPr>
              <a:defRPr sz="22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69173" y="1999032"/>
            <a:ext cx="4754880" cy="777240"/>
          </a:xfrm>
        </p:spPr>
        <p:txBody>
          <a:bodyPr anchor="ctr"/>
          <a:lstStyle>
            <a:lvl1pPr marL="0" indent="0">
              <a:spcBef>
                <a:spcPts val="0"/>
              </a:spcBef>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69173" y="2719322"/>
            <a:ext cx="4754880" cy="3383280"/>
          </a:xfrm>
        </p:spPr>
        <p:txBody>
          <a:bodyPr/>
          <a:lstStyle>
            <a:lvl1pPr>
              <a:defRPr sz="22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35F57D26-D15D-4685-84D2-7C6845F00950}" type="datetimeFigureOut">
              <a:rPr lang="en-AU" smtClean="0"/>
              <a:t>27/08/2019</a:t>
            </a:fld>
            <a:endParaRPr lang="en-AU"/>
          </a:p>
        </p:txBody>
      </p:sp>
      <p:sp>
        <p:nvSpPr>
          <p:cNvPr id="8" name="Footer Placeholder 7"/>
          <p:cNvSpPr>
            <a:spLocks noGrp="1"/>
          </p:cNvSpPr>
          <p:nvPr>
            <p:ph type="ftr" sz="quarter" idx="11"/>
          </p:nvPr>
        </p:nvSpPr>
        <p:spPr/>
        <p:txBody>
          <a:bodyPr/>
          <a:lstStyle/>
          <a:p>
            <a:endParaRPr lang="en-AU"/>
          </a:p>
        </p:txBody>
      </p:sp>
      <p:sp>
        <p:nvSpPr>
          <p:cNvPr id="9" name="Slide Number Placeholder 8"/>
          <p:cNvSpPr>
            <a:spLocks noGrp="1"/>
          </p:cNvSpPr>
          <p:nvPr>
            <p:ph type="sldNum" sz="quarter" idx="12"/>
          </p:nvPr>
        </p:nvSpPr>
        <p:spPr/>
        <p:txBody>
          <a:bodyPr/>
          <a:lstStyle/>
          <a:p>
            <a:fld id="{B3E1DFC1-B4BD-4DC7-BAB9-C91555346EF7}" type="slidenum">
              <a:rPr lang="en-AU" smtClean="0"/>
              <a:t>‹#›</a:t>
            </a:fld>
            <a:endParaRPr lang="en-AU"/>
          </a:p>
        </p:txBody>
      </p:sp>
    </p:spTree>
    <p:extLst>
      <p:ext uri="{BB962C8B-B14F-4D97-AF65-F5344CB8AC3E}">
        <p14:creationId xmlns:p14="http://schemas.microsoft.com/office/powerpoint/2010/main" val="124332439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35F57D26-D15D-4685-84D2-7C6845F00950}" type="datetimeFigureOut">
              <a:rPr lang="en-AU" smtClean="0"/>
              <a:t>27/08/2019</a:t>
            </a:fld>
            <a:endParaRPr lang="en-AU"/>
          </a:p>
        </p:txBody>
      </p:sp>
      <p:sp>
        <p:nvSpPr>
          <p:cNvPr id="4" name="Footer Placeholder 3"/>
          <p:cNvSpPr>
            <a:spLocks noGrp="1"/>
          </p:cNvSpPr>
          <p:nvPr>
            <p:ph type="ftr" sz="quarter" idx="11"/>
          </p:nvPr>
        </p:nvSpPr>
        <p:spPr/>
        <p:txBody>
          <a:bodyPr/>
          <a:lstStyle/>
          <a:p>
            <a:endParaRPr lang="en-AU"/>
          </a:p>
        </p:txBody>
      </p:sp>
      <p:sp>
        <p:nvSpPr>
          <p:cNvPr id="5" name="Slide Number Placeholder 4"/>
          <p:cNvSpPr>
            <a:spLocks noGrp="1"/>
          </p:cNvSpPr>
          <p:nvPr>
            <p:ph type="sldNum" sz="quarter" idx="12"/>
          </p:nvPr>
        </p:nvSpPr>
        <p:spPr/>
        <p:txBody>
          <a:bodyPr/>
          <a:lstStyle/>
          <a:p>
            <a:fld id="{B3E1DFC1-B4BD-4DC7-BAB9-C91555346EF7}" type="slidenum">
              <a:rPr lang="en-AU" smtClean="0"/>
              <a:t>‹#›</a:t>
            </a:fld>
            <a:endParaRPr lang="en-AU"/>
          </a:p>
        </p:txBody>
      </p:sp>
    </p:spTree>
    <p:extLst>
      <p:ext uri="{BB962C8B-B14F-4D97-AF65-F5344CB8AC3E}">
        <p14:creationId xmlns:p14="http://schemas.microsoft.com/office/powerpoint/2010/main" val="171451099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5F57D26-D15D-4685-84D2-7C6845F00950}" type="datetimeFigureOut">
              <a:rPr lang="en-AU" smtClean="0"/>
              <a:t>27/08/2019</a:t>
            </a:fld>
            <a:endParaRPr lang="en-AU"/>
          </a:p>
        </p:txBody>
      </p:sp>
      <p:sp>
        <p:nvSpPr>
          <p:cNvPr id="3" name="Footer Placeholder 2"/>
          <p:cNvSpPr>
            <a:spLocks noGrp="1"/>
          </p:cNvSpPr>
          <p:nvPr>
            <p:ph type="ftr" sz="quarter" idx="11"/>
          </p:nvPr>
        </p:nvSpPr>
        <p:spPr/>
        <p:txBody>
          <a:bodyPr/>
          <a:lstStyle/>
          <a:p>
            <a:endParaRPr lang="en-AU"/>
          </a:p>
        </p:txBody>
      </p:sp>
      <p:sp>
        <p:nvSpPr>
          <p:cNvPr id="4" name="Slide Number Placeholder 3"/>
          <p:cNvSpPr>
            <a:spLocks noGrp="1"/>
          </p:cNvSpPr>
          <p:nvPr>
            <p:ph type="sldNum" sz="quarter" idx="12"/>
          </p:nvPr>
        </p:nvSpPr>
        <p:spPr/>
        <p:txBody>
          <a:bodyPr/>
          <a:lstStyle/>
          <a:p>
            <a:fld id="{B3E1DFC1-B4BD-4DC7-BAB9-C91555346EF7}" type="slidenum">
              <a:rPr lang="en-AU" smtClean="0"/>
              <a:t>‹#›</a:t>
            </a:fld>
            <a:endParaRPr lang="en-AU"/>
          </a:p>
        </p:txBody>
      </p:sp>
    </p:spTree>
    <p:extLst>
      <p:ext uri="{BB962C8B-B14F-4D97-AF65-F5344CB8AC3E}">
        <p14:creationId xmlns:p14="http://schemas.microsoft.com/office/powerpoint/2010/main" val="14580300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3000" y="1097280"/>
            <a:ext cx="3931920" cy="1737360"/>
          </a:xfrm>
        </p:spPr>
        <p:txBody>
          <a:bodyPr anchor="b">
            <a:noAutofit/>
          </a:bodyPr>
          <a:lstStyle>
            <a:lvl1pPr>
              <a:lnSpc>
                <a:spcPct val="90000"/>
              </a:lnSpc>
              <a:defRPr sz="4000" b="0"/>
            </a:lvl1pPr>
          </a:lstStyle>
          <a:p>
            <a:r>
              <a:rPr lang="en-US"/>
              <a:t>Click to edit Master title style</a:t>
            </a:r>
            <a:endParaRPr lang="en-US" dirty="0"/>
          </a:p>
        </p:txBody>
      </p:sp>
      <p:sp>
        <p:nvSpPr>
          <p:cNvPr id="3" name="Content Placeholder 2"/>
          <p:cNvSpPr>
            <a:spLocks noGrp="1"/>
          </p:cNvSpPr>
          <p:nvPr>
            <p:ph idx="1"/>
          </p:nvPr>
        </p:nvSpPr>
        <p:spPr>
          <a:xfrm>
            <a:off x="5852159" y="1097280"/>
            <a:ext cx="5212080" cy="4663440"/>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43000" y="2834640"/>
            <a:ext cx="3931920" cy="3017520"/>
          </a:xfrm>
        </p:spPr>
        <p:txBody>
          <a:bodyPr>
            <a:normAutofit/>
          </a:bodyPr>
          <a:lstStyle>
            <a:lvl1pPr marL="0" indent="0">
              <a:lnSpc>
                <a:spcPct val="100000"/>
              </a:lnSpc>
              <a:spcBef>
                <a:spcPts val="1000"/>
              </a:spcBef>
              <a:buNone/>
              <a:defRPr sz="17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35F57D26-D15D-4685-84D2-7C6845F00950}" type="datetimeFigureOut">
              <a:rPr lang="en-AU" smtClean="0"/>
              <a:t>27/08/2019</a:t>
            </a:fld>
            <a:endParaRPr lang="en-AU"/>
          </a:p>
        </p:txBody>
      </p:sp>
      <p:sp>
        <p:nvSpPr>
          <p:cNvPr id="6" name="Footer Placeholder 5"/>
          <p:cNvSpPr>
            <a:spLocks noGrp="1"/>
          </p:cNvSpPr>
          <p:nvPr>
            <p:ph type="ftr" sz="quarter" idx="11"/>
          </p:nvPr>
        </p:nvSpPr>
        <p:spPr/>
        <p:txBody>
          <a:bodyPr/>
          <a:lstStyle/>
          <a:p>
            <a:endParaRPr lang="en-AU"/>
          </a:p>
        </p:txBody>
      </p:sp>
      <p:sp>
        <p:nvSpPr>
          <p:cNvPr id="7" name="Slide Number Placeholder 6"/>
          <p:cNvSpPr>
            <a:spLocks noGrp="1"/>
          </p:cNvSpPr>
          <p:nvPr>
            <p:ph type="sldNum" sz="quarter" idx="12"/>
          </p:nvPr>
        </p:nvSpPr>
        <p:spPr/>
        <p:txBody>
          <a:bodyPr/>
          <a:lstStyle/>
          <a:p>
            <a:fld id="{B3E1DFC1-B4BD-4DC7-BAB9-C91555346EF7}" type="slidenum">
              <a:rPr lang="en-AU" smtClean="0"/>
              <a:t>‹#›</a:t>
            </a:fld>
            <a:endParaRPr lang="en-AU"/>
          </a:p>
        </p:txBody>
      </p:sp>
    </p:spTree>
    <p:extLst>
      <p:ext uri="{BB962C8B-B14F-4D97-AF65-F5344CB8AC3E}">
        <p14:creationId xmlns:p14="http://schemas.microsoft.com/office/powerpoint/2010/main" val="200766029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3000" y="1097280"/>
            <a:ext cx="3931920" cy="1737360"/>
          </a:xfrm>
        </p:spPr>
        <p:txBody>
          <a:bodyPr anchor="b">
            <a:noAutofit/>
          </a:bodyPr>
          <a:lstStyle>
            <a:lvl1pPr>
              <a:lnSpc>
                <a:spcPct val="90000"/>
              </a:lnSpc>
              <a:defRPr sz="40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5413248" y="1069847"/>
            <a:ext cx="6099048" cy="4800600"/>
          </a:xfrm>
        </p:spPr>
        <p:txBody>
          <a:bodyPr lIns="274320" tIns="182880" anchor="t">
            <a:normAutofit/>
          </a:bodyPr>
          <a:lstStyle>
            <a:lvl1pPr marL="0" indent="0">
              <a:buNone/>
              <a:defRPr sz="28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143000" y="2834640"/>
            <a:ext cx="3931920" cy="2880360"/>
          </a:xfrm>
        </p:spPr>
        <p:txBody>
          <a:bodyPr>
            <a:normAutofit/>
          </a:bodyPr>
          <a:lstStyle>
            <a:lvl1pPr marL="0" indent="0">
              <a:lnSpc>
                <a:spcPct val="100000"/>
              </a:lnSpc>
              <a:spcBef>
                <a:spcPts val="1000"/>
              </a:spcBef>
              <a:buNone/>
              <a:defRPr sz="17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35F57D26-D15D-4685-84D2-7C6845F00950}" type="datetimeFigureOut">
              <a:rPr lang="en-AU" smtClean="0"/>
              <a:t>27/08/2019</a:t>
            </a:fld>
            <a:endParaRPr lang="en-AU"/>
          </a:p>
        </p:txBody>
      </p:sp>
      <p:sp>
        <p:nvSpPr>
          <p:cNvPr id="6" name="Footer Placeholder 5"/>
          <p:cNvSpPr>
            <a:spLocks noGrp="1"/>
          </p:cNvSpPr>
          <p:nvPr>
            <p:ph type="ftr" sz="quarter" idx="11"/>
          </p:nvPr>
        </p:nvSpPr>
        <p:spPr/>
        <p:txBody>
          <a:bodyPr/>
          <a:lstStyle/>
          <a:p>
            <a:endParaRPr lang="en-AU"/>
          </a:p>
        </p:txBody>
      </p:sp>
      <p:sp>
        <p:nvSpPr>
          <p:cNvPr id="7" name="Slide Number Placeholder 6"/>
          <p:cNvSpPr>
            <a:spLocks noGrp="1"/>
          </p:cNvSpPr>
          <p:nvPr>
            <p:ph type="sldNum" sz="quarter" idx="12"/>
          </p:nvPr>
        </p:nvSpPr>
        <p:spPr/>
        <p:txBody>
          <a:bodyPr/>
          <a:lstStyle/>
          <a:p>
            <a:fld id="{B3E1DFC1-B4BD-4DC7-BAB9-C91555346EF7}" type="slidenum">
              <a:rPr lang="en-AU" smtClean="0"/>
              <a:t>‹#›</a:t>
            </a:fld>
            <a:endParaRPr lang="en-AU"/>
          </a:p>
        </p:txBody>
      </p:sp>
    </p:spTree>
    <p:extLst>
      <p:ext uri="{BB962C8B-B14F-4D97-AF65-F5344CB8AC3E}">
        <p14:creationId xmlns:p14="http://schemas.microsoft.com/office/powerpoint/2010/main" val="329134146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5F57D26-D15D-4685-84D2-7C6845F00950}" type="datetimeFigureOut">
              <a:rPr lang="en-AU" smtClean="0"/>
              <a:t>27/08/2019</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B3E1DFC1-B4BD-4DC7-BAB9-C91555346EF7}" type="slidenum">
              <a:rPr lang="en-AU" smtClean="0"/>
              <a:t>‹#›</a:t>
            </a:fld>
            <a:endParaRPr lang="en-AU"/>
          </a:p>
        </p:txBody>
      </p:sp>
    </p:spTree>
    <p:extLst>
      <p:ext uri="{BB962C8B-B14F-4D97-AF65-F5344CB8AC3E}">
        <p14:creationId xmlns:p14="http://schemas.microsoft.com/office/powerpoint/2010/main" val="51525602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762000"/>
            <a:ext cx="2324100" cy="541020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143000" y="762000"/>
            <a:ext cx="7429500" cy="54102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5F57D26-D15D-4685-84D2-7C6845F00950}" type="datetimeFigureOut">
              <a:rPr lang="en-AU" smtClean="0"/>
              <a:t>27/08/2019</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B3E1DFC1-B4BD-4DC7-BAB9-C91555346EF7}" type="slidenum">
              <a:rPr lang="en-AU" smtClean="0"/>
              <a:t>‹#›</a:t>
            </a:fld>
            <a:endParaRPr lang="en-AU"/>
          </a:p>
        </p:txBody>
      </p:sp>
    </p:spTree>
    <p:extLst>
      <p:ext uri="{BB962C8B-B14F-4D97-AF65-F5344CB8AC3E}">
        <p14:creationId xmlns:p14="http://schemas.microsoft.com/office/powerpoint/2010/main" val="29169341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sp>
        <p:nvSpPr>
          <p:cNvPr id="7" name="Rectangle 6"/>
          <p:cNvSpPr>
            <a:spLocks noChangeAspect="1"/>
          </p:cNvSpPr>
          <p:nvPr/>
        </p:nvSpPr>
        <p:spPr>
          <a:xfrm>
            <a:off x="231140" y="243840"/>
            <a:ext cx="11724640" cy="6377939"/>
          </a:xfrm>
          <a:prstGeom prst="rect">
            <a:avLst/>
          </a:pr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143000" y="609600"/>
            <a:ext cx="9875520" cy="1356360"/>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143000" y="2057400"/>
            <a:ext cx="9872871" cy="40386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142996" y="6223828"/>
            <a:ext cx="2329074" cy="365125"/>
          </a:xfrm>
          <a:prstGeom prst="rect">
            <a:avLst/>
          </a:prstGeom>
        </p:spPr>
        <p:txBody>
          <a:bodyPr vert="horz" lIns="91440" tIns="45720" rIns="91440" bIns="45720" rtlCol="0" anchor="ctr"/>
          <a:lstStyle>
            <a:lvl1pPr algn="l">
              <a:defRPr sz="1200">
                <a:solidFill>
                  <a:schemeClr val="accent1"/>
                </a:solidFill>
              </a:defRPr>
            </a:lvl1pPr>
          </a:lstStyle>
          <a:p>
            <a:fld id="{35F57D26-D15D-4685-84D2-7C6845F00950}" type="datetimeFigureOut">
              <a:rPr lang="en-AU" smtClean="0"/>
              <a:t>27/08/2019</a:t>
            </a:fld>
            <a:endParaRPr lang="en-AU"/>
          </a:p>
        </p:txBody>
      </p:sp>
      <p:sp>
        <p:nvSpPr>
          <p:cNvPr id="5" name="Footer Placeholder 4"/>
          <p:cNvSpPr>
            <a:spLocks noGrp="1"/>
          </p:cNvSpPr>
          <p:nvPr>
            <p:ph type="ftr" sz="quarter" idx="3"/>
          </p:nvPr>
        </p:nvSpPr>
        <p:spPr>
          <a:xfrm>
            <a:off x="3949148" y="6223828"/>
            <a:ext cx="4717774" cy="365125"/>
          </a:xfrm>
          <a:prstGeom prst="rect">
            <a:avLst/>
          </a:prstGeom>
        </p:spPr>
        <p:txBody>
          <a:bodyPr vert="horz" lIns="91440" tIns="45720" rIns="91440" bIns="45720" rtlCol="0" anchor="ctr"/>
          <a:lstStyle>
            <a:lvl1pPr algn="ctr">
              <a:defRPr sz="1200">
                <a:solidFill>
                  <a:schemeClr val="accent1"/>
                </a:solidFill>
              </a:defRPr>
            </a:lvl1pPr>
          </a:lstStyle>
          <a:p>
            <a:endParaRPr lang="en-AU"/>
          </a:p>
        </p:txBody>
      </p:sp>
      <p:sp>
        <p:nvSpPr>
          <p:cNvPr id="6" name="Slide Number Placeholder 5"/>
          <p:cNvSpPr>
            <a:spLocks noGrp="1"/>
          </p:cNvSpPr>
          <p:nvPr>
            <p:ph type="sldNum" sz="quarter" idx="4"/>
          </p:nvPr>
        </p:nvSpPr>
        <p:spPr>
          <a:xfrm>
            <a:off x="9329530" y="6223828"/>
            <a:ext cx="1706217" cy="365125"/>
          </a:xfrm>
          <a:prstGeom prst="rect">
            <a:avLst/>
          </a:prstGeom>
        </p:spPr>
        <p:txBody>
          <a:bodyPr vert="horz" lIns="91440" tIns="45720" rIns="91440" bIns="45720" rtlCol="0" anchor="ctr"/>
          <a:lstStyle>
            <a:lvl1pPr algn="r">
              <a:defRPr sz="1200">
                <a:solidFill>
                  <a:schemeClr val="accent1"/>
                </a:solidFill>
              </a:defRPr>
            </a:lvl1pPr>
          </a:lstStyle>
          <a:p>
            <a:fld id="{B3E1DFC1-B4BD-4DC7-BAB9-C91555346EF7}" type="slidenum">
              <a:rPr lang="en-AU" smtClean="0"/>
              <a:t>‹#›</a:t>
            </a:fld>
            <a:endParaRPr lang="en-AU"/>
          </a:p>
        </p:txBody>
      </p:sp>
    </p:spTree>
    <p:extLst>
      <p:ext uri="{BB962C8B-B14F-4D97-AF65-F5344CB8AC3E}">
        <p14:creationId xmlns:p14="http://schemas.microsoft.com/office/powerpoint/2010/main" val="824200677"/>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accent1"/>
          </a:solidFill>
          <a:latin typeface="+mj-lt"/>
          <a:ea typeface="+mj-ea"/>
          <a:cs typeface="+mj-cs"/>
        </a:defRPr>
      </a:lvl1pPr>
    </p:titleStyle>
    <p:bodyStyle>
      <a:lvl1pPr marL="228600" indent="-182880" algn="l" defTabSz="914400" rtl="0" eaLnBrk="1" latinLnBrk="0" hangingPunct="1">
        <a:lnSpc>
          <a:spcPct val="90000"/>
        </a:lnSpc>
        <a:spcBef>
          <a:spcPts val="1400"/>
        </a:spcBef>
        <a:buClr>
          <a:schemeClr val="accent1"/>
        </a:buClr>
        <a:buSzPct val="80000"/>
        <a:buFont typeface="Corbel" pitchFamily="34" charset="0"/>
        <a:buChar char="•"/>
        <a:defRPr sz="2200" kern="1200">
          <a:solidFill>
            <a:schemeClr val="accent1"/>
          </a:solidFill>
          <a:latin typeface="+mn-lt"/>
          <a:ea typeface="+mn-ea"/>
          <a:cs typeface="+mn-cs"/>
        </a:defRPr>
      </a:lvl1pPr>
      <a:lvl2pPr marL="457200" indent="-182880" algn="l" defTabSz="914400" rtl="0" eaLnBrk="1" latinLnBrk="0" hangingPunct="1">
        <a:lnSpc>
          <a:spcPct val="90000"/>
        </a:lnSpc>
        <a:spcBef>
          <a:spcPts val="200"/>
        </a:spcBef>
        <a:spcAft>
          <a:spcPts val="400"/>
        </a:spcAft>
        <a:buClr>
          <a:schemeClr val="accent1"/>
        </a:buClr>
        <a:buSzPct val="80000"/>
        <a:buFont typeface="Corbel" pitchFamily="34" charset="0"/>
        <a:buChar char="•"/>
        <a:defRPr sz="2000" kern="1200">
          <a:solidFill>
            <a:schemeClr val="accent1"/>
          </a:solidFill>
          <a:latin typeface="+mn-lt"/>
          <a:ea typeface="+mn-ea"/>
          <a:cs typeface="+mn-cs"/>
        </a:defRPr>
      </a:lvl2pPr>
      <a:lvl3pPr marL="731520" indent="-182880" algn="l" defTabSz="914400" rtl="0" eaLnBrk="1" latinLnBrk="0" hangingPunct="1">
        <a:lnSpc>
          <a:spcPct val="90000"/>
        </a:lnSpc>
        <a:spcBef>
          <a:spcPts val="200"/>
        </a:spcBef>
        <a:spcAft>
          <a:spcPts val="400"/>
        </a:spcAft>
        <a:buClr>
          <a:schemeClr val="accent1"/>
        </a:buClr>
        <a:buSzPct val="80000"/>
        <a:buFont typeface="Corbel" pitchFamily="34" charset="0"/>
        <a:buChar char="•"/>
        <a:defRPr sz="1800" kern="1200">
          <a:solidFill>
            <a:schemeClr val="accent1"/>
          </a:solidFill>
          <a:latin typeface="+mn-lt"/>
          <a:ea typeface="+mn-ea"/>
          <a:cs typeface="+mn-cs"/>
        </a:defRPr>
      </a:lvl3pPr>
      <a:lvl4pPr marL="1005840" indent="-182880" algn="l" defTabSz="914400" rtl="0" eaLnBrk="1" latinLnBrk="0" hangingPunct="1">
        <a:lnSpc>
          <a:spcPct val="90000"/>
        </a:lnSpc>
        <a:spcBef>
          <a:spcPts val="200"/>
        </a:spcBef>
        <a:spcAft>
          <a:spcPts val="400"/>
        </a:spcAft>
        <a:buClr>
          <a:schemeClr val="accent1"/>
        </a:buClr>
        <a:buSzPct val="80000"/>
        <a:buFont typeface="Corbel" pitchFamily="34" charset="0"/>
        <a:buChar char="•"/>
        <a:defRPr sz="1600" kern="1200">
          <a:solidFill>
            <a:schemeClr val="accent1"/>
          </a:solidFill>
          <a:latin typeface="+mn-lt"/>
          <a:ea typeface="+mn-ea"/>
          <a:cs typeface="+mn-cs"/>
        </a:defRPr>
      </a:lvl4pPr>
      <a:lvl5pPr marL="1280160" indent="-182880" algn="l" defTabSz="914400" rtl="0" eaLnBrk="1" latinLnBrk="0" hangingPunct="1">
        <a:lnSpc>
          <a:spcPct val="90000"/>
        </a:lnSpc>
        <a:spcBef>
          <a:spcPts val="200"/>
        </a:spcBef>
        <a:spcAft>
          <a:spcPts val="400"/>
        </a:spcAft>
        <a:buClr>
          <a:schemeClr val="accent1"/>
        </a:buClr>
        <a:buSzPct val="80000"/>
        <a:buFont typeface="Corbel" pitchFamily="34" charset="0"/>
        <a:buChar char="•"/>
        <a:defRPr sz="1600" kern="1200">
          <a:solidFill>
            <a:schemeClr val="accent1"/>
          </a:solidFill>
          <a:latin typeface="+mn-lt"/>
          <a:ea typeface="+mn-ea"/>
          <a:cs typeface="+mn-cs"/>
        </a:defRPr>
      </a:lvl5pPr>
      <a:lvl6pPr marL="1600000" indent="-228600" algn="l" defTabSz="914400" rtl="0" eaLnBrk="1" latinLnBrk="0" hangingPunct="1">
        <a:lnSpc>
          <a:spcPct val="90000"/>
        </a:lnSpc>
        <a:spcBef>
          <a:spcPts val="200"/>
        </a:spcBef>
        <a:spcAft>
          <a:spcPts val="400"/>
        </a:spcAft>
        <a:buClr>
          <a:schemeClr val="accent1"/>
        </a:buClr>
        <a:buSzPct val="80000"/>
        <a:buFont typeface="Corbel" pitchFamily="34" charset="0"/>
        <a:buChar char="•"/>
        <a:defRPr sz="1600" kern="1200">
          <a:solidFill>
            <a:schemeClr val="accent1"/>
          </a:solidFill>
          <a:latin typeface="+mn-lt"/>
          <a:ea typeface="+mn-ea"/>
          <a:cs typeface="+mn-cs"/>
        </a:defRPr>
      </a:lvl6pPr>
      <a:lvl7pPr marL="1900000" indent="-228600" algn="l" defTabSz="914400" rtl="0" eaLnBrk="1" latinLnBrk="0" hangingPunct="1">
        <a:lnSpc>
          <a:spcPct val="90000"/>
        </a:lnSpc>
        <a:spcBef>
          <a:spcPts val="200"/>
        </a:spcBef>
        <a:spcAft>
          <a:spcPts val="400"/>
        </a:spcAft>
        <a:buClr>
          <a:schemeClr val="accent1"/>
        </a:buClr>
        <a:buSzPct val="80000"/>
        <a:buFont typeface="Corbel" pitchFamily="34" charset="0"/>
        <a:buChar char="•"/>
        <a:defRPr sz="1600" kern="1200">
          <a:solidFill>
            <a:schemeClr val="accent1"/>
          </a:solidFill>
          <a:latin typeface="+mn-lt"/>
          <a:ea typeface="+mn-ea"/>
          <a:cs typeface="+mn-cs"/>
        </a:defRPr>
      </a:lvl7pPr>
      <a:lvl8pPr marL="2200000" indent="-228600" algn="l" defTabSz="914400" rtl="0" eaLnBrk="1" latinLnBrk="0" hangingPunct="1">
        <a:lnSpc>
          <a:spcPct val="90000"/>
        </a:lnSpc>
        <a:spcBef>
          <a:spcPts val="200"/>
        </a:spcBef>
        <a:spcAft>
          <a:spcPts val="400"/>
        </a:spcAft>
        <a:buClr>
          <a:schemeClr val="accent1"/>
        </a:buClr>
        <a:buSzPct val="80000"/>
        <a:buFont typeface="Corbel" pitchFamily="34" charset="0"/>
        <a:buChar char="•"/>
        <a:defRPr sz="1600" kern="1200">
          <a:solidFill>
            <a:schemeClr val="accent1"/>
          </a:solidFill>
          <a:latin typeface="+mn-lt"/>
          <a:ea typeface="+mn-ea"/>
          <a:cs typeface="+mn-cs"/>
        </a:defRPr>
      </a:lvl8pPr>
      <a:lvl9pPr marL="2500000" indent="-228600" algn="l" defTabSz="914400" rtl="0" eaLnBrk="1" latinLnBrk="0" hangingPunct="1">
        <a:lnSpc>
          <a:spcPct val="90000"/>
        </a:lnSpc>
        <a:spcBef>
          <a:spcPts val="200"/>
        </a:spcBef>
        <a:spcAft>
          <a:spcPts val="400"/>
        </a:spcAft>
        <a:buClr>
          <a:schemeClr val="accent1"/>
        </a:buClr>
        <a:buSzPct val="80000"/>
        <a:buFont typeface="Corbel" pitchFamily="34" charset="0"/>
        <a:buChar char="•"/>
        <a:defRPr sz="1600" kern="1200">
          <a:solidFill>
            <a:schemeClr val="accent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953998-25A9-44BC-AA59-F52201E1AA4C}"/>
              </a:ext>
            </a:extLst>
          </p:cNvPr>
          <p:cNvSpPr>
            <a:spLocks noGrp="1"/>
          </p:cNvSpPr>
          <p:nvPr>
            <p:ph type="ctrTitle"/>
          </p:nvPr>
        </p:nvSpPr>
        <p:spPr/>
        <p:txBody>
          <a:bodyPr/>
          <a:lstStyle/>
          <a:p>
            <a:r>
              <a:rPr lang="en-AU" dirty="0" smtClean="0"/>
              <a:t>Embedding Quotes in Essays</a:t>
            </a:r>
            <a:endParaRPr lang="en-AU" dirty="0"/>
          </a:p>
        </p:txBody>
      </p:sp>
      <p:graphicFrame>
        <p:nvGraphicFramePr>
          <p:cNvPr id="4" name="Table 3">
            <a:extLst>
              <a:ext uri="{FF2B5EF4-FFF2-40B4-BE49-F238E27FC236}">
                <a16:creationId xmlns:a16="http://schemas.microsoft.com/office/drawing/2014/main" id="{48F2EBA0-D115-4947-A07B-9D36870D676E}"/>
              </a:ext>
            </a:extLst>
          </p:cNvPr>
          <p:cNvGraphicFramePr>
            <a:graphicFrameLocks noGrp="1"/>
          </p:cNvGraphicFramePr>
          <p:nvPr>
            <p:extLst>
              <p:ext uri="{D42A27DB-BD31-4B8C-83A1-F6EECF244321}">
                <p14:modId xmlns:p14="http://schemas.microsoft.com/office/powerpoint/2010/main" val="2833756863"/>
              </p:ext>
            </p:extLst>
          </p:nvPr>
        </p:nvGraphicFramePr>
        <p:xfrm>
          <a:off x="2029460" y="4177973"/>
          <a:ext cx="8128000" cy="914400"/>
        </p:xfrm>
        <a:graphic>
          <a:graphicData uri="http://schemas.openxmlformats.org/drawingml/2006/table">
            <a:tbl>
              <a:tblPr firstRow="1" bandRow="1">
                <a:tableStyleId>{5C22544A-7EE6-4342-B048-85BDC9FD1C3A}</a:tableStyleId>
              </a:tblPr>
              <a:tblGrid>
                <a:gridCol w="8128000">
                  <a:extLst>
                    <a:ext uri="{9D8B030D-6E8A-4147-A177-3AD203B41FA5}">
                      <a16:colId xmlns:a16="http://schemas.microsoft.com/office/drawing/2014/main" val="1529901115"/>
                    </a:ext>
                  </a:extLst>
                </a:gridCol>
              </a:tblGrid>
              <a:tr h="370840">
                <a:tc>
                  <a:txBody>
                    <a:bodyPr/>
                    <a:lstStyle/>
                    <a:p>
                      <a:r>
                        <a:rPr lang="en-AU" sz="2400" dirty="0"/>
                        <a:t>Learning Intention</a:t>
                      </a:r>
                    </a:p>
                  </a:txBody>
                  <a:tcPr>
                    <a:solidFill>
                      <a:srgbClr val="F77B15"/>
                    </a:solidFill>
                  </a:tcPr>
                </a:tc>
                <a:extLst>
                  <a:ext uri="{0D108BD9-81ED-4DB2-BD59-A6C34878D82A}">
                    <a16:rowId xmlns:a16="http://schemas.microsoft.com/office/drawing/2014/main" val="438604388"/>
                  </a:ext>
                </a:extLst>
              </a:tr>
              <a:tr h="370840">
                <a:tc>
                  <a:txBody>
                    <a:bodyPr/>
                    <a:lstStyle/>
                    <a:p>
                      <a:r>
                        <a:rPr lang="en-AU" sz="2400" dirty="0" smtClean="0"/>
                        <a:t>To be able to embed a quote in an</a:t>
                      </a:r>
                      <a:r>
                        <a:rPr lang="en-AU" sz="2400" baseline="0" dirty="0" smtClean="0"/>
                        <a:t> essay sentence</a:t>
                      </a:r>
                      <a:endParaRPr lang="en-AU" sz="2400" dirty="0"/>
                    </a:p>
                  </a:txBody>
                  <a:tcPr>
                    <a:solidFill>
                      <a:schemeClr val="accent3">
                        <a:lumMod val="40000"/>
                        <a:lumOff val="60000"/>
                      </a:schemeClr>
                    </a:solidFill>
                  </a:tcPr>
                </a:tc>
                <a:extLst>
                  <a:ext uri="{0D108BD9-81ED-4DB2-BD59-A6C34878D82A}">
                    <a16:rowId xmlns:a16="http://schemas.microsoft.com/office/drawing/2014/main" val="2214889484"/>
                  </a:ext>
                </a:extLst>
              </a:tr>
            </a:tbl>
          </a:graphicData>
        </a:graphic>
      </p:graphicFrame>
    </p:spTree>
    <p:extLst>
      <p:ext uri="{BB962C8B-B14F-4D97-AF65-F5344CB8AC3E}">
        <p14:creationId xmlns:p14="http://schemas.microsoft.com/office/powerpoint/2010/main" val="231193439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Table 5">
            <a:extLst>
              <a:ext uri="{FF2B5EF4-FFF2-40B4-BE49-F238E27FC236}">
                <a16:creationId xmlns:a16="http://schemas.microsoft.com/office/drawing/2014/main" id="{EAB08AA4-98F3-4569-B79D-96E000ABA983}"/>
              </a:ext>
            </a:extLst>
          </p:cNvPr>
          <p:cNvGraphicFramePr>
            <a:graphicFrameLocks noGrp="1"/>
          </p:cNvGraphicFramePr>
          <p:nvPr>
            <p:extLst>
              <p:ext uri="{D42A27DB-BD31-4B8C-83A1-F6EECF244321}">
                <p14:modId xmlns:p14="http://schemas.microsoft.com/office/powerpoint/2010/main" val="1932455896"/>
              </p:ext>
            </p:extLst>
          </p:nvPr>
        </p:nvGraphicFramePr>
        <p:xfrm>
          <a:off x="2205306" y="941949"/>
          <a:ext cx="8128000" cy="914400"/>
        </p:xfrm>
        <a:graphic>
          <a:graphicData uri="http://schemas.openxmlformats.org/drawingml/2006/table">
            <a:tbl>
              <a:tblPr firstRow="1" bandRow="1">
                <a:tableStyleId>{5C22544A-7EE6-4342-B048-85BDC9FD1C3A}</a:tableStyleId>
              </a:tblPr>
              <a:tblGrid>
                <a:gridCol w="8128000">
                  <a:extLst>
                    <a:ext uri="{9D8B030D-6E8A-4147-A177-3AD203B41FA5}">
                      <a16:colId xmlns:a16="http://schemas.microsoft.com/office/drawing/2014/main" val="1529901115"/>
                    </a:ext>
                  </a:extLst>
                </a:gridCol>
              </a:tblGrid>
              <a:tr h="370840">
                <a:tc>
                  <a:txBody>
                    <a:bodyPr/>
                    <a:lstStyle/>
                    <a:p>
                      <a:r>
                        <a:rPr lang="en-AU" sz="2400" dirty="0"/>
                        <a:t>Learning Intention</a:t>
                      </a:r>
                    </a:p>
                  </a:txBody>
                  <a:tcPr>
                    <a:solidFill>
                      <a:srgbClr val="F77B15"/>
                    </a:solidFill>
                  </a:tcPr>
                </a:tc>
                <a:extLst>
                  <a:ext uri="{0D108BD9-81ED-4DB2-BD59-A6C34878D82A}">
                    <a16:rowId xmlns:a16="http://schemas.microsoft.com/office/drawing/2014/main" val="438604388"/>
                  </a:ext>
                </a:extLst>
              </a:tr>
              <a:tr h="370840">
                <a:tc>
                  <a:txBody>
                    <a:bodyPr/>
                    <a:lstStyle/>
                    <a:p>
                      <a:r>
                        <a:rPr lang="en-AU" sz="2400" dirty="0" smtClean="0"/>
                        <a:t>To be able to embed a quote in an</a:t>
                      </a:r>
                      <a:r>
                        <a:rPr lang="en-AU" sz="2400" baseline="0" dirty="0" smtClean="0"/>
                        <a:t> essay sentence</a:t>
                      </a:r>
                      <a:endParaRPr lang="en-AU" sz="2400" dirty="0"/>
                    </a:p>
                  </a:txBody>
                  <a:tcPr>
                    <a:solidFill>
                      <a:schemeClr val="accent3">
                        <a:lumMod val="40000"/>
                        <a:lumOff val="60000"/>
                      </a:schemeClr>
                    </a:solidFill>
                  </a:tcPr>
                </a:tc>
                <a:extLst>
                  <a:ext uri="{0D108BD9-81ED-4DB2-BD59-A6C34878D82A}">
                    <a16:rowId xmlns:a16="http://schemas.microsoft.com/office/drawing/2014/main" val="2214889484"/>
                  </a:ext>
                </a:extLst>
              </a:tr>
            </a:tbl>
          </a:graphicData>
        </a:graphic>
      </p:graphicFrame>
      <p:graphicFrame>
        <p:nvGraphicFramePr>
          <p:cNvPr id="7" name="Table 6">
            <a:extLst>
              <a:ext uri="{FF2B5EF4-FFF2-40B4-BE49-F238E27FC236}">
                <a16:creationId xmlns:a16="http://schemas.microsoft.com/office/drawing/2014/main" id="{2170DDB3-4322-45B9-A426-838813124F89}"/>
              </a:ext>
            </a:extLst>
          </p:cNvPr>
          <p:cNvGraphicFramePr>
            <a:graphicFrameLocks noGrp="1"/>
          </p:cNvGraphicFramePr>
          <p:nvPr>
            <p:extLst>
              <p:ext uri="{D42A27DB-BD31-4B8C-83A1-F6EECF244321}">
                <p14:modId xmlns:p14="http://schemas.microsoft.com/office/powerpoint/2010/main" val="3341247327"/>
              </p:ext>
            </p:extLst>
          </p:nvPr>
        </p:nvGraphicFramePr>
        <p:xfrm>
          <a:off x="2205306" y="2514600"/>
          <a:ext cx="8128000" cy="2286000"/>
        </p:xfrm>
        <a:graphic>
          <a:graphicData uri="http://schemas.openxmlformats.org/drawingml/2006/table">
            <a:tbl>
              <a:tblPr firstRow="1" bandRow="1">
                <a:tableStyleId>{5C22544A-7EE6-4342-B048-85BDC9FD1C3A}</a:tableStyleId>
              </a:tblPr>
              <a:tblGrid>
                <a:gridCol w="8128000">
                  <a:extLst>
                    <a:ext uri="{9D8B030D-6E8A-4147-A177-3AD203B41FA5}">
                      <a16:colId xmlns:a16="http://schemas.microsoft.com/office/drawing/2014/main" val="1529901115"/>
                    </a:ext>
                  </a:extLst>
                </a:gridCol>
              </a:tblGrid>
              <a:tr h="370840">
                <a:tc>
                  <a:txBody>
                    <a:bodyPr/>
                    <a:lstStyle/>
                    <a:p>
                      <a:r>
                        <a:rPr lang="en-AU" sz="2400" dirty="0"/>
                        <a:t>Success Criteria</a:t>
                      </a:r>
                    </a:p>
                  </a:txBody>
                  <a:tcPr>
                    <a:solidFill>
                      <a:srgbClr val="F77B15"/>
                    </a:solidFill>
                  </a:tcPr>
                </a:tc>
                <a:extLst>
                  <a:ext uri="{0D108BD9-81ED-4DB2-BD59-A6C34878D82A}">
                    <a16:rowId xmlns:a16="http://schemas.microsoft.com/office/drawing/2014/main" val="438604388"/>
                  </a:ext>
                </a:extLst>
              </a:tr>
              <a:tr h="370840">
                <a:tc>
                  <a:txBody>
                    <a:bodyPr/>
                    <a:lstStyle/>
                    <a:p>
                      <a:r>
                        <a:rPr lang="en-AU" sz="2400" dirty="0"/>
                        <a:t>I </a:t>
                      </a:r>
                      <a:r>
                        <a:rPr lang="en-AU" sz="2400" dirty="0" smtClean="0"/>
                        <a:t>can</a:t>
                      </a:r>
                      <a:r>
                        <a:rPr lang="en-AU" sz="2400" baseline="0" dirty="0" smtClean="0"/>
                        <a:t> identify the most important part of my quote</a:t>
                      </a:r>
                      <a:endParaRPr lang="en-AU" sz="2400" dirty="0"/>
                    </a:p>
                  </a:txBody>
                  <a:tcPr>
                    <a:solidFill>
                      <a:srgbClr val="FFFF00"/>
                    </a:solidFill>
                  </a:tcPr>
                </a:tc>
                <a:extLst>
                  <a:ext uri="{0D108BD9-81ED-4DB2-BD59-A6C34878D82A}">
                    <a16:rowId xmlns:a16="http://schemas.microsoft.com/office/drawing/2014/main" val="2214889484"/>
                  </a:ext>
                </a:extLst>
              </a:tr>
              <a:tr h="370840">
                <a:tc>
                  <a:txBody>
                    <a:bodyPr/>
                    <a:lstStyle/>
                    <a:p>
                      <a:r>
                        <a:rPr lang="en-AU" sz="2400" dirty="0"/>
                        <a:t>I can </a:t>
                      </a:r>
                      <a:r>
                        <a:rPr lang="en-AU" sz="2400" dirty="0" smtClean="0"/>
                        <a:t>use the formula for embedding quotes</a:t>
                      </a:r>
                      <a:endParaRPr lang="en-AU" sz="2400" dirty="0"/>
                    </a:p>
                  </a:txBody>
                  <a:tcPr>
                    <a:solidFill>
                      <a:srgbClr val="FFFF00"/>
                    </a:solidFill>
                  </a:tcPr>
                </a:tc>
                <a:extLst>
                  <a:ext uri="{0D108BD9-81ED-4DB2-BD59-A6C34878D82A}">
                    <a16:rowId xmlns:a16="http://schemas.microsoft.com/office/drawing/2014/main" val="2229975842"/>
                  </a:ext>
                </a:extLst>
              </a:tr>
              <a:tr h="370840">
                <a:tc>
                  <a:txBody>
                    <a:bodyPr/>
                    <a:lstStyle/>
                    <a:p>
                      <a:r>
                        <a:rPr lang="en-AU" sz="2400" dirty="0"/>
                        <a:t>I can </a:t>
                      </a:r>
                      <a:r>
                        <a:rPr lang="en-AU" sz="2400" dirty="0" smtClean="0"/>
                        <a:t>embed a short quote into</a:t>
                      </a:r>
                      <a:r>
                        <a:rPr lang="en-AU" sz="2400" baseline="0" dirty="0" smtClean="0"/>
                        <a:t> a sentence</a:t>
                      </a:r>
                      <a:endParaRPr lang="en-AU" sz="2400" dirty="0"/>
                    </a:p>
                  </a:txBody>
                  <a:tcPr>
                    <a:solidFill>
                      <a:srgbClr val="92D050"/>
                    </a:solidFill>
                  </a:tcPr>
                </a:tc>
                <a:extLst>
                  <a:ext uri="{0D108BD9-81ED-4DB2-BD59-A6C34878D82A}">
                    <a16:rowId xmlns:a16="http://schemas.microsoft.com/office/drawing/2014/main" val="835583285"/>
                  </a:ext>
                </a:extLst>
              </a:tr>
              <a:tr h="370840">
                <a:tc>
                  <a:txBody>
                    <a:bodyPr/>
                    <a:lstStyle/>
                    <a:p>
                      <a:r>
                        <a:rPr lang="en-AU" sz="2400" dirty="0"/>
                        <a:t>I can </a:t>
                      </a:r>
                      <a:r>
                        <a:rPr lang="en-AU" sz="2400" dirty="0" smtClean="0"/>
                        <a:t>analysis</a:t>
                      </a:r>
                      <a:r>
                        <a:rPr lang="en-AU" sz="2400" baseline="0" dirty="0" smtClean="0"/>
                        <a:t> the quote in the same sentence.</a:t>
                      </a:r>
                      <a:endParaRPr lang="en-AU" sz="2400" dirty="0"/>
                    </a:p>
                  </a:txBody>
                  <a:tcPr>
                    <a:solidFill>
                      <a:srgbClr val="92D050"/>
                    </a:solidFill>
                  </a:tcPr>
                </a:tc>
                <a:extLst>
                  <a:ext uri="{0D108BD9-81ED-4DB2-BD59-A6C34878D82A}">
                    <a16:rowId xmlns:a16="http://schemas.microsoft.com/office/drawing/2014/main" val="3081174515"/>
                  </a:ext>
                </a:extLst>
              </a:tr>
            </a:tbl>
          </a:graphicData>
        </a:graphic>
      </p:graphicFrame>
    </p:spTree>
    <p:extLst>
      <p:ext uri="{BB962C8B-B14F-4D97-AF65-F5344CB8AC3E}">
        <p14:creationId xmlns:p14="http://schemas.microsoft.com/office/powerpoint/2010/main" val="76802686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8056BC-B744-4648-AB3F-308DEE4EBD84}"/>
              </a:ext>
            </a:extLst>
          </p:cNvPr>
          <p:cNvSpPr>
            <a:spLocks noGrp="1"/>
          </p:cNvSpPr>
          <p:nvPr>
            <p:ph type="title"/>
          </p:nvPr>
        </p:nvSpPr>
        <p:spPr>
          <a:xfrm>
            <a:off x="3118338" y="555088"/>
            <a:ext cx="7425397" cy="999392"/>
          </a:xfrm>
        </p:spPr>
        <p:txBody>
          <a:bodyPr/>
          <a:lstStyle/>
          <a:p>
            <a:r>
              <a:rPr lang="en-AU" dirty="0" smtClean="0"/>
              <a:t>What is important?</a:t>
            </a:r>
            <a:endParaRPr lang="en-AU" dirty="0"/>
          </a:p>
        </p:txBody>
      </p:sp>
      <p:sp>
        <p:nvSpPr>
          <p:cNvPr id="3" name="Content Placeholder 2">
            <a:extLst>
              <a:ext uri="{FF2B5EF4-FFF2-40B4-BE49-F238E27FC236}">
                <a16:creationId xmlns:a16="http://schemas.microsoft.com/office/drawing/2014/main" id="{9D578D22-A381-4859-86FF-72B31CF4A541}"/>
              </a:ext>
            </a:extLst>
          </p:cNvPr>
          <p:cNvSpPr>
            <a:spLocks noGrp="1"/>
          </p:cNvSpPr>
          <p:nvPr>
            <p:ph idx="1"/>
          </p:nvPr>
        </p:nvSpPr>
        <p:spPr>
          <a:xfrm>
            <a:off x="2244131" y="3755572"/>
            <a:ext cx="8710246" cy="885092"/>
          </a:xfrm>
        </p:spPr>
        <p:txBody>
          <a:bodyPr/>
          <a:lstStyle/>
          <a:p>
            <a:r>
              <a:rPr lang="en-AU" dirty="0" smtClean="0">
                <a:solidFill>
                  <a:schemeClr val="tx1"/>
                </a:solidFill>
              </a:rPr>
              <a:t>Why may I have chosen this quote to talk about forensic crime fiction?</a:t>
            </a:r>
          </a:p>
          <a:p>
            <a:r>
              <a:rPr lang="en-AU" dirty="0" smtClean="0">
                <a:solidFill>
                  <a:schemeClr val="tx1"/>
                </a:solidFill>
              </a:rPr>
              <a:t>Which words demonstrate the reason most strongly? </a:t>
            </a:r>
            <a:endParaRPr lang="en-AU" dirty="0">
              <a:solidFill>
                <a:schemeClr val="tx1"/>
              </a:solidFill>
            </a:endParaRPr>
          </a:p>
        </p:txBody>
      </p:sp>
      <p:graphicFrame>
        <p:nvGraphicFramePr>
          <p:cNvPr id="6" name="Table 5">
            <a:extLst>
              <a:ext uri="{FF2B5EF4-FFF2-40B4-BE49-F238E27FC236}">
                <a16:creationId xmlns:a16="http://schemas.microsoft.com/office/drawing/2014/main" id="{EAB08AA4-98F3-4569-B79D-96E000ABA983}"/>
              </a:ext>
            </a:extLst>
          </p:cNvPr>
          <p:cNvGraphicFramePr>
            <a:graphicFrameLocks noGrp="1"/>
          </p:cNvGraphicFramePr>
          <p:nvPr>
            <p:extLst>
              <p:ext uri="{D42A27DB-BD31-4B8C-83A1-F6EECF244321}">
                <p14:modId xmlns:p14="http://schemas.microsoft.com/office/powerpoint/2010/main" val="1308711590"/>
              </p:ext>
            </p:extLst>
          </p:nvPr>
        </p:nvGraphicFramePr>
        <p:xfrm>
          <a:off x="0" y="0"/>
          <a:ext cx="1946031" cy="1554480"/>
        </p:xfrm>
        <a:graphic>
          <a:graphicData uri="http://schemas.openxmlformats.org/drawingml/2006/table">
            <a:tbl>
              <a:tblPr firstRow="1" bandRow="1">
                <a:tableStyleId>{5C22544A-7EE6-4342-B048-85BDC9FD1C3A}</a:tableStyleId>
              </a:tblPr>
              <a:tblGrid>
                <a:gridCol w="1946031">
                  <a:extLst>
                    <a:ext uri="{9D8B030D-6E8A-4147-A177-3AD203B41FA5}">
                      <a16:colId xmlns:a16="http://schemas.microsoft.com/office/drawing/2014/main" val="1529901115"/>
                    </a:ext>
                  </a:extLst>
                </a:gridCol>
              </a:tblGrid>
              <a:tr h="370840">
                <a:tc>
                  <a:txBody>
                    <a:bodyPr/>
                    <a:lstStyle/>
                    <a:p>
                      <a:r>
                        <a:rPr lang="en-AU" sz="1800" dirty="0"/>
                        <a:t>Learning Intention</a:t>
                      </a:r>
                    </a:p>
                  </a:txBody>
                  <a:tcPr>
                    <a:solidFill>
                      <a:srgbClr val="F77B15"/>
                    </a:solidFill>
                  </a:tcPr>
                </a:tc>
                <a:extLst>
                  <a:ext uri="{0D108BD9-81ED-4DB2-BD59-A6C34878D82A}">
                    <a16:rowId xmlns:a16="http://schemas.microsoft.com/office/drawing/2014/main" val="438604388"/>
                  </a:ext>
                </a:extLst>
              </a:tr>
              <a:tr h="370840">
                <a:tc>
                  <a:txBody>
                    <a:bodyPr/>
                    <a:lstStyle/>
                    <a:p>
                      <a:r>
                        <a:rPr lang="en-AU" sz="1800" dirty="0" smtClean="0"/>
                        <a:t>To be able to embed a quote in an</a:t>
                      </a:r>
                      <a:r>
                        <a:rPr lang="en-AU" sz="1800" baseline="0" dirty="0" smtClean="0"/>
                        <a:t> essay sentence</a:t>
                      </a:r>
                      <a:endParaRPr lang="en-AU" sz="1800" dirty="0"/>
                    </a:p>
                  </a:txBody>
                  <a:tcPr>
                    <a:solidFill>
                      <a:schemeClr val="accent3">
                        <a:lumMod val="40000"/>
                        <a:lumOff val="60000"/>
                      </a:schemeClr>
                    </a:solidFill>
                  </a:tcPr>
                </a:tc>
                <a:extLst>
                  <a:ext uri="{0D108BD9-81ED-4DB2-BD59-A6C34878D82A}">
                    <a16:rowId xmlns:a16="http://schemas.microsoft.com/office/drawing/2014/main" val="2214889484"/>
                  </a:ext>
                </a:extLst>
              </a:tr>
            </a:tbl>
          </a:graphicData>
        </a:graphic>
      </p:graphicFrame>
      <p:graphicFrame>
        <p:nvGraphicFramePr>
          <p:cNvPr id="7" name="Table 6">
            <a:extLst>
              <a:ext uri="{FF2B5EF4-FFF2-40B4-BE49-F238E27FC236}">
                <a16:creationId xmlns:a16="http://schemas.microsoft.com/office/drawing/2014/main" id="{2170DDB3-4322-45B9-A426-838813124F89}"/>
              </a:ext>
            </a:extLst>
          </p:cNvPr>
          <p:cNvGraphicFramePr>
            <a:graphicFrameLocks noGrp="1"/>
          </p:cNvGraphicFramePr>
          <p:nvPr>
            <p:extLst>
              <p:ext uri="{D42A27DB-BD31-4B8C-83A1-F6EECF244321}">
                <p14:modId xmlns:p14="http://schemas.microsoft.com/office/powerpoint/2010/main" val="1404137552"/>
              </p:ext>
            </p:extLst>
          </p:nvPr>
        </p:nvGraphicFramePr>
        <p:xfrm>
          <a:off x="11723" y="1554480"/>
          <a:ext cx="1946032" cy="5303521"/>
        </p:xfrm>
        <a:graphic>
          <a:graphicData uri="http://schemas.openxmlformats.org/drawingml/2006/table">
            <a:tbl>
              <a:tblPr firstRow="1" bandRow="1">
                <a:tableStyleId>{5C22544A-7EE6-4342-B048-85BDC9FD1C3A}</a:tableStyleId>
              </a:tblPr>
              <a:tblGrid>
                <a:gridCol w="1946032">
                  <a:extLst>
                    <a:ext uri="{9D8B030D-6E8A-4147-A177-3AD203B41FA5}">
                      <a16:colId xmlns:a16="http://schemas.microsoft.com/office/drawing/2014/main" val="1529901115"/>
                    </a:ext>
                  </a:extLst>
                </a:gridCol>
              </a:tblGrid>
              <a:tr h="417533">
                <a:tc>
                  <a:txBody>
                    <a:bodyPr/>
                    <a:lstStyle/>
                    <a:p>
                      <a:r>
                        <a:rPr lang="en-AU" sz="2000" dirty="0"/>
                        <a:t>Success Criteria</a:t>
                      </a:r>
                    </a:p>
                  </a:txBody>
                  <a:tcPr>
                    <a:solidFill>
                      <a:srgbClr val="F77B15"/>
                    </a:solidFill>
                  </a:tcPr>
                </a:tc>
                <a:extLst>
                  <a:ext uri="{0D108BD9-81ED-4DB2-BD59-A6C34878D82A}">
                    <a16:rowId xmlns:a16="http://schemas.microsoft.com/office/drawing/2014/main" val="438604388"/>
                  </a:ext>
                </a:extLst>
              </a:tr>
              <a:tr h="1163426">
                <a:tc>
                  <a:txBody>
                    <a:bodyPr/>
                    <a:lstStyle/>
                    <a:p>
                      <a:r>
                        <a:rPr lang="en-AU" sz="2000" dirty="0"/>
                        <a:t>I </a:t>
                      </a:r>
                      <a:r>
                        <a:rPr lang="en-AU" sz="2000" dirty="0" smtClean="0"/>
                        <a:t>can</a:t>
                      </a:r>
                      <a:r>
                        <a:rPr lang="en-AU" sz="2000" baseline="0" dirty="0" smtClean="0"/>
                        <a:t> identify the most important part of my quote</a:t>
                      </a:r>
                      <a:endParaRPr lang="en-AU" sz="2000" dirty="0"/>
                    </a:p>
                  </a:txBody>
                  <a:tcPr>
                    <a:solidFill>
                      <a:srgbClr val="FFFF00"/>
                    </a:solidFill>
                  </a:tcPr>
                </a:tc>
                <a:extLst>
                  <a:ext uri="{0D108BD9-81ED-4DB2-BD59-A6C34878D82A}">
                    <a16:rowId xmlns:a16="http://schemas.microsoft.com/office/drawing/2014/main" val="2214889484"/>
                  </a:ext>
                </a:extLst>
              </a:tr>
              <a:tr h="1381070">
                <a:tc>
                  <a:txBody>
                    <a:bodyPr/>
                    <a:lstStyle/>
                    <a:p>
                      <a:r>
                        <a:rPr lang="en-AU" sz="2000" dirty="0" smtClean="0"/>
                        <a:t>I can use the formula for embedding quotes</a:t>
                      </a:r>
                      <a:endParaRPr lang="en-AU" sz="2000" dirty="0"/>
                    </a:p>
                  </a:txBody>
                  <a:tcPr>
                    <a:solidFill>
                      <a:srgbClr val="FFFF00"/>
                    </a:solidFill>
                  </a:tcPr>
                </a:tc>
                <a:extLst>
                  <a:ext uri="{0D108BD9-81ED-4DB2-BD59-A6C34878D82A}">
                    <a16:rowId xmlns:a16="http://schemas.microsoft.com/office/drawing/2014/main" val="2229975842"/>
                  </a:ext>
                </a:extLst>
              </a:tr>
              <a:tr h="1178066">
                <a:tc>
                  <a:txBody>
                    <a:bodyPr/>
                    <a:lstStyle/>
                    <a:p>
                      <a:r>
                        <a:rPr lang="en-AU" sz="2000" dirty="0"/>
                        <a:t>I can </a:t>
                      </a:r>
                      <a:r>
                        <a:rPr lang="en-AU" sz="2000" dirty="0" smtClean="0"/>
                        <a:t>embed a short quote into</a:t>
                      </a:r>
                      <a:r>
                        <a:rPr lang="en-AU" sz="2000" baseline="0" dirty="0" smtClean="0"/>
                        <a:t> a sentence</a:t>
                      </a:r>
                      <a:endParaRPr lang="en-AU" sz="2000" dirty="0"/>
                    </a:p>
                  </a:txBody>
                  <a:tcPr>
                    <a:solidFill>
                      <a:srgbClr val="92D050"/>
                    </a:solidFill>
                  </a:tcPr>
                </a:tc>
                <a:extLst>
                  <a:ext uri="{0D108BD9-81ED-4DB2-BD59-A6C34878D82A}">
                    <a16:rowId xmlns:a16="http://schemas.microsoft.com/office/drawing/2014/main" val="835583285"/>
                  </a:ext>
                </a:extLst>
              </a:tr>
              <a:tr h="1163426">
                <a:tc>
                  <a:txBody>
                    <a:bodyPr/>
                    <a:lstStyle/>
                    <a:p>
                      <a:r>
                        <a:rPr lang="en-AU" sz="2000" dirty="0"/>
                        <a:t>I can </a:t>
                      </a:r>
                      <a:r>
                        <a:rPr lang="en-AU" sz="2000" dirty="0" smtClean="0"/>
                        <a:t>analysis</a:t>
                      </a:r>
                      <a:r>
                        <a:rPr lang="en-AU" sz="2000" baseline="0" dirty="0" smtClean="0"/>
                        <a:t> the quote in the same sentence.</a:t>
                      </a:r>
                      <a:endParaRPr lang="en-AU" sz="2000" dirty="0"/>
                    </a:p>
                  </a:txBody>
                  <a:tcPr>
                    <a:solidFill>
                      <a:srgbClr val="92D050"/>
                    </a:solidFill>
                  </a:tcPr>
                </a:tc>
                <a:extLst>
                  <a:ext uri="{0D108BD9-81ED-4DB2-BD59-A6C34878D82A}">
                    <a16:rowId xmlns:a16="http://schemas.microsoft.com/office/drawing/2014/main" val="3081174515"/>
                  </a:ext>
                </a:extLst>
              </a:tr>
            </a:tbl>
          </a:graphicData>
        </a:graphic>
      </p:graphicFrame>
      <p:graphicFrame>
        <p:nvGraphicFramePr>
          <p:cNvPr id="4" name="Table 3"/>
          <p:cNvGraphicFramePr>
            <a:graphicFrameLocks noGrp="1"/>
          </p:cNvGraphicFramePr>
          <p:nvPr>
            <p:extLst>
              <p:ext uri="{D42A27DB-BD31-4B8C-83A1-F6EECF244321}">
                <p14:modId xmlns:p14="http://schemas.microsoft.com/office/powerpoint/2010/main" val="3600825041"/>
              </p:ext>
            </p:extLst>
          </p:nvPr>
        </p:nvGraphicFramePr>
        <p:xfrm>
          <a:off x="2104640" y="1644014"/>
          <a:ext cx="9625806" cy="1645920"/>
        </p:xfrm>
        <a:graphic>
          <a:graphicData uri="http://schemas.openxmlformats.org/drawingml/2006/table">
            <a:tbl>
              <a:tblPr firstRow="1" firstCol="1" bandRow="1">
                <a:tableStyleId>{5C22544A-7EE6-4342-B048-85BDC9FD1C3A}</a:tableStyleId>
              </a:tblPr>
              <a:tblGrid>
                <a:gridCol w="9625806">
                  <a:extLst>
                    <a:ext uri="{9D8B030D-6E8A-4147-A177-3AD203B41FA5}">
                      <a16:colId xmlns:a16="http://schemas.microsoft.com/office/drawing/2014/main" val="3201723763"/>
                    </a:ext>
                  </a:extLst>
                </a:gridCol>
              </a:tblGrid>
              <a:tr h="1203689">
                <a:tc>
                  <a:txBody>
                    <a:bodyPr/>
                    <a:lstStyle/>
                    <a:p>
                      <a:pPr>
                        <a:lnSpc>
                          <a:spcPct val="150000"/>
                        </a:lnSpc>
                        <a:spcAft>
                          <a:spcPts val="0"/>
                        </a:spcAft>
                      </a:pPr>
                      <a:r>
                        <a:rPr lang="en-AU" sz="2400" dirty="0">
                          <a:effectLst/>
                        </a:rPr>
                        <a:t>“Incisions, a reflecting back of skin, and microscopic analysis revealed haemorrhaging into soft tissue from the crown of his head to the soles of his little feet.”</a:t>
                      </a:r>
                      <a:endParaRPr lang="en-AU" sz="24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solidFill>
                      <a:schemeClr val="accent4"/>
                    </a:solidFill>
                  </a:tcPr>
                </a:tc>
                <a:extLst>
                  <a:ext uri="{0D108BD9-81ED-4DB2-BD59-A6C34878D82A}">
                    <a16:rowId xmlns:a16="http://schemas.microsoft.com/office/drawing/2014/main" val="3821075524"/>
                  </a:ext>
                </a:extLst>
              </a:tr>
            </a:tbl>
          </a:graphicData>
        </a:graphic>
      </p:graphicFrame>
    </p:spTree>
    <p:extLst>
      <p:ext uri="{BB962C8B-B14F-4D97-AF65-F5344CB8AC3E}">
        <p14:creationId xmlns:p14="http://schemas.microsoft.com/office/powerpoint/2010/main" val="268415834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8056BC-B744-4648-AB3F-308DEE4EBD84}"/>
              </a:ext>
            </a:extLst>
          </p:cNvPr>
          <p:cNvSpPr>
            <a:spLocks noGrp="1"/>
          </p:cNvSpPr>
          <p:nvPr>
            <p:ph type="title"/>
          </p:nvPr>
        </p:nvSpPr>
        <p:spPr>
          <a:xfrm>
            <a:off x="3118338" y="555088"/>
            <a:ext cx="7425397" cy="999392"/>
          </a:xfrm>
        </p:spPr>
        <p:txBody>
          <a:bodyPr/>
          <a:lstStyle/>
          <a:p>
            <a:r>
              <a:rPr lang="en-AU" dirty="0" smtClean="0"/>
              <a:t>What is important?</a:t>
            </a:r>
            <a:endParaRPr lang="en-AU" dirty="0"/>
          </a:p>
        </p:txBody>
      </p:sp>
      <p:sp>
        <p:nvSpPr>
          <p:cNvPr id="3" name="Content Placeholder 2">
            <a:extLst>
              <a:ext uri="{FF2B5EF4-FFF2-40B4-BE49-F238E27FC236}">
                <a16:creationId xmlns:a16="http://schemas.microsoft.com/office/drawing/2014/main" id="{9D578D22-A381-4859-86FF-72B31CF4A541}"/>
              </a:ext>
            </a:extLst>
          </p:cNvPr>
          <p:cNvSpPr>
            <a:spLocks noGrp="1"/>
          </p:cNvSpPr>
          <p:nvPr>
            <p:ph idx="1"/>
          </p:nvPr>
        </p:nvSpPr>
        <p:spPr>
          <a:xfrm>
            <a:off x="2244131" y="3755571"/>
            <a:ext cx="9213578" cy="2617519"/>
          </a:xfrm>
        </p:spPr>
        <p:txBody>
          <a:bodyPr>
            <a:normAutofit/>
          </a:bodyPr>
          <a:lstStyle/>
          <a:p>
            <a:r>
              <a:rPr lang="en-AU" dirty="0" smtClean="0">
                <a:solidFill>
                  <a:schemeClr val="tx1"/>
                </a:solidFill>
              </a:rPr>
              <a:t>Why may I have chosen this quote to talk about forensic crime fiction?</a:t>
            </a:r>
          </a:p>
          <a:p>
            <a:pPr lvl="1"/>
            <a:r>
              <a:rPr lang="en-AU" dirty="0" smtClean="0">
                <a:solidFill>
                  <a:schemeClr val="tx1"/>
                </a:solidFill>
              </a:rPr>
              <a:t>To demonstrate the type of language used in crime fiction</a:t>
            </a:r>
          </a:p>
          <a:p>
            <a:r>
              <a:rPr lang="en-AU" dirty="0" smtClean="0">
                <a:solidFill>
                  <a:schemeClr val="tx1"/>
                </a:solidFill>
              </a:rPr>
              <a:t>Which words demonstrate the reason most strongly? </a:t>
            </a:r>
            <a:endParaRPr lang="en-AU" dirty="0">
              <a:solidFill>
                <a:schemeClr val="tx1"/>
              </a:solidFill>
            </a:endParaRPr>
          </a:p>
        </p:txBody>
      </p:sp>
      <p:graphicFrame>
        <p:nvGraphicFramePr>
          <p:cNvPr id="6" name="Table 5">
            <a:extLst>
              <a:ext uri="{FF2B5EF4-FFF2-40B4-BE49-F238E27FC236}">
                <a16:creationId xmlns:a16="http://schemas.microsoft.com/office/drawing/2014/main" id="{EAB08AA4-98F3-4569-B79D-96E000ABA983}"/>
              </a:ext>
            </a:extLst>
          </p:cNvPr>
          <p:cNvGraphicFramePr>
            <a:graphicFrameLocks noGrp="1"/>
          </p:cNvGraphicFramePr>
          <p:nvPr>
            <p:extLst/>
          </p:nvPr>
        </p:nvGraphicFramePr>
        <p:xfrm>
          <a:off x="0" y="0"/>
          <a:ext cx="1946031" cy="1554480"/>
        </p:xfrm>
        <a:graphic>
          <a:graphicData uri="http://schemas.openxmlformats.org/drawingml/2006/table">
            <a:tbl>
              <a:tblPr firstRow="1" bandRow="1">
                <a:tableStyleId>{5C22544A-7EE6-4342-B048-85BDC9FD1C3A}</a:tableStyleId>
              </a:tblPr>
              <a:tblGrid>
                <a:gridCol w="1946031">
                  <a:extLst>
                    <a:ext uri="{9D8B030D-6E8A-4147-A177-3AD203B41FA5}">
                      <a16:colId xmlns:a16="http://schemas.microsoft.com/office/drawing/2014/main" val="1529901115"/>
                    </a:ext>
                  </a:extLst>
                </a:gridCol>
              </a:tblGrid>
              <a:tr h="370840">
                <a:tc>
                  <a:txBody>
                    <a:bodyPr/>
                    <a:lstStyle/>
                    <a:p>
                      <a:r>
                        <a:rPr lang="en-AU" sz="1800" dirty="0"/>
                        <a:t>Learning Intention</a:t>
                      </a:r>
                    </a:p>
                  </a:txBody>
                  <a:tcPr>
                    <a:solidFill>
                      <a:srgbClr val="F77B15"/>
                    </a:solidFill>
                  </a:tcPr>
                </a:tc>
                <a:extLst>
                  <a:ext uri="{0D108BD9-81ED-4DB2-BD59-A6C34878D82A}">
                    <a16:rowId xmlns:a16="http://schemas.microsoft.com/office/drawing/2014/main" val="438604388"/>
                  </a:ext>
                </a:extLst>
              </a:tr>
              <a:tr h="370840">
                <a:tc>
                  <a:txBody>
                    <a:bodyPr/>
                    <a:lstStyle/>
                    <a:p>
                      <a:r>
                        <a:rPr lang="en-AU" sz="1800" dirty="0" smtClean="0"/>
                        <a:t>To be able to embed a quote in an</a:t>
                      </a:r>
                      <a:r>
                        <a:rPr lang="en-AU" sz="1800" baseline="0" dirty="0" smtClean="0"/>
                        <a:t> essay sentence</a:t>
                      </a:r>
                      <a:endParaRPr lang="en-AU" sz="1800" dirty="0"/>
                    </a:p>
                  </a:txBody>
                  <a:tcPr>
                    <a:solidFill>
                      <a:schemeClr val="accent3">
                        <a:lumMod val="40000"/>
                        <a:lumOff val="60000"/>
                      </a:schemeClr>
                    </a:solidFill>
                  </a:tcPr>
                </a:tc>
                <a:extLst>
                  <a:ext uri="{0D108BD9-81ED-4DB2-BD59-A6C34878D82A}">
                    <a16:rowId xmlns:a16="http://schemas.microsoft.com/office/drawing/2014/main" val="2214889484"/>
                  </a:ext>
                </a:extLst>
              </a:tr>
            </a:tbl>
          </a:graphicData>
        </a:graphic>
      </p:graphicFrame>
      <p:graphicFrame>
        <p:nvGraphicFramePr>
          <p:cNvPr id="4" name="Table 3"/>
          <p:cNvGraphicFramePr>
            <a:graphicFrameLocks noGrp="1"/>
          </p:cNvGraphicFramePr>
          <p:nvPr/>
        </p:nvGraphicFramePr>
        <p:xfrm>
          <a:off x="2104640" y="1644014"/>
          <a:ext cx="9625806" cy="1645920"/>
        </p:xfrm>
        <a:graphic>
          <a:graphicData uri="http://schemas.openxmlformats.org/drawingml/2006/table">
            <a:tbl>
              <a:tblPr firstRow="1" firstCol="1" bandRow="1">
                <a:tableStyleId>{5C22544A-7EE6-4342-B048-85BDC9FD1C3A}</a:tableStyleId>
              </a:tblPr>
              <a:tblGrid>
                <a:gridCol w="9625806">
                  <a:extLst>
                    <a:ext uri="{9D8B030D-6E8A-4147-A177-3AD203B41FA5}">
                      <a16:colId xmlns:a16="http://schemas.microsoft.com/office/drawing/2014/main" val="3201723763"/>
                    </a:ext>
                  </a:extLst>
                </a:gridCol>
              </a:tblGrid>
              <a:tr h="1203689">
                <a:tc>
                  <a:txBody>
                    <a:bodyPr/>
                    <a:lstStyle/>
                    <a:p>
                      <a:pPr>
                        <a:lnSpc>
                          <a:spcPct val="150000"/>
                        </a:lnSpc>
                        <a:spcAft>
                          <a:spcPts val="0"/>
                        </a:spcAft>
                      </a:pPr>
                      <a:r>
                        <a:rPr lang="en-AU" sz="2400" dirty="0">
                          <a:effectLst/>
                        </a:rPr>
                        <a:t>“Incisions, a reflecting back of skin, and microscopic analysis revealed haemorrhaging into soft tissue from the crown of his head to the soles of his little feet.”</a:t>
                      </a:r>
                      <a:endParaRPr lang="en-AU" sz="24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solidFill>
                      <a:schemeClr val="accent4"/>
                    </a:solidFill>
                  </a:tcPr>
                </a:tc>
                <a:extLst>
                  <a:ext uri="{0D108BD9-81ED-4DB2-BD59-A6C34878D82A}">
                    <a16:rowId xmlns:a16="http://schemas.microsoft.com/office/drawing/2014/main" val="3821075524"/>
                  </a:ext>
                </a:extLst>
              </a:tr>
            </a:tbl>
          </a:graphicData>
        </a:graphic>
      </p:graphicFrame>
      <p:graphicFrame>
        <p:nvGraphicFramePr>
          <p:cNvPr id="8" name="Table 7"/>
          <p:cNvGraphicFramePr>
            <a:graphicFrameLocks noGrp="1"/>
          </p:cNvGraphicFramePr>
          <p:nvPr>
            <p:extLst>
              <p:ext uri="{D42A27DB-BD31-4B8C-83A1-F6EECF244321}">
                <p14:modId xmlns:p14="http://schemas.microsoft.com/office/powerpoint/2010/main" val="841171840"/>
              </p:ext>
            </p:extLst>
          </p:nvPr>
        </p:nvGraphicFramePr>
        <p:xfrm>
          <a:off x="2104640" y="1644014"/>
          <a:ext cx="9625806" cy="1645920"/>
        </p:xfrm>
        <a:graphic>
          <a:graphicData uri="http://schemas.openxmlformats.org/drawingml/2006/table">
            <a:tbl>
              <a:tblPr firstRow="1" firstCol="1" bandRow="1">
                <a:tableStyleId>{5C22544A-7EE6-4342-B048-85BDC9FD1C3A}</a:tableStyleId>
              </a:tblPr>
              <a:tblGrid>
                <a:gridCol w="9625806">
                  <a:extLst>
                    <a:ext uri="{9D8B030D-6E8A-4147-A177-3AD203B41FA5}">
                      <a16:colId xmlns:a16="http://schemas.microsoft.com/office/drawing/2014/main" val="3201723763"/>
                    </a:ext>
                  </a:extLst>
                </a:gridCol>
              </a:tblGrid>
              <a:tr h="1203689">
                <a:tc>
                  <a:txBody>
                    <a:bodyPr/>
                    <a:lstStyle/>
                    <a:p>
                      <a:pPr>
                        <a:lnSpc>
                          <a:spcPct val="150000"/>
                        </a:lnSpc>
                        <a:spcAft>
                          <a:spcPts val="0"/>
                        </a:spcAft>
                      </a:pPr>
                      <a:r>
                        <a:rPr lang="en-AU" sz="2400" dirty="0">
                          <a:effectLst/>
                        </a:rPr>
                        <a:t>“Incisions, a reflecting back of skin, and </a:t>
                      </a:r>
                      <a:r>
                        <a:rPr lang="en-AU" sz="2400" dirty="0">
                          <a:solidFill>
                            <a:srgbClr val="FF99FF"/>
                          </a:solidFill>
                          <a:effectLst/>
                        </a:rPr>
                        <a:t>microscopic analysis </a:t>
                      </a:r>
                      <a:r>
                        <a:rPr lang="en-AU" sz="2400" dirty="0">
                          <a:effectLst/>
                        </a:rPr>
                        <a:t>revealed </a:t>
                      </a:r>
                      <a:r>
                        <a:rPr lang="en-AU" sz="2400" dirty="0">
                          <a:solidFill>
                            <a:srgbClr val="FF99FF"/>
                          </a:solidFill>
                          <a:effectLst/>
                        </a:rPr>
                        <a:t>haemorrhaging into soft tissue </a:t>
                      </a:r>
                      <a:r>
                        <a:rPr lang="en-AU" sz="2400" dirty="0">
                          <a:effectLst/>
                        </a:rPr>
                        <a:t>from the crown of his head to the soles of his little feet.”</a:t>
                      </a:r>
                      <a:endParaRPr lang="en-AU" sz="24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solidFill>
                      <a:schemeClr val="accent4"/>
                    </a:solidFill>
                  </a:tcPr>
                </a:tc>
                <a:extLst>
                  <a:ext uri="{0D108BD9-81ED-4DB2-BD59-A6C34878D82A}">
                    <a16:rowId xmlns:a16="http://schemas.microsoft.com/office/drawing/2014/main" val="3821075524"/>
                  </a:ext>
                </a:extLst>
              </a:tr>
            </a:tbl>
          </a:graphicData>
        </a:graphic>
      </p:graphicFrame>
      <p:graphicFrame>
        <p:nvGraphicFramePr>
          <p:cNvPr id="9" name="Table 8">
            <a:extLst>
              <a:ext uri="{FF2B5EF4-FFF2-40B4-BE49-F238E27FC236}">
                <a16:creationId xmlns:a16="http://schemas.microsoft.com/office/drawing/2014/main" id="{2170DDB3-4322-45B9-A426-838813124F89}"/>
              </a:ext>
            </a:extLst>
          </p:cNvPr>
          <p:cNvGraphicFramePr>
            <a:graphicFrameLocks noGrp="1"/>
          </p:cNvGraphicFramePr>
          <p:nvPr>
            <p:extLst>
              <p:ext uri="{D42A27DB-BD31-4B8C-83A1-F6EECF244321}">
                <p14:modId xmlns:p14="http://schemas.microsoft.com/office/powerpoint/2010/main" val="2275683551"/>
              </p:ext>
            </p:extLst>
          </p:nvPr>
        </p:nvGraphicFramePr>
        <p:xfrm>
          <a:off x="11723" y="1554480"/>
          <a:ext cx="1946032" cy="5303521"/>
        </p:xfrm>
        <a:graphic>
          <a:graphicData uri="http://schemas.openxmlformats.org/drawingml/2006/table">
            <a:tbl>
              <a:tblPr firstRow="1" bandRow="1">
                <a:tableStyleId>{5C22544A-7EE6-4342-B048-85BDC9FD1C3A}</a:tableStyleId>
              </a:tblPr>
              <a:tblGrid>
                <a:gridCol w="1946032">
                  <a:extLst>
                    <a:ext uri="{9D8B030D-6E8A-4147-A177-3AD203B41FA5}">
                      <a16:colId xmlns:a16="http://schemas.microsoft.com/office/drawing/2014/main" val="1529901115"/>
                    </a:ext>
                  </a:extLst>
                </a:gridCol>
              </a:tblGrid>
              <a:tr h="417533">
                <a:tc>
                  <a:txBody>
                    <a:bodyPr/>
                    <a:lstStyle/>
                    <a:p>
                      <a:r>
                        <a:rPr lang="en-AU" sz="2000" dirty="0"/>
                        <a:t>Success Criteria</a:t>
                      </a:r>
                    </a:p>
                  </a:txBody>
                  <a:tcPr>
                    <a:solidFill>
                      <a:srgbClr val="F77B15"/>
                    </a:solidFill>
                  </a:tcPr>
                </a:tc>
                <a:extLst>
                  <a:ext uri="{0D108BD9-81ED-4DB2-BD59-A6C34878D82A}">
                    <a16:rowId xmlns:a16="http://schemas.microsoft.com/office/drawing/2014/main" val="438604388"/>
                  </a:ext>
                </a:extLst>
              </a:tr>
              <a:tr h="1163426">
                <a:tc>
                  <a:txBody>
                    <a:bodyPr/>
                    <a:lstStyle/>
                    <a:p>
                      <a:r>
                        <a:rPr lang="en-AU" sz="2000" dirty="0"/>
                        <a:t>I </a:t>
                      </a:r>
                      <a:r>
                        <a:rPr lang="en-AU" sz="2000" dirty="0" smtClean="0"/>
                        <a:t>can</a:t>
                      </a:r>
                      <a:r>
                        <a:rPr lang="en-AU" sz="2000" baseline="0" dirty="0" smtClean="0"/>
                        <a:t> identify the most important part of my quote</a:t>
                      </a:r>
                      <a:endParaRPr lang="en-AU" sz="2000" dirty="0"/>
                    </a:p>
                  </a:txBody>
                  <a:tcPr>
                    <a:solidFill>
                      <a:srgbClr val="FFFF00"/>
                    </a:solidFill>
                  </a:tcPr>
                </a:tc>
                <a:extLst>
                  <a:ext uri="{0D108BD9-81ED-4DB2-BD59-A6C34878D82A}">
                    <a16:rowId xmlns:a16="http://schemas.microsoft.com/office/drawing/2014/main" val="2214889484"/>
                  </a:ext>
                </a:extLst>
              </a:tr>
              <a:tr h="1381070">
                <a:tc>
                  <a:txBody>
                    <a:bodyPr/>
                    <a:lstStyle/>
                    <a:p>
                      <a:r>
                        <a:rPr lang="en-AU" sz="2000" dirty="0" smtClean="0"/>
                        <a:t>I can use the formula for embedding quotes</a:t>
                      </a:r>
                      <a:endParaRPr lang="en-AU" sz="2000" dirty="0"/>
                    </a:p>
                  </a:txBody>
                  <a:tcPr>
                    <a:solidFill>
                      <a:srgbClr val="FFFF00"/>
                    </a:solidFill>
                  </a:tcPr>
                </a:tc>
                <a:extLst>
                  <a:ext uri="{0D108BD9-81ED-4DB2-BD59-A6C34878D82A}">
                    <a16:rowId xmlns:a16="http://schemas.microsoft.com/office/drawing/2014/main" val="2229975842"/>
                  </a:ext>
                </a:extLst>
              </a:tr>
              <a:tr h="1178066">
                <a:tc>
                  <a:txBody>
                    <a:bodyPr/>
                    <a:lstStyle/>
                    <a:p>
                      <a:r>
                        <a:rPr lang="en-AU" sz="2000" dirty="0"/>
                        <a:t>I can </a:t>
                      </a:r>
                      <a:r>
                        <a:rPr lang="en-AU" sz="2000" dirty="0" smtClean="0"/>
                        <a:t>embed a short quote into</a:t>
                      </a:r>
                      <a:r>
                        <a:rPr lang="en-AU" sz="2000" baseline="0" dirty="0" smtClean="0"/>
                        <a:t> a sentence</a:t>
                      </a:r>
                      <a:endParaRPr lang="en-AU" sz="2000" dirty="0"/>
                    </a:p>
                  </a:txBody>
                  <a:tcPr>
                    <a:solidFill>
                      <a:srgbClr val="92D050"/>
                    </a:solidFill>
                  </a:tcPr>
                </a:tc>
                <a:extLst>
                  <a:ext uri="{0D108BD9-81ED-4DB2-BD59-A6C34878D82A}">
                    <a16:rowId xmlns:a16="http://schemas.microsoft.com/office/drawing/2014/main" val="835583285"/>
                  </a:ext>
                </a:extLst>
              </a:tr>
              <a:tr h="1163426">
                <a:tc>
                  <a:txBody>
                    <a:bodyPr/>
                    <a:lstStyle/>
                    <a:p>
                      <a:r>
                        <a:rPr lang="en-AU" sz="2000" dirty="0"/>
                        <a:t>I can </a:t>
                      </a:r>
                      <a:r>
                        <a:rPr lang="en-AU" sz="2000" dirty="0" smtClean="0"/>
                        <a:t>analysis</a:t>
                      </a:r>
                      <a:r>
                        <a:rPr lang="en-AU" sz="2000" baseline="0" dirty="0" smtClean="0"/>
                        <a:t> the quote in the same sentence.</a:t>
                      </a:r>
                      <a:endParaRPr lang="en-AU" sz="2000" dirty="0"/>
                    </a:p>
                  </a:txBody>
                  <a:tcPr>
                    <a:solidFill>
                      <a:srgbClr val="92D050"/>
                    </a:solidFill>
                  </a:tcPr>
                </a:tc>
                <a:extLst>
                  <a:ext uri="{0D108BD9-81ED-4DB2-BD59-A6C34878D82A}">
                    <a16:rowId xmlns:a16="http://schemas.microsoft.com/office/drawing/2014/main" val="3081174515"/>
                  </a:ext>
                </a:extLst>
              </a:tr>
            </a:tbl>
          </a:graphicData>
        </a:graphic>
      </p:graphicFrame>
    </p:spTree>
    <p:extLst>
      <p:ext uri="{BB962C8B-B14F-4D97-AF65-F5344CB8AC3E}">
        <p14:creationId xmlns:p14="http://schemas.microsoft.com/office/powerpoint/2010/main" val="60889520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8056BC-B744-4648-AB3F-308DEE4EBD84}"/>
              </a:ext>
            </a:extLst>
          </p:cNvPr>
          <p:cNvSpPr>
            <a:spLocks noGrp="1"/>
          </p:cNvSpPr>
          <p:nvPr>
            <p:ph type="title"/>
          </p:nvPr>
        </p:nvSpPr>
        <p:spPr>
          <a:xfrm>
            <a:off x="3118338" y="555088"/>
            <a:ext cx="7425397" cy="999392"/>
          </a:xfrm>
        </p:spPr>
        <p:txBody>
          <a:bodyPr/>
          <a:lstStyle/>
          <a:p>
            <a:r>
              <a:rPr lang="en-AU" dirty="0" smtClean="0"/>
              <a:t>What is important?</a:t>
            </a:r>
            <a:endParaRPr lang="en-AU" dirty="0"/>
          </a:p>
        </p:txBody>
      </p:sp>
      <p:sp>
        <p:nvSpPr>
          <p:cNvPr id="3" name="Content Placeholder 2">
            <a:extLst>
              <a:ext uri="{FF2B5EF4-FFF2-40B4-BE49-F238E27FC236}">
                <a16:creationId xmlns:a16="http://schemas.microsoft.com/office/drawing/2014/main" id="{9D578D22-A381-4859-86FF-72B31CF4A541}"/>
              </a:ext>
            </a:extLst>
          </p:cNvPr>
          <p:cNvSpPr>
            <a:spLocks noGrp="1"/>
          </p:cNvSpPr>
          <p:nvPr>
            <p:ph idx="1"/>
          </p:nvPr>
        </p:nvSpPr>
        <p:spPr>
          <a:xfrm>
            <a:off x="2244131" y="3755571"/>
            <a:ext cx="9213578" cy="2617519"/>
          </a:xfrm>
        </p:spPr>
        <p:txBody>
          <a:bodyPr>
            <a:normAutofit/>
          </a:bodyPr>
          <a:lstStyle/>
          <a:p>
            <a:r>
              <a:rPr lang="en-AU" dirty="0" smtClean="0">
                <a:solidFill>
                  <a:schemeClr val="tx1"/>
                </a:solidFill>
              </a:rPr>
              <a:t>Why may I have chosen this quote to talk about hard-boiled crime fiction?</a:t>
            </a:r>
          </a:p>
          <a:p>
            <a:r>
              <a:rPr lang="en-AU" dirty="0" smtClean="0">
                <a:solidFill>
                  <a:schemeClr val="tx1"/>
                </a:solidFill>
              </a:rPr>
              <a:t>Which words demonstrate the reason most strongly? </a:t>
            </a:r>
            <a:endParaRPr lang="en-AU" dirty="0">
              <a:solidFill>
                <a:schemeClr val="tx1"/>
              </a:solidFill>
            </a:endParaRPr>
          </a:p>
        </p:txBody>
      </p:sp>
      <p:graphicFrame>
        <p:nvGraphicFramePr>
          <p:cNvPr id="6" name="Table 5">
            <a:extLst>
              <a:ext uri="{FF2B5EF4-FFF2-40B4-BE49-F238E27FC236}">
                <a16:creationId xmlns:a16="http://schemas.microsoft.com/office/drawing/2014/main" id="{EAB08AA4-98F3-4569-B79D-96E000ABA983}"/>
              </a:ext>
            </a:extLst>
          </p:cNvPr>
          <p:cNvGraphicFramePr>
            <a:graphicFrameLocks noGrp="1"/>
          </p:cNvGraphicFramePr>
          <p:nvPr>
            <p:extLst/>
          </p:nvPr>
        </p:nvGraphicFramePr>
        <p:xfrm>
          <a:off x="0" y="0"/>
          <a:ext cx="1946031" cy="1554480"/>
        </p:xfrm>
        <a:graphic>
          <a:graphicData uri="http://schemas.openxmlformats.org/drawingml/2006/table">
            <a:tbl>
              <a:tblPr firstRow="1" bandRow="1">
                <a:tableStyleId>{5C22544A-7EE6-4342-B048-85BDC9FD1C3A}</a:tableStyleId>
              </a:tblPr>
              <a:tblGrid>
                <a:gridCol w="1946031">
                  <a:extLst>
                    <a:ext uri="{9D8B030D-6E8A-4147-A177-3AD203B41FA5}">
                      <a16:colId xmlns:a16="http://schemas.microsoft.com/office/drawing/2014/main" val="1529901115"/>
                    </a:ext>
                  </a:extLst>
                </a:gridCol>
              </a:tblGrid>
              <a:tr h="370840">
                <a:tc>
                  <a:txBody>
                    <a:bodyPr/>
                    <a:lstStyle/>
                    <a:p>
                      <a:r>
                        <a:rPr lang="en-AU" sz="1800" dirty="0"/>
                        <a:t>Learning Intention</a:t>
                      </a:r>
                    </a:p>
                  </a:txBody>
                  <a:tcPr>
                    <a:solidFill>
                      <a:srgbClr val="F77B15"/>
                    </a:solidFill>
                  </a:tcPr>
                </a:tc>
                <a:extLst>
                  <a:ext uri="{0D108BD9-81ED-4DB2-BD59-A6C34878D82A}">
                    <a16:rowId xmlns:a16="http://schemas.microsoft.com/office/drawing/2014/main" val="438604388"/>
                  </a:ext>
                </a:extLst>
              </a:tr>
              <a:tr h="370840">
                <a:tc>
                  <a:txBody>
                    <a:bodyPr/>
                    <a:lstStyle/>
                    <a:p>
                      <a:r>
                        <a:rPr lang="en-AU" sz="1800" dirty="0" smtClean="0"/>
                        <a:t>To be able to embed a quote in an</a:t>
                      </a:r>
                      <a:r>
                        <a:rPr lang="en-AU" sz="1800" baseline="0" dirty="0" smtClean="0"/>
                        <a:t> essay sentence</a:t>
                      </a:r>
                      <a:endParaRPr lang="en-AU" sz="1800" dirty="0"/>
                    </a:p>
                  </a:txBody>
                  <a:tcPr>
                    <a:solidFill>
                      <a:schemeClr val="accent3">
                        <a:lumMod val="40000"/>
                        <a:lumOff val="60000"/>
                      </a:schemeClr>
                    </a:solidFill>
                  </a:tcPr>
                </a:tc>
                <a:extLst>
                  <a:ext uri="{0D108BD9-81ED-4DB2-BD59-A6C34878D82A}">
                    <a16:rowId xmlns:a16="http://schemas.microsoft.com/office/drawing/2014/main" val="2214889484"/>
                  </a:ext>
                </a:extLst>
              </a:tr>
            </a:tbl>
          </a:graphicData>
        </a:graphic>
      </p:graphicFrame>
      <p:graphicFrame>
        <p:nvGraphicFramePr>
          <p:cNvPr id="4" name="Table 3"/>
          <p:cNvGraphicFramePr>
            <a:graphicFrameLocks noGrp="1"/>
          </p:cNvGraphicFramePr>
          <p:nvPr>
            <p:extLst>
              <p:ext uri="{D42A27DB-BD31-4B8C-83A1-F6EECF244321}">
                <p14:modId xmlns:p14="http://schemas.microsoft.com/office/powerpoint/2010/main" val="3317731879"/>
              </p:ext>
            </p:extLst>
          </p:nvPr>
        </p:nvGraphicFramePr>
        <p:xfrm>
          <a:off x="2104640" y="1644014"/>
          <a:ext cx="9625806" cy="1029913"/>
        </p:xfrm>
        <a:graphic>
          <a:graphicData uri="http://schemas.openxmlformats.org/drawingml/2006/table">
            <a:tbl>
              <a:tblPr firstRow="1" firstCol="1" bandRow="1">
                <a:tableStyleId>{5C22544A-7EE6-4342-B048-85BDC9FD1C3A}</a:tableStyleId>
              </a:tblPr>
              <a:tblGrid>
                <a:gridCol w="9625806">
                  <a:extLst>
                    <a:ext uri="{9D8B030D-6E8A-4147-A177-3AD203B41FA5}">
                      <a16:colId xmlns:a16="http://schemas.microsoft.com/office/drawing/2014/main" val="3201723763"/>
                    </a:ext>
                  </a:extLst>
                </a:gridCol>
              </a:tblGrid>
              <a:tr h="1029913">
                <a:tc>
                  <a:txBody>
                    <a:bodyPr/>
                    <a:lstStyle/>
                    <a:p>
                      <a:r>
                        <a:rPr lang="en-AU" sz="2800" b="1" kern="1200" dirty="0" smtClean="0">
                          <a:solidFill>
                            <a:schemeClr val="lt1"/>
                          </a:solidFill>
                          <a:effectLst/>
                          <a:latin typeface="+mn-lt"/>
                          <a:ea typeface="+mn-ea"/>
                          <a:cs typeface="+mn-cs"/>
                        </a:rPr>
                        <a:t>“She was thinking. I could see, even on short acquaintance, that thinking was always going to be a bother to her.”</a:t>
                      </a:r>
                      <a:endParaRPr lang="en-AU" sz="2800" b="1" kern="1200" dirty="0">
                        <a:solidFill>
                          <a:schemeClr val="lt1"/>
                        </a:solidFill>
                        <a:effectLst/>
                        <a:latin typeface="+mn-lt"/>
                        <a:ea typeface="+mn-ea"/>
                        <a:cs typeface="+mn-cs"/>
                      </a:endParaRPr>
                    </a:p>
                  </a:txBody>
                  <a:tcPr marL="68580" marR="68580" marT="0" marB="0">
                    <a:solidFill>
                      <a:schemeClr val="accent4"/>
                    </a:solidFill>
                  </a:tcPr>
                </a:tc>
                <a:extLst>
                  <a:ext uri="{0D108BD9-81ED-4DB2-BD59-A6C34878D82A}">
                    <a16:rowId xmlns:a16="http://schemas.microsoft.com/office/drawing/2014/main" val="3821075524"/>
                  </a:ext>
                </a:extLst>
              </a:tr>
            </a:tbl>
          </a:graphicData>
        </a:graphic>
      </p:graphicFrame>
      <p:graphicFrame>
        <p:nvGraphicFramePr>
          <p:cNvPr id="9" name="Table 8">
            <a:extLst>
              <a:ext uri="{FF2B5EF4-FFF2-40B4-BE49-F238E27FC236}">
                <a16:creationId xmlns:a16="http://schemas.microsoft.com/office/drawing/2014/main" id="{2170DDB3-4322-45B9-A426-838813124F89}"/>
              </a:ext>
            </a:extLst>
          </p:cNvPr>
          <p:cNvGraphicFramePr>
            <a:graphicFrameLocks noGrp="1"/>
          </p:cNvGraphicFramePr>
          <p:nvPr>
            <p:extLst>
              <p:ext uri="{D42A27DB-BD31-4B8C-83A1-F6EECF244321}">
                <p14:modId xmlns:p14="http://schemas.microsoft.com/office/powerpoint/2010/main" val="2275683551"/>
              </p:ext>
            </p:extLst>
          </p:nvPr>
        </p:nvGraphicFramePr>
        <p:xfrm>
          <a:off x="11723" y="1554480"/>
          <a:ext cx="1946032" cy="5303521"/>
        </p:xfrm>
        <a:graphic>
          <a:graphicData uri="http://schemas.openxmlformats.org/drawingml/2006/table">
            <a:tbl>
              <a:tblPr firstRow="1" bandRow="1">
                <a:tableStyleId>{5C22544A-7EE6-4342-B048-85BDC9FD1C3A}</a:tableStyleId>
              </a:tblPr>
              <a:tblGrid>
                <a:gridCol w="1946032">
                  <a:extLst>
                    <a:ext uri="{9D8B030D-6E8A-4147-A177-3AD203B41FA5}">
                      <a16:colId xmlns:a16="http://schemas.microsoft.com/office/drawing/2014/main" val="1529901115"/>
                    </a:ext>
                  </a:extLst>
                </a:gridCol>
              </a:tblGrid>
              <a:tr h="417533">
                <a:tc>
                  <a:txBody>
                    <a:bodyPr/>
                    <a:lstStyle/>
                    <a:p>
                      <a:r>
                        <a:rPr lang="en-AU" sz="2000" dirty="0"/>
                        <a:t>Success Criteria</a:t>
                      </a:r>
                    </a:p>
                  </a:txBody>
                  <a:tcPr>
                    <a:solidFill>
                      <a:srgbClr val="F77B15"/>
                    </a:solidFill>
                  </a:tcPr>
                </a:tc>
                <a:extLst>
                  <a:ext uri="{0D108BD9-81ED-4DB2-BD59-A6C34878D82A}">
                    <a16:rowId xmlns:a16="http://schemas.microsoft.com/office/drawing/2014/main" val="438604388"/>
                  </a:ext>
                </a:extLst>
              </a:tr>
              <a:tr h="1163426">
                <a:tc>
                  <a:txBody>
                    <a:bodyPr/>
                    <a:lstStyle/>
                    <a:p>
                      <a:r>
                        <a:rPr lang="en-AU" sz="2000" dirty="0"/>
                        <a:t>I </a:t>
                      </a:r>
                      <a:r>
                        <a:rPr lang="en-AU" sz="2000" dirty="0" smtClean="0"/>
                        <a:t>can</a:t>
                      </a:r>
                      <a:r>
                        <a:rPr lang="en-AU" sz="2000" baseline="0" dirty="0" smtClean="0"/>
                        <a:t> identify the most important part of my quote</a:t>
                      </a:r>
                      <a:endParaRPr lang="en-AU" sz="2000" dirty="0"/>
                    </a:p>
                  </a:txBody>
                  <a:tcPr>
                    <a:solidFill>
                      <a:srgbClr val="FFFF00"/>
                    </a:solidFill>
                  </a:tcPr>
                </a:tc>
                <a:extLst>
                  <a:ext uri="{0D108BD9-81ED-4DB2-BD59-A6C34878D82A}">
                    <a16:rowId xmlns:a16="http://schemas.microsoft.com/office/drawing/2014/main" val="2214889484"/>
                  </a:ext>
                </a:extLst>
              </a:tr>
              <a:tr h="1381070">
                <a:tc>
                  <a:txBody>
                    <a:bodyPr/>
                    <a:lstStyle/>
                    <a:p>
                      <a:r>
                        <a:rPr lang="en-AU" sz="2000" dirty="0" smtClean="0"/>
                        <a:t>I can use the formula for embedding quotes</a:t>
                      </a:r>
                      <a:endParaRPr lang="en-AU" sz="2000" dirty="0"/>
                    </a:p>
                  </a:txBody>
                  <a:tcPr>
                    <a:solidFill>
                      <a:srgbClr val="FFFF00"/>
                    </a:solidFill>
                  </a:tcPr>
                </a:tc>
                <a:extLst>
                  <a:ext uri="{0D108BD9-81ED-4DB2-BD59-A6C34878D82A}">
                    <a16:rowId xmlns:a16="http://schemas.microsoft.com/office/drawing/2014/main" val="2229975842"/>
                  </a:ext>
                </a:extLst>
              </a:tr>
              <a:tr h="1178066">
                <a:tc>
                  <a:txBody>
                    <a:bodyPr/>
                    <a:lstStyle/>
                    <a:p>
                      <a:r>
                        <a:rPr lang="en-AU" sz="2000" dirty="0"/>
                        <a:t>I can </a:t>
                      </a:r>
                      <a:r>
                        <a:rPr lang="en-AU" sz="2000" dirty="0" smtClean="0"/>
                        <a:t>embed a short quote into</a:t>
                      </a:r>
                      <a:r>
                        <a:rPr lang="en-AU" sz="2000" baseline="0" dirty="0" smtClean="0"/>
                        <a:t> a sentence</a:t>
                      </a:r>
                      <a:endParaRPr lang="en-AU" sz="2000" dirty="0"/>
                    </a:p>
                  </a:txBody>
                  <a:tcPr>
                    <a:solidFill>
                      <a:srgbClr val="92D050"/>
                    </a:solidFill>
                  </a:tcPr>
                </a:tc>
                <a:extLst>
                  <a:ext uri="{0D108BD9-81ED-4DB2-BD59-A6C34878D82A}">
                    <a16:rowId xmlns:a16="http://schemas.microsoft.com/office/drawing/2014/main" val="835583285"/>
                  </a:ext>
                </a:extLst>
              </a:tr>
              <a:tr h="1163426">
                <a:tc>
                  <a:txBody>
                    <a:bodyPr/>
                    <a:lstStyle/>
                    <a:p>
                      <a:r>
                        <a:rPr lang="en-AU" sz="2000" dirty="0"/>
                        <a:t>I can </a:t>
                      </a:r>
                      <a:r>
                        <a:rPr lang="en-AU" sz="2000" dirty="0" smtClean="0"/>
                        <a:t>analysis</a:t>
                      </a:r>
                      <a:r>
                        <a:rPr lang="en-AU" sz="2000" baseline="0" dirty="0" smtClean="0"/>
                        <a:t> the quote in the same sentence.</a:t>
                      </a:r>
                      <a:endParaRPr lang="en-AU" sz="2000" dirty="0"/>
                    </a:p>
                  </a:txBody>
                  <a:tcPr>
                    <a:solidFill>
                      <a:srgbClr val="92D050"/>
                    </a:solidFill>
                  </a:tcPr>
                </a:tc>
                <a:extLst>
                  <a:ext uri="{0D108BD9-81ED-4DB2-BD59-A6C34878D82A}">
                    <a16:rowId xmlns:a16="http://schemas.microsoft.com/office/drawing/2014/main" val="3081174515"/>
                  </a:ext>
                </a:extLst>
              </a:tr>
            </a:tbl>
          </a:graphicData>
        </a:graphic>
      </p:graphicFrame>
    </p:spTree>
    <p:extLst>
      <p:ext uri="{BB962C8B-B14F-4D97-AF65-F5344CB8AC3E}">
        <p14:creationId xmlns:p14="http://schemas.microsoft.com/office/powerpoint/2010/main" val="109323977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8056BC-B744-4648-AB3F-308DEE4EBD84}"/>
              </a:ext>
            </a:extLst>
          </p:cNvPr>
          <p:cNvSpPr>
            <a:spLocks noGrp="1"/>
          </p:cNvSpPr>
          <p:nvPr>
            <p:ph type="title"/>
          </p:nvPr>
        </p:nvSpPr>
        <p:spPr>
          <a:xfrm>
            <a:off x="3118338" y="555088"/>
            <a:ext cx="7425397" cy="999392"/>
          </a:xfrm>
        </p:spPr>
        <p:txBody>
          <a:bodyPr/>
          <a:lstStyle/>
          <a:p>
            <a:r>
              <a:rPr lang="en-AU" dirty="0" smtClean="0"/>
              <a:t>What is important?</a:t>
            </a:r>
            <a:endParaRPr lang="en-AU" dirty="0"/>
          </a:p>
        </p:txBody>
      </p:sp>
      <p:sp>
        <p:nvSpPr>
          <p:cNvPr id="3" name="Content Placeholder 2">
            <a:extLst>
              <a:ext uri="{FF2B5EF4-FFF2-40B4-BE49-F238E27FC236}">
                <a16:creationId xmlns:a16="http://schemas.microsoft.com/office/drawing/2014/main" id="{9D578D22-A381-4859-86FF-72B31CF4A541}"/>
              </a:ext>
            </a:extLst>
          </p:cNvPr>
          <p:cNvSpPr>
            <a:spLocks noGrp="1"/>
          </p:cNvSpPr>
          <p:nvPr>
            <p:ph idx="1"/>
          </p:nvPr>
        </p:nvSpPr>
        <p:spPr>
          <a:xfrm>
            <a:off x="2244131" y="3755571"/>
            <a:ext cx="9213578" cy="2617519"/>
          </a:xfrm>
        </p:spPr>
        <p:txBody>
          <a:bodyPr>
            <a:normAutofit/>
          </a:bodyPr>
          <a:lstStyle/>
          <a:p>
            <a:r>
              <a:rPr lang="en-AU" dirty="0" smtClean="0">
                <a:solidFill>
                  <a:schemeClr val="tx1"/>
                </a:solidFill>
              </a:rPr>
              <a:t>Why may I have chosen this quote to talk about hard-boiled crime fiction?</a:t>
            </a:r>
          </a:p>
          <a:p>
            <a:pPr lvl="1"/>
            <a:r>
              <a:rPr lang="en-AU" dirty="0" smtClean="0">
                <a:solidFill>
                  <a:schemeClr val="tx1"/>
                </a:solidFill>
              </a:rPr>
              <a:t>To discuss the portrayal of gender roles </a:t>
            </a:r>
          </a:p>
          <a:p>
            <a:r>
              <a:rPr lang="en-AU" dirty="0" smtClean="0">
                <a:solidFill>
                  <a:schemeClr val="tx1"/>
                </a:solidFill>
              </a:rPr>
              <a:t>Which words demonstrate the reason most strongly? </a:t>
            </a:r>
            <a:endParaRPr lang="en-AU" dirty="0">
              <a:solidFill>
                <a:schemeClr val="tx1"/>
              </a:solidFill>
            </a:endParaRPr>
          </a:p>
        </p:txBody>
      </p:sp>
      <p:graphicFrame>
        <p:nvGraphicFramePr>
          <p:cNvPr id="6" name="Table 5">
            <a:extLst>
              <a:ext uri="{FF2B5EF4-FFF2-40B4-BE49-F238E27FC236}">
                <a16:creationId xmlns:a16="http://schemas.microsoft.com/office/drawing/2014/main" id="{EAB08AA4-98F3-4569-B79D-96E000ABA983}"/>
              </a:ext>
            </a:extLst>
          </p:cNvPr>
          <p:cNvGraphicFramePr>
            <a:graphicFrameLocks noGrp="1"/>
          </p:cNvGraphicFramePr>
          <p:nvPr>
            <p:extLst/>
          </p:nvPr>
        </p:nvGraphicFramePr>
        <p:xfrm>
          <a:off x="0" y="0"/>
          <a:ext cx="1946031" cy="1554480"/>
        </p:xfrm>
        <a:graphic>
          <a:graphicData uri="http://schemas.openxmlformats.org/drawingml/2006/table">
            <a:tbl>
              <a:tblPr firstRow="1" bandRow="1">
                <a:tableStyleId>{5C22544A-7EE6-4342-B048-85BDC9FD1C3A}</a:tableStyleId>
              </a:tblPr>
              <a:tblGrid>
                <a:gridCol w="1946031">
                  <a:extLst>
                    <a:ext uri="{9D8B030D-6E8A-4147-A177-3AD203B41FA5}">
                      <a16:colId xmlns:a16="http://schemas.microsoft.com/office/drawing/2014/main" val="1529901115"/>
                    </a:ext>
                  </a:extLst>
                </a:gridCol>
              </a:tblGrid>
              <a:tr h="370840">
                <a:tc>
                  <a:txBody>
                    <a:bodyPr/>
                    <a:lstStyle/>
                    <a:p>
                      <a:r>
                        <a:rPr lang="en-AU" sz="1800" dirty="0"/>
                        <a:t>Learning Intention</a:t>
                      </a:r>
                    </a:p>
                  </a:txBody>
                  <a:tcPr>
                    <a:solidFill>
                      <a:srgbClr val="F77B15"/>
                    </a:solidFill>
                  </a:tcPr>
                </a:tc>
                <a:extLst>
                  <a:ext uri="{0D108BD9-81ED-4DB2-BD59-A6C34878D82A}">
                    <a16:rowId xmlns:a16="http://schemas.microsoft.com/office/drawing/2014/main" val="438604388"/>
                  </a:ext>
                </a:extLst>
              </a:tr>
              <a:tr h="370840">
                <a:tc>
                  <a:txBody>
                    <a:bodyPr/>
                    <a:lstStyle/>
                    <a:p>
                      <a:r>
                        <a:rPr lang="en-AU" sz="1800" dirty="0" smtClean="0"/>
                        <a:t>To be able to embed a quote in an</a:t>
                      </a:r>
                      <a:r>
                        <a:rPr lang="en-AU" sz="1800" baseline="0" dirty="0" smtClean="0"/>
                        <a:t> essay sentence</a:t>
                      </a:r>
                      <a:endParaRPr lang="en-AU" sz="1800" dirty="0"/>
                    </a:p>
                  </a:txBody>
                  <a:tcPr>
                    <a:solidFill>
                      <a:schemeClr val="accent3">
                        <a:lumMod val="40000"/>
                        <a:lumOff val="60000"/>
                      </a:schemeClr>
                    </a:solidFill>
                  </a:tcPr>
                </a:tc>
                <a:extLst>
                  <a:ext uri="{0D108BD9-81ED-4DB2-BD59-A6C34878D82A}">
                    <a16:rowId xmlns:a16="http://schemas.microsoft.com/office/drawing/2014/main" val="2214889484"/>
                  </a:ext>
                </a:extLst>
              </a:tr>
            </a:tbl>
          </a:graphicData>
        </a:graphic>
      </p:graphicFrame>
      <p:graphicFrame>
        <p:nvGraphicFramePr>
          <p:cNvPr id="4" name="Table 3"/>
          <p:cNvGraphicFramePr>
            <a:graphicFrameLocks noGrp="1"/>
          </p:cNvGraphicFramePr>
          <p:nvPr/>
        </p:nvGraphicFramePr>
        <p:xfrm>
          <a:off x="2104640" y="1644014"/>
          <a:ext cx="9625806" cy="1029913"/>
        </p:xfrm>
        <a:graphic>
          <a:graphicData uri="http://schemas.openxmlformats.org/drawingml/2006/table">
            <a:tbl>
              <a:tblPr firstRow="1" firstCol="1" bandRow="1">
                <a:tableStyleId>{5C22544A-7EE6-4342-B048-85BDC9FD1C3A}</a:tableStyleId>
              </a:tblPr>
              <a:tblGrid>
                <a:gridCol w="9625806">
                  <a:extLst>
                    <a:ext uri="{9D8B030D-6E8A-4147-A177-3AD203B41FA5}">
                      <a16:colId xmlns:a16="http://schemas.microsoft.com/office/drawing/2014/main" val="3201723763"/>
                    </a:ext>
                  </a:extLst>
                </a:gridCol>
              </a:tblGrid>
              <a:tr h="1029913">
                <a:tc>
                  <a:txBody>
                    <a:bodyPr/>
                    <a:lstStyle/>
                    <a:p>
                      <a:r>
                        <a:rPr lang="en-AU" sz="2800" b="1" kern="1200" dirty="0" smtClean="0">
                          <a:solidFill>
                            <a:schemeClr val="lt1"/>
                          </a:solidFill>
                          <a:effectLst/>
                          <a:latin typeface="+mn-lt"/>
                          <a:ea typeface="+mn-ea"/>
                          <a:cs typeface="+mn-cs"/>
                        </a:rPr>
                        <a:t>“She was thinking. I could see, even on short acquaintance, that thinking was always going to be a bother to her.”</a:t>
                      </a:r>
                      <a:endParaRPr lang="en-AU" sz="2800" b="1" kern="1200" dirty="0">
                        <a:solidFill>
                          <a:schemeClr val="lt1"/>
                        </a:solidFill>
                        <a:effectLst/>
                        <a:latin typeface="+mn-lt"/>
                        <a:ea typeface="+mn-ea"/>
                        <a:cs typeface="+mn-cs"/>
                      </a:endParaRPr>
                    </a:p>
                  </a:txBody>
                  <a:tcPr marL="68580" marR="68580" marT="0" marB="0">
                    <a:solidFill>
                      <a:schemeClr val="accent4"/>
                    </a:solidFill>
                  </a:tcPr>
                </a:tc>
                <a:extLst>
                  <a:ext uri="{0D108BD9-81ED-4DB2-BD59-A6C34878D82A}">
                    <a16:rowId xmlns:a16="http://schemas.microsoft.com/office/drawing/2014/main" val="3821075524"/>
                  </a:ext>
                </a:extLst>
              </a:tr>
            </a:tbl>
          </a:graphicData>
        </a:graphic>
      </p:graphicFrame>
      <p:graphicFrame>
        <p:nvGraphicFramePr>
          <p:cNvPr id="8" name="Table 7"/>
          <p:cNvGraphicFramePr>
            <a:graphicFrameLocks noGrp="1"/>
          </p:cNvGraphicFramePr>
          <p:nvPr>
            <p:extLst>
              <p:ext uri="{D42A27DB-BD31-4B8C-83A1-F6EECF244321}">
                <p14:modId xmlns:p14="http://schemas.microsoft.com/office/powerpoint/2010/main" val="549356291"/>
              </p:ext>
            </p:extLst>
          </p:nvPr>
        </p:nvGraphicFramePr>
        <p:xfrm>
          <a:off x="2104640" y="1644014"/>
          <a:ext cx="9625806" cy="1029913"/>
        </p:xfrm>
        <a:graphic>
          <a:graphicData uri="http://schemas.openxmlformats.org/drawingml/2006/table">
            <a:tbl>
              <a:tblPr firstRow="1" firstCol="1" bandRow="1">
                <a:tableStyleId>{5C22544A-7EE6-4342-B048-85BDC9FD1C3A}</a:tableStyleId>
              </a:tblPr>
              <a:tblGrid>
                <a:gridCol w="9625806">
                  <a:extLst>
                    <a:ext uri="{9D8B030D-6E8A-4147-A177-3AD203B41FA5}">
                      <a16:colId xmlns:a16="http://schemas.microsoft.com/office/drawing/2014/main" val="3201723763"/>
                    </a:ext>
                  </a:extLst>
                </a:gridCol>
              </a:tblGrid>
              <a:tr h="1029913">
                <a:tc>
                  <a:txBody>
                    <a:bodyPr/>
                    <a:lstStyle/>
                    <a:p>
                      <a:r>
                        <a:rPr lang="en-AU" sz="2800" b="1" kern="1200" dirty="0" smtClean="0">
                          <a:solidFill>
                            <a:schemeClr val="lt1"/>
                          </a:solidFill>
                          <a:effectLst/>
                          <a:latin typeface="+mn-lt"/>
                          <a:ea typeface="+mn-ea"/>
                          <a:cs typeface="+mn-cs"/>
                        </a:rPr>
                        <a:t>“She was thinking. I could see, even on short acquaintance, that </a:t>
                      </a:r>
                      <a:r>
                        <a:rPr lang="en-AU" sz="2800" b="1" kern="1200" dirty="0" smtClean="0">
                          <a:solidFill>
                            <a:srgbClr val="FF99FF"/>
                          </a:solidFill>
                          <a:effectLst/>
                          <a:latin typeface="+mn-lt"/>
                          <a:ea typeface="+mn-ea"/>
                          <a:cs typeface="+mn-cs"/>
                        </a:rPr>
                        <a:t>thinking was always going to be a bother to her</a:t>
                      </a:r>
                      <a:r>
                        <a:rPr lang="en-AU" sz="2800" b="1" kern="1200" dirty="0" smtClean="0">
                          <a:solidFill>
                            <a:schemeClr val="lt1"/>
                          </a:solidFill>
                          <a:effectLst/>
                          <a:latin typeface="+mn-lt"/>
                          <a:ea typeface="+mn-ea"/>
                          <a:cs typeface="+mn-cs"/>
                        </a:rPr>
                        <a:t>.”</a:t>
                      </a:r>
                      <a:endParaRPr lang="en-AU" sz="2800" b="1" kern="1200" dirty="0">
                        <a:solidFill>
                          <a:schemeClr val="lt1"/>
                        </a:solidFill>
                        <a:effectLst/>
                        <a:latin typeface="+mn-lt"/>
                        <a:ea typeface="+mn-ea"/>
                        <a:cs typeface="+mn-cs"/>
                      </a:endParaRPr>
                    </a:p>
                  </a:txBody>
                  <a:tcPr marL="68580" marR="68580" marT="0" marB="0">
                    <a:solidFill>
                      <a:schemeClr val="accent4"/>
                    </a:solidFill>
                  </a:tcPr>
                </a:tc>
                <a:extLst>
                  <a:ext uri="{0D108BD9-81ED-4DB2-BD59-A6C34878D82A}">
                    <a16:rowId xmlns:a16="http://schemas.microsoft.com/office/drawing/2014/main" val="3821075524"/>
                  </a:ext>
                </a:extLst>
              </a:tr>
            </a:tbl>
          </a:graphicData>
        </a:graphic>
      </p:graphicFrame>
      <p:graphicFrame>
        <p:nvGraphicFramePr>
          <p:cNvPr id="9" name="Table 8">
            <a:extLst>
              <a:ext uri="{FF2B5EF4-FFF2-40B4-BE49-F238E27FC236}">
                <a16:creationId xmlns:a16="http://schemas.microsoft.com/office/drawing/2014/main" id="{2170DDB3-4322-45B9-A426-838813124F89}"/>
              </a:ext>
            </a:extLst>
          </p:cNvPr>
          <p:cNvGraphicFramePr>
            <a:graphicFrameLocks noGrp="1"/>
          </p:cNvGraphicFramePr>
          <p:nvPr>
            <p:extLst>
              <p:ext uri="{D42A27DB-BD31-4B8C-83A1-F6EECF244321}">
                <p14:modId xmlns:p14="http://schemas.microsoft.com/office/powerpoint/2010/main" val="2275683551"/>
              </p:ext>
            </p:extLst>
          </p:nvPr>
        </p:nvGraphicFramePr>
        <p:xfrm>
          <a:off x="11723" y="1554480"/>
          <a:ext cx="1946032" cy="5303521"/>
        </p:xfrm>
        <a:graphic>
          <a:graphicData uri="http://schemas.openxmlformats.org/drawingml/2006/table">
            <a:tbl>
              <a:tblPr firstRow="1" bandRow="1">
                <a:tableStyleId>{5C22544A-7EE6-4342-B048-85BDC9FD1C3A}</a:tableStyleId>
              </a:tblPr>
              <a:tblGrid>
                <a:gridCol w="1946032">
                  <a:extLst>
                    <a:ext uri="{9D8B030D-6E8A-4147-A177-3AD203B41FA5}">
                      <a16:colId xmlns:a16="http://schemas.microsoft.com/office/drawing/2014/main" val="1529901115"/>
                    </a:ext>
                  </a:extLst>
                </a:gridCol>
              </a:tblGrid>
              <a:tr h="417533">
                <a:tc>
                  <a:txBody>
                    <a:bodyPr/>
                    <a:lstStyle/>
                    <a:p>
                      <a:r>
                        <a:rPr lang="en-AU" sz="2000" dirty="0"/>
                        <a:t>Success Criteria</a:t>
                      </a:r>
                    </a:p>
                  </a:txBody>
                  <a:tcPr>
                    <a:solidFill>
                      <a:srgbClr val="F77B15"/>
                    </a:solidFill>
                  </a:tcPr>
                </a:tc>
                <a:extLst>
                  <a:ext uri="{0D108BD9-81ED-4DB2-BD59-A6C34878D82A}">
                    <a16:rowId xmlns:a16="http://schemas.microsoft.com/office/drawing/2014/main" val="438604388"/>
                  </a:ext>
                </a:extLst>
              </a:tr>
              <a:tr h="1163426">
                <a:tc>
                  <a:txBody>
                    <a:bodyPr/>
                    <a:lstStyle/>
                    <a:p>
                      <a:r>
                        <a:rPr lang="en-AU" sz="2000" dirty="0"/>
                        <a:t>I </a:t>
                      </a:r>
                      <a:r>
                        <a:rPr lang="en-AU" sz="2000" dirty="0" smtClean="0"/>
                        <a:t>can</a:t>
                      </a:r>
                      <a:r>
                        <a:rPr lang="en-AU" sz="2000" baseline="0" dirty="0" smtClean="0"/>
                        <a:t> identify the most important part of my quote</a:t>
                      </a:r>
                      <a:endParaRPr lang="en-AU" sz="2000" dirty="0"/>
                    </a:p>
                  </a:txBody>
                  <a:tcPr>
                    <a:solidFill>
                      <a:srgbClr val="FFFF00"/>
                    </a:solidFill>
                  </a:tcPr>
                </a:tc>
                <a:extLst>
                  <a:ext uri="{0D108BD9-81ED-4DB2-BD59-A6C34878D82A}">
                    <a16:rowId xmlns:a16="http://schemas.microsoft.com/office/drawing/2014/main" val="2214889484"/>
                  </a:ext>
                </a:extLst>
              </a:tr>
              <a:tr h="1381070">
                <a:tc>
                  <a:txBody>
                    <a:bodyPr/>
                    <a:lstStyle/>
                    <a:p>
                      <a:r>
                        <a:rPr lang="en-AU" sz="2000" dirty="0" smtClean="0"/>
                        <a:t>I can use the formula for embedding quotes</a:t>
                      </a:r>
                      <a:endParaRPr lang="en-AU" sz="2000" dirty="0"/>
                    </a:p>
                  </a:txBody>
                  <a:tcPr>
                    <a:solidFill>
                      <a:srgbClr val="FFFF00"/>
                    </a:solidFill>
                  </a:tcPr>
                </a:tc>
                <a:extLst>
                  <a:ext uri="{0D108BD9-81ED-4DB2-BD59-A6C34878D82A}">
                    <a16:rowId xmlns:a16="http://schemas.microsoft.com/office/drawing/2014/main" val="2229975842"/>
                  </a:ext>
                </a:extLst>
              </a:tr>
              <a:tr h="1178066">
                <a:tc>
                  <a:txBody>
                    <a:bodyPr/>
                    <a:lstStyle/>
                    <a:p>
                      <a:r>
                        <a:rPr lang="en-AU" sz="2000" dirty="0"/>
                        <a:t>I can </a:t>
                      </a:r>
                      <a:r>
                        <a:rPr lang="en-AU" sz="2000" dirty="0" smtClean="0"/>
                        <a:t>embed a short quote into</a:t>
                      </a:r>
                      <a:r>
                        <a:rPr lang="en-AU" sz="2000" baseline="0" dirty="0" smtClean="0"/>
                        <a:t> a sentence</a:t>
                      </a:r>
                      <a:endParaRPr lang="en-AU" sz="2000" dirty="0"/>
                    </a:p>
                  </a:txBody>
                  <a:tcPr>
                    <a:solidFill>
                      <a:srgbClr val="92D050"/>
                    </a:solidFill>
                  </a:tcPr>
                </a:tc>
                <a:extLst>
                  <a:ext uri="{0D108BD9-81ED-4DB2-BD59-A6C34878D82A}">
                    <a16:rowId xmlns:a16="http://schemas.microsoft.com/office/drawing/2014/main" val="835583285"/>
                  </a:ext>
                </a:extLst>
              </a:tr>
              <a:tr h="1163426">
                <a:tc>
                  <a:txBody>
                    <a:bodyPr/>
                    <a:lstStyle/>
                    <a:p>
                      <a:r>
                        <a:rPr lang="en-AU" sz="2000" dirty="0"/>
                        <a:t>I can </a:t>
                      </a:r>
                      <a:r>
                        <a:rPr lang="en-AU" sz="2000" dirty="0" smtClean="0"/>
                        <a:t>analysis</a:t>
                      </a:r>
                      <a:r>
                        <a:rPr lang="en-AU" sz="2000" baseline="0" dirty="0" smtClean="0"/>
                        <a:t> the quote in the same sentence.</a:t>
                      </a:r>
                      <a:endParaRPr lang="en-AU" sz="2000" dirty="0"/>
                    </a:p>
                  </a:txBody>
                  <a:tcPr>
                    <a:solidFill>
                      <a:srgbClr val="92D050"/>
                    </a:solidFill>
                  </a:tcPr>
                </a:tc>
                <a:extLst>
                  <a:ext uri="{0D108BD9-81ED-4DB2-BD59-A6C34878D82A}">
                    <a16:rowId xmlns:a16="http://schemas.microsoft.com/office/drawing/2014/main" val="3081174515"/>
                  </a:ext>
                </a:extLst>
              </a:tr>
            </a:tbl>
          </a:graphicData>
        </a:graphic>
      </p:graphicFrame>
    </p:spTree>
    <p:extLst>
      <p:ext uri="{BB962C8B-B14F-4D97-AF65-F5344CB8AC3E}">
        <p14:creationId xmlns:p14="http://schemas.microsoft.com/office/powerpoint/2010/main" val="231272106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8056BC-B744-4648-AB3F-308DEE4EBD84}"/>
              </a:ext>
            </a:extLst>
          </p:cNvPr>
          <p:cNvSpPr>
            <a:spLocks noGrp="1"/>
          </p:cNvSpPr>
          <p:nvPr>
            <p:ph type="title"/>
          </p:nvPr>
        </p:nvSpPr>
        <p:spPr>
          <a:xfrm>
            <a:off x="3118338" y="555088"/>
            <a:ext cx="7425397" cy="999392"/>
          </a:xfrm>
        </p:spPr>
        <p:txBody>
          <a:bodyPr/>
          <a:lstStyle/>
          <a:p>
            <a:r>
              <a:rPr lang="en-AU" dirty="0" smtClean="0"/>
              <a:t>What is important?</a:t>
            </a:r>
            <a:endParaRPr lang="en-AU" dirty="0"/>
          </a:p>
        </p:txBody>
      </p:sp>
      <p:sp>
        <p:nvSpPr>
          <p:cNvPr id="3" name="Content Placeholder 2">
            <a:extLst>
              <a:ext uri="{FF2B5EF4-FFF2-40B4-BE49-F238E27FC236}">
                <a16:creationId xmlns:a16="http://schemas.microsoft.com/office/drawing/2014/main" id="{9D578D22-A381-4859-86FF-72B31CF4A541}"/>
              </a:ext>
            </a:extLst>
          </p:cNvPr>
          <p:cNvSpPr>
            <a:spLocks noGrp="1"/>
          </p:cNvSpPr>
          <p:nvPr>
            <p:ph idx="1"/>
          </p:nvPr>
        </p:nvSpPr>
        <p:spPr>
          <a:xfrm>
            <a:off x="2244131" y="3755571"/>
            <a:ext cx="9213578" cy="2617519"/>
          </a:xfrm>
        </p:spPr>
        <p:txBody>
          <a:bodyPr>
            <a:normAutofit/>
          </a:bodyPr>
          <a:lstStyle/>
          <a:p>
            <a:r>
              <a:rPr lang="en-AU" dirty="0" smtClean="0">
                <a:solidFill>
                  <a:schemeClr val="tx1"/>
                </a:solidFill>
              </a:rPr>
              <a:t>Why may I have chosen this quote to talk </a:t>
            </a:r>
            <a:r>
              <a:rPr lang="en-AU" dirty="0">
                <a:solidFill>
                  <a:schemeClr val="tx1"/>
                </a:solidFill>
              </a:rPr>
              <a:t>about </a:t>
            </a:r>
            <a:r>
              <a:rPr lang="en-AU" dirty="0" smtClean="0">
                <a:solidFill>
                  <a:schemeClr val="tx1"/>
                </a:solidFill>
              </a:rPr>
              <a:t>classic </a:t>
            </a:r>
            <a:r>
              <a:rPr lang="en-AU" dirty="0" smtClean="0">
                <a:solidFill>
                  <a:schemeClr val="tx1"/>
                </a:solidFill>
              </a:rPr>
              <a:t>crime fiction?</a:t>
            </a:r>
          </a:p>
          <a:p>
            <a:r>
              <a:rPr lang="en-AU" dirty="0" smtClean="0">
                <a:solidFill>
                  <a:schemeClr val="tx1"/>
                </a:solidFill>
              </a:rPr>
              <a:t>Which words demonstrate the reason most strongly? </a:t>
            </a:r>
            <a:endParaRPr lang="en-AU" dirty="0">
              <a:solidFill>
                <a:schemeClr val="tx1"/>
              </a:solidFill>
            </a:endParaRPr>
          </a:p>
        </p:txBody>
      </p:sp>
      <p:graphicFrame>
        <p:nvGraphicFramePr>
          <p:cNvPr id="6" name="Table 5">
            <a:extLst>
              <a:ext uri="{FF2B5EF4-FFF2-40B4-BE49-F238E27FC236}">
                <a16:creationId xmlns:a16="http://schemas.microsoft.com/office/drawing/2014/main" id="{EAB08AA4-98F3-4569-B79D-96E000ABA983}"/>
              </a:ext>
            </a:extLst>
          </p:cNvPr>
          <p:cNvGraphicFramePr>
            <a:graphicFrameLocks noGrp="1"/>
          </p:cNvGraphicFramePr>
          <p:nvPr>
            <p:extLst/>
          </p:nvPr>
        </p:nvGraphicFramePr>
        <p:xfrm>
          <a:off x="0" y="0"/>
          <a:ext cx="1946031" cy="1554480"/>
        </p:xfrm>
        <a:graphic>
          <a:graphicData uri="http://schemas.openxmlformats.org/drawingml/2006/table">
            <a:tbl>
              <a:tblPr firstRow="1" bandRow="1">
                <a:tableStyleId>{5C22544A-7EE6-4342-B048-85BDC9FD1C3A}</a:tableStyleId>
              </a:tblPr>
              <a:tblGrid>
                <a:gridCol w="1946031">
                  <a:extLst>
                    <a:ext uri="{9D8B030D-6E8A-4147-A177-3AD203B41FA5}">
                      <a16:colId xmlns:a16="http://schemas.microsoft.com/office/drawing/2014/main" val="1529901115"/>
                    </a:ext>
                  </a:extLst>
                </a:gridCol>
              </a:tblGrid>
              <a:tr h="370840">
                <a:tc>
                  <a:txBody>
                    <a:bodyPr/>
                    <a:lstStyle/>
                    <a:p>
                      <a:r>
                        <a:rPr lang="en-AU" sz="1800" dirty="0"/>
                        <a:t>Learning Intention</a:t>
                      </a:r>
                    </a:p>
                  </a:txBody>
                  <a:tcPr>
                    <a:solidFill>
                      <a:srgbClr val="F77B15"/>
                    </a:solidFill>
                  </a:tcPr>
                </a:tc>
                <a:extLst>
                  <a:ext uri="{0D108BD9-81ED-4DB2-BD59-A6C34878D82A}">
                    <a16:rowId xmlns:a16="http://schemas.microsoft.com/office/drawing/2014/main" val="438604388"/>
                  </a:ext>
                </a:extLst>
              </a:tr>
              <a:tr h="370840">
                <a:tc>
                  <a:txBody>
                    <a:bodyPr/>
                    <a:lstStyle/>
                    <a:p>
                      <a:r>
                        <a:rPr lang="en-AU" sz="1800" dirty="0" smtClean="0"/>
                        <a:t>To be able to embed a quote in an</a:t>
                      </a:r>
                      <a:r>
                        <a:rPr lang="en-AU" sz="1800" baseline="0" dirty="0" smtClean="0"/>
                        <a:t> essay sentence</a:t>
                      </a:r>
                      <a:endParaRPr lang="en-AU" sz="1800" dirty="0"/>
                    </a:p>
                  </a:txBody>
                  <a:tcPr>
                    <a:solidFill>
                      <a:schemeClr val="accent3">
                        <a:lumMod val="40000"/>
                        <a:lumOff val="60000"/>
                      </a:schemeClr>
                    </a:solidFill>
                  </a:tcPr>
                </a:tc>
                <a:extLst>
                  <a:ext uri="{0D108BD9-81ED-4DB2-BD59-A6C34878D82A}">
                    <a16:rowId xmlns:a16="http://schemas.microsoft.com/office/drawing/2014/main" val="2214889484"/>
                  </a:ext>
                </a:extLst>
              </a:tr>
            </a:tbl>
          </a:graphicData>
        </a:graphic>
      </p:graphicFrame>
      <p:graphicFrame>
        <p:nvGraphicFramePr>
          <p:cNvPr id="4" name="Table 3"/>
          <p:cNvGraphicFramePr>
            <a:graphicFrameLocks noGrp="1"/>
          </p:cNvGraphicFramePr>
          <p:nvPr>
            <p:extLst>
              <p:ext uri="{D42A27DB-BD31-4B8C-83A1-F6EECF244321}">
                <p14:modId xmlns:p14="http://schemas.microsoft.com/office/powerpoint/2010/main" val="2891657080"/>
              </p:ext>
            </p:extLst>
          </p:nvPr>
        </p:nvGraphicFramePr>
        <p:xfrm>
          <a:off x="2104640" y="1644014"/>
          <a:ext cx="9625806" cy="919077"/>
        </p:xfrm>
        <a:graphic>
          <a:graphicData uri="http://schemas.openxmlformats.org/drawingml/2006/table">
            <a:tbl>
              <a:tblPr firstRow="1" firstCol="1" bandRow="1">
                <a:tableStyleId>{5C22544A-7EE6-4342-B048-85BDC9FD1C3A}</a:tableStyleId>
              </a:tblPr>
              <a:tblGrid>
                <a:gridCol w="9625806">
                  <a:extLst>
                    <a:ext uri="{9D8B030D-6E8A-4147-A177-3AD203B41FA5}">
                      <a16:colId xmlns:a16="http://schemas.microsoft.com/office/drawing/2014/main" val="3201723763"/>
                    </a:ext>
                  </a:extLst>
                </a:gridCol>
              </a:tblGrid>
              <a:tr h="919077">
                <a:tc>
                  <a:txBody>
                    <a:bodyPr/>
                    <a:lstStyle/>
                    <a:p>
                      <a:r>
                        <a:rPr lang="en-AU" sz="2400" b="1" i="0" u="none" strike="noStrike" kern="1200" baseline="0" dirty="0" smtClean="0">
                          <a:solidFill>
                            <a:schemeClr val="lt1"/>
                          </a:solidFill>
                          <a:latin typeface="+mn-lt"/>
                          <a:ea typeface="+mn-ea"/>
                          <a:cs typeface="+mn-cs"/>
                        </a:rPr>
                        <a:t>“From what I have already said, you must know that I have ways of learning about the matter — ways you could never have dreamed of.”</a:t>
                      </a:r>
                      <a:endParaRPr lang="en-AU" sz="2400" b="1" kern="1200" dirty="0">
                        <a:solidFill>
                          <a:schemeClr val="lt1"/>
                        </a:solidFill>
                        <a:effectLst/>
                        <a:latin typeface="+mn-lt"/>
                        <a:ea typeface="+mn-ea"/>
                        <a:cs typeface="+mn-cs"/>
                      </a:endParaRPr>
                    </a:p>
                  </a:txBody>
                  <a:tcPr marL="68580" marR="68580" marT="0" marB="0">
                    <a:solidFill>
                      <a:schemeClr val="accent4"/>
                    </a:solidFill>
                  </a:tcPr>
                </a:tc>
                <a:extLst>
                  <a:ext uri="{0D108BD9-81ED-4DB2-BD59-A6C34878D82A}">
                    <a16:rowId xmlns:a16="http://schemas.microsoft.com/office/drawing/2014/main" val="3821075524"/>
                  </a:ext>
                </a:extLst>
              </a:tr>
            </a:tbl>
          </a:graphicData>
        </a:graphic>
      </p:graphicFrame>
      <p:graphicFrame>
        <p:nvGraphicFramePr>
          <p:cNvPr id="10" name="Table 9">
            <a:extLst>
              <a:ext uri="{FF2B5EF4-FFF2-40B4-BE49-F238E27FC236}">
                <a16:creationId xmlns:a16="http://schemas.microsoft.com/office/drawing/2014/main" id="{2170DDB3-4322-45B9-A426-838813124F89}"/>
              </a:ext>
            </a:extLst>
          </p:cNvPr>
          <p:cNvGraphicFramePr>
            <a:graphicFrameLocks noGrp="1"/>
          </p:cNvGraphicFramePr>
          <p:nvPr>
            <p:extLst>
              <p:ext uri="{D42A27DB-BD31-4B8C-83A1-F6EECF244321}">
                <p14:modId xmlns:p14="http://schemas.microsoft.com/office/powerpoint/2010/main" val="2275683551"/>
              </p:ext>
            </p:extLst>
          </p:nvPr>
        </p:nvGraphicFramePr>
        <p:xfrm>
          <a:off x="11723" y="1554480"/>
          <a:ext cx="1946032" cy="5303521"/>
        </p:xfrm>
        <a:graphic>
          <a:graphicData uri="http://schemas.openxmlformats.org/drawingml/2006/table">
            <a:tbl>
              <a:tblPr firstRow="1" bandRow="1">
                <a:tableStyleId>{5C22544A-7EE6-4342-B048-85BDC9FD1C3A}</a:tableStyleId>
              </a:tblPr>
              <a:tblGrid>
                <a:gridCol w="1946032">
                  <a:extLst>
                    <a:ext uri="{9D8B030D-6E8A-4147-A177-3AD203B41FA5}">
                      <a16:colId xmlns:a16="http://schemas.microsoft.com/office/drawing/2014/main" val="1529901115"/>
                    </a:ext>
                  </a:extLst>
                </a:gridCol>
              </a:tblGrid>
              <a:tr h="417533">
                <a:tc>
                  <a:txBody>
                    <a:bodyPr/>
                    <a:lstStyle/>
                    <a:p>
                      <a:r>
                        <a:rPr lang="en-AU" sz="2000" dirty="0"/>
                        <a:t>Success Criteria</a:t>
                      </a:r>
                    </a:p>
                  </a:txBody>
                  <a:tcPr>
                    <a:solidFill>
                      <a:srgbClr val="F77B15"/>
                    </a:solidFill>
                  </a:tcPr>
                </a:tc>
                <a:extLst>
                  <a:ext uri="{0D108BD9-81ED-4DB2-BD59-A6C34878D82A}">
                    <a16:rowId xmlns:a16="http://schemas.microsoft.com/office/drawing/2014/main" val="438604388"/>
                  </a:ext>
                </a:extLst>
              </a:tr>
              <a:tr h="1163426">
                <a:tc>
                  <a:txBody>
                    <a:bodyPr/>
                    <a:lstStyle/>
                    <a:p>
                      <a:r>
                        <a:rPr lang="en-AU" sz="2000" dirty="0"/>
                        <a:t>I </a:t>
                      </a:r>
                      <a:r>
                        <a:rPr lang="en-AU" sz="2000" dirty="0" smtClean="0"/>
                        <a:t>can</a:t>
                      </a:r>
                      <a:r>
                        <a:rPr lang="en-AU" sz="2000" baseline="0" dirty="0" smtClean="0"/>
                        <a:t> identify the most important part of my quote</a:t>
                      </a:r>
                      <a:endParaRPr lang="en-AU" sz="2000" dirty="0"/>
                    </a:p>
                  </a:txBody>
                  <a:tcPr>
                    <a:solidFill>
                      <a:srgbClr val="FFFF00"/>
                    </a:solidFill>
                  </a:tcPr>
                </a:tc>
                <a:extLst>
                  <a:ext uri="{0D108BD9-81ED-4DB2-BD59-A6C34878D82A}">
                    <a16:rowId xmlns:a16="http://schemas.microsoft.com/office/drawing/2014/main" val="2214889484"/>
                  </a:ext>
                </a:extLst>
              </a:tr>
              <a:tr h="1381070">
                <a:tc>
                  <a:txBody>
                    <a:bodyPr/>
                    <a:lstStyle/>
                    <a:p>
                      <a:r>
                        <a:rPr lang="en-AU" sz="2000" dirty="0" smtClean="0"/>
                        <a:t>I can use the formula for embedding quotes</a:t>
                      </a:r>
                      <a:endParaRPr lang="en-AU" sz="2000" dirty="0"/>
                    </a:p>
                  </a:txBody>
                  <a:tcPr>
                    <a:solidFill>
                      <a:srgbClr val="FFFF00"/>
                    </a:solidFill>
                  </a:tcPr>
                </a:tc>
                <a:extLst>
                  <a:ext uri="{0D108BD9-81ED-4DB2-BD59-A6C34878D82A}">
                    <a16:rowId xmlns:a16="http://schemas.microsoft.com/office/drawing/2014/main" val="2229975842"/>
                  </a:ext>
                </a:extLst>
              </a:tr>
              <a:tr h="1178066">
                <a:tc>
                  <a:txBody>
                    <a:bodyPr/>
                    <a:lstStyle/>
                    <a:p>
                      <a:r>
                        <a:rPr lang="en-AU" sz="2000" dirty="0"/>
                        <a:t>I can </a:t>
                      </a:r>
                      <a:r>
                        <a:rPr lang="en-AU" sz="2000" dirty="0" smtClean="0"/>
                        <a:t>embed a short quote into</a:t>
                      </a:r>
                      <a:r>
                        <a:rPr lang="en-AU" sz="2000" baseline="0" dirty="0" smtClean="0"/>
                        <a:t> a sentence</a:t>
                      </a:r>
                      <a:endParaRPr lang="en-AU" sz="2000" dirty="0"/>
                    </a:p>
                  </a:txBody>
                  <a:tcPr>
                    <a:solidFill>
                      <a:srgbClr val="92D050"/>
                    </a:solidFill>
                  </a:tcPr>
                </a:tc>
                <a:extLst>
                  <a:ext uri="{0D108BD9-81ED-4DB2-BD59-A6C34878D82A}">
                    <a16:rowId xmlns:a16="http://schemas.microsoft.com/office/drawing/2014/main" val="835583285"/>
                  </a:ext>
                </a:extLst>
              </a:tr>
              <a:tr h="1163426">
                <a:tc>
                  <a:txBody>
                    <a:bodyPr/>
                    <a:lstStyle/>
                    <a:p>
                      <a:r>
                        <a:rPr lang="en-AU" sz="2000" dirty="0"/>
                        <a:t>I can </a:t>
                      </a:r>
                      <a:r>
                        <a:rPr lang="en-AU" sz="2000" dirty="0" smtClean="0"/>
                        <a:t>analysis</a:t>
                      </a:r>
                      <a:r>
                        <a:rPr lang="en-AU" sz="2000" baseline="0" dirty="0" smtClean="0"/>
                        <a:t> the quote in the same sentence.</a:t>
                      </a:r>
                      <a:endParaRPr lang="en-AU" sz="2000" dirty="0"/>
                    </a:p>
                  </a:txBody>
                  <a:tcPr>
                    <a:solidFill>
                      <a:srgbClr val="92D050"/>
                    </a:solidFill>
                  </a:tcPr>
                </a:tc>
                <a:extLst>
                  <a:ext uri="{0D108BD9-81ED-4DB2-BD59-A6C34878D82A}">
                    <a16:rowId xmlns:a16="http://schemas.microsoft.com/office/drawing/2014/main" val="3081174515"/>
                  </a:ext>
                </a:extLst>
              </a:tr>
            </a:tbl>
          </a:graphicData>
        </a:graphic>
      </p:graphicFrame>
    </p:spTree>
    <p:extLst>
      <p:ext uri="{BB962C8B-B14F-4D97-AF65-F5344CB8AC3E}">
        <p14:creationId xmlns:p14="http://schemas.microsoft.com/office/powerpoint/2010/main" val="315861058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8056BC-B744-4648-AB3F-308DEE4EBD84}"/>
              </a:ext>
            </a:extLst>
          </p:cNvPr>
          <p:cNvSpPr>
            <a:spLocks noGrp="1"/>
          </p:cNvSpPr>
          <p:nvPr>
            <p:ph type="title"/>
          </p:nvPr>
        </p:nvSpPr>
        <p:spPr>
          <a:xfrm>
            <a:off x="3118338" y="555088"/>
            <a:ext cx="7425397" cy="999392"/>
          </a:xfrm>
        </p:spPr>
        <p:txBody>
          <a:bodyPr/>
          <a:lstStyle/>
          <a:p>
            <a:r>
              <a:rPr lang="en-AU" dirty="0" smtClean="0"/>
              <a:t>What is important?</a:t>
            </a:r>
            <a:endParaRPr lang="en-AU" dirty="0"/>
          </a:p>
        </p:txBody>
      </p:sp>
      <p:sp>
        <p:nvSpPr>
          <p:cNvPr id="3" name="Content Placeholder 2">
            <a:extLst>
              <a:ext uri="{FF2B5EF4-FFF2-40B4-BE49-F238E27FC236}">
                <a16:creationId xmlns:a16="http://schemas.microsoft.com/office/drawing/2014/main" id="{9D578D22-A381-4859-86FF-72B31CF4A541}"/>
              </a:ext>
            </a:extLst>
          </p:cNvPr>
          <p:cNvSpPr>
            <a:spLocks noGrp="1"/>
          </p:cNvSpPr>
          <p:nvPr>
            <p:ph idx="1"/>
          </p:nvPr>
        </p:nvSpPr>
        <p:spPr>
          <a:xfrm>
            <a:off x="2244131" y="3755571"/>
            <a:ext cx="9213578" cy="2617519"/>
          </a:xfrm>
        </p:spPr>
        <p:txBody>
          <a:bodyPr>
            <a:normAutofit/>
          </a:bodyPr>
          <a:lstStyle/>
          <a:p>
            <a:r>
              <a:rPr lang="en-AU" dirty="0" smtClean="0">
                <a:solidFill>
                  <a:schemeClr val="tx1"/>
                </a:solidFill>
              </a:rPr>
              <a:t>Why may I have chosen this quote to talk </a:t>
            </a:r>
            <a:r>
              <a:rPr lang="en-AU" dirty="0">
                <a:solidFill>
                  <a:schemeClr val="tx1"/>
                </a:solidFill>
              </a:rPr>
              <a:t>about </a:t>
            </a:r>
            <a:r>
              <a:rPr lang="en-AU" dirty="0" smtClean="0">
                <a:solidFill>
                  <a:schemeClr val="tx1"/>
                </a:solidFill>
              </a:rPr>
              <a:t>classic </a:t>
            </a:r>
            <a:r>
              <a:rPr lang="en-AU" dirty="0" smtClean="0">
                <a:solidFill>
                  <a:schemeClr val="tx1"/>
                </a:solidFill>
              </a:rPr>
              <a:t>crime fiction?</a:t>
            </a:r>
          </a:p>
          <a:p>
            <a:pPr lvl="1"/>
            <a:r>
              <a:rPr lang="en-AU" dirty="0" smtClean="0">
                <a:solidFill>
                  <a:schemeClr val="tx1"/>
                </a:solidFill>
              </a:rPr>
              <a:t>To illustrate the intelligence and arrogance of the detective</a:t>
            </a:r>
          </a:p>
          <a:p>
            <a:r>
              <a:rPr lang="en-AU" dirty="0" smtClean="0">
                <a:solidFill>
                  <a:schemeClr val="tx1"/>
                </a:solidFill>
              </a:rPr>
              <a:t>Which words demonstrate the reason most strongly? </a:t>
            </a:r>
            <a:endParaRPr lang="en-AU" dirty="0">
              <a:solidFill>
                <a:schemeClr val="tx1"/>
              </a:solidFill>
            </a:endParaRPr>
          </a:p>
        </p:txBody>
      </p:sp>
      <p:graphicFrame>
        <p:nvGraphicFramePr>
          <p:cNvPr id="6" name="Table 5">
            <a:extLst>
              <a:ext uri="{FF2B5EF4-FFF2-40B4-BE49-F238E27FC236}">
                <a16:creationId xmlns:a16="http://schemas.microsoft.com/office/drawing/2014/main" id="{EAB08AA4-98F3-4569-B79D-96E000ABA983}"/>
              </a:ext>
            </a:extLst>
          </p:cNvPr>
          <p:cNvGraphicFramePr>
            <a:graphicFrameLocks noGrp="1"/>
          </p:cNvGraphicFramePr>
          <p:nvPr>
            <p:extLst/>
          </p:nvPr>
        </p:nvGraphicFramePr>
        <p:xfrm>
          <a:off x="0" y="0"/>
          <a:ext cx="1946031" cy="1554480"/>
        </p:xfrm>
        <a:graphic>
          <a:graphicData uri="http://schemas.openxmlformats.org/drawingml/2006/table">
            <a:tbl>
              <a:tblPr firstRow="1" bandRow="1">
                <a:tableStyleId>{5C22544A-7EE6-4342-B048-85BDC9FD1C3A}</a:tableStyleId>
              </a:tblPr>
              <a:tblGrid>
                <a:gridCol w="1946031">
                  <a:extLst>
                    <a:ext uri="{9D8B030D-6E8A-4147-A177-3AD203B41FA5}">
                      <a16:colId xmlns:a16="http://schemas.microsoft.com/office/drawing/2014/main" val="1529901115"/>
                    </a:ext>
                  </a:extLst>
                </a:gridCol>
              </a:tblGrid>
              <a:tr h="370840">
                <a:tc>
                  <a:txBody>
                    <a:bodyPr/>
                    <a:lstStyle/>
                    <a:p>
                      <a:r>
                        <a:rPr lang="en-AU" sz="1800" dirty="0"/>
                        <a:t>Learning Intention</a:t>
                      </a:r>
                    </a:p>
                  </a:txBody>
                  <a:tcPr>
                    <a:solidFill>
                      <a:srgbClr val="F77B15"/>
                    </a:solidFill>
                  </a:tcPr>
                </a:tc>
                <a:extLst>
                  <a:ext uri="{0D108BD9-81ED-4DB2-BD59-A6C34878D82A}">
                    <a16:rowId xmlns:a16="http://schemas.microsoft.com/office/drawing/2014/main" val="438604388"/>
                  </a:ext>
                </a:extLst>
              </a:tr>
              <a:tr h="370840">
                <a:tc>
                  <a:txBody>
                    <a:bodyPr/>
                    <a:lstStyle/>
                    <a:p>
                      <a:r>
                        <a:rPr lang="en-AU" sz="1800" dirty="0" smtClean="0"/>
                        <a:t>To be able to embed a quote in an</a:t>
                      </a:r>
                      <a:r>
                        <a:rPr lang="en-AU" sz="1800" baseline="0" dirty="0" smtClean="0"/>
                        <a:t> essay sentence</a:t>
                      </a:r>
                      <a:endParaRPr lang="en-AU" sz="1800" dirty="0"/>
                    </a:p>
                  </a:txBody>
                  <a:tcPr>
                    <a:solidFill>
                      <a:schemeClr val="accent3">
                        <a:lumMod val="40000"/>
                        <a:lumOff val="60000"/>
                      </a:schemeClr>
                    </a:solidFill>
                  </a:tcPr>
                </a:tc>
                <a:extLst>
                  <a:ext uri="{0D108BD9-81ED-4DB2-BD59-A6C34878D82A}">
                    <a16:rowId xmlns:a16="http://schemas.microsoft.com/office/drawing/2014/main" val="2214889484"/>
                  </a:ext>
                </a:extLst>
              </a:tr>
            </a:tbl>
          </a:graphicData>
        </a:graphic>
      </p:graphicFrame>
      <p:graphicFrame>
        <p:nvGraphicFramePr>
          <p:cNvPr id="4" name="Table 3"/>
          <p:cNvGraphicFramePr>
            <a:graphicFrameLocks noGrp="1"/>
          </p:cNvGraphicFramePr>
          <p:nvPr/>
        </p:nvGraphicFramePr>
        <p:xfrm>
          <a:off x="2104640" y="1644014"/>
          <a:ext cx="9625806" cy="919077"/>
        </p:xfrm>
        <a:graphic>
          <a:graphicData uri="http://schemas.openxmlformats.org/drawingml/2006/table">
            <a:tbl>
              <a:tblPr firstRow="1" firstCol="1" bandRow="1">
                <a:tableStyleId>{5C22544A-7EE6-4342-B048-85BDC9FD1C3A}</a:tableStyleId>
              </a:tblPr>
              <a:tblGrid>
                <a:gridCol w="9625806">
                  <a:extLst>
                    <a:ext uri="{9D8B030D-6E8A-4147-A177-3AD203B41FA5}">
                      <a16:colId xmlns:a16="http://schemas.microsoft.com/office/drawing/2014/main" val="3201723763"/>
                    </a:ext>
                  </a:extLst>
                </a:gridCol>
              </a:tblGrid>
              <a:tr h="919077">
                <a:tc>
                  <a:txBody>
                    <a:bodyPr/>
                    <a:lstStyle/>
                    <a:p>
                      <a:r>
                        <a:rPr lang="en-AU" sz="2400" b="1" i="0" u="none" strike="noStrike" kern="1200" baseline="0" dirty="0" smtClean="0">
                          <a:solidFill>
                            <a:schemeClr val="lt1"/>
                          </a:solidFill>
                          <a:latin typeface="+mn-lt"/>
                          <a:ea typeface="+mn-ea"/>
                          <a:cs typeface="+mn-cs"/>
                        </a:rPr>
                        <a:t>“From what I have already said, you must know that I have ways of learning about the matter — ways you could never have dreamed of.”</a:t>
                      </a:r>
                      <a:endParaRPr lang="en-AU" sz="2400" b="1" kern="1200" dirty="0">
                        <a:solidFill>
                          <a:schemeClr val="lt1"/>
                        </a:solidFill>
                        <a:effectLst/>
                        <a:latin typeface="+mn-lt"/>
                        <a:ea typeface="+mn-ea"/>
                        <a:cs typeface="+mn-cs"/>
                      </a:endParaRPr>
                    </a:p>
                  </a:txBody>
                  <a:tcPr marL="68580" marR="68580" marT="0" marB="0">
                    <a:solidFill>
                      <a:schemeClr val="accent4"/>
                    </a:solidFill>
                  </a:tcPr>
                </a:tc>
                <a:extLst>
                  <a:ext uri="{0D108BD9-81ED-4DB2-BD59-A6C34878D82A}">
                    <a16:rowId xmlns:a16="http://schemas.microsoft.com/office/drawing/2014/main" val="3821075524"/>
                  </a:ext>
                </a:extLst>
              </a:tr>
            </a:tbl>
          </a:graphicData>
        </a:graphic>
      </p:graphicFrame>
      <p:graphicFrame>
        <p:nvGraphicFramePr>
          <p:cNvPr id="8" name="Table 7"/>
          <p:cNvGraphicFramePr>
            <a:graphicFrameLocks noGrp="1"/>
          </p:cNvGraphicFramePr>
          <p:nvPr>
            <p:extLst>
              <p:ext uri="{D42A27DB-BD31-4B8C-83A1-F6EECF244321}">
                <p14:modId xmlns:p14="http://schemas.microsoft.com/office/powerpoint/2010/main" val="2175010862"/>
              </p:ext>
            </p:extLst>
          </p:nvPr>
        </p:nvGraphicFramePr>
        <p:xfrm>
          <a:off x="2104640" y="1649616"/>
          <a:ext cx="9625806" cy="919077"/>
        </p:xfrm>
        <a:graphic>
          <a:graphicData uri="http://schemas.openxmlformats.org/drawingml/2006/table">
            <a:tbl>
              <a:tblPr firstRow="1" firstCol="1" bandRow="1">
                <a:tableStyleId>{5C22544A-7EE6-4342-B048-85BDC9FD1C3A}</a:tableStyleId>
              </a:tblPr>
              <a:tblGrid>
                <a:gridCol w="9625806">
                  <a:extLst>
                    <a:ext uri="{9D8B030D-6E8A-4147-A177-3AD203B41FA5}">
                      <a16:colId xmlns:a16="http://schemas.microsoft.com/office/drawing/2014/main" val="3201723763"/>
                    </a:ext>
                  </a:extLst>
                </a:gridCol>
              </a:tblGrid>
              <a:tr h="919077">
                <a:tc>
                  <a:txBody>
                    <a:bodyPr/>
                    <a:lstStyle/>
                    <a:p>
                      <a:r>
                        <a:rPr lang="en-AU" sz="2400" b="1" i="0" u="none" strike="noStrike" kern="1200" baseline="0" dirty="0" smtClean="0">
                          <a:solidFill>
                            <a:schemeClr val="lt1"/>
                          </a:solidFill>
                          <a:latin typeface="+mn-lt"/>
                          <a:ea typeface="+mn-ea"/>
                          <a:cs typeface="+mn-cs"/>
                        </a:rPr>
                        <a:t>“From what I have already said, you must know that I have ways of learning about the matter — ways </a:t>
                      </a:r>
                      <a:r>
                        <a:rPr lang="en-AU" sz="2400" b="1" i="0" u="none" strike="noStrike" kern="1200" baseline="0" dirty="0" smtClean="0">
                          <a:solidFill>
                            <a:srgbClr val="FF99FF"/>
                          </a:solidFill>
                          <a:latin typeface="+mn-lt"/>
                          <a:ea typeface="+mn-ea"/>
                          <a:cs typeface="+mn-cs"/>
                        </a:rPr>
                        <a:t>you could never have dreamed of</a:t>
                      </a:r>
                      <a:r>
                        <a:rPr lang="en-AU" sz="2400" b="1" i="0" u="none" strike="noStrike" kern="1200" baseline="0" dirty="0" smtClean="0">
                          <a:solidFill>
                            <a:schemeClr val="lt1"/>
                          </a:solidFill>
                          <a:latin typeface="+mn-lt"/>
                          <a:ea typeface="+mn-ea"/>
                          <a:cs typeface="+mn-cs"/>
                        </a:rPr>
                        <a:t>.”</a:t>
                      </a:r>
                      <a:endParaRPr lang="en-AU" sz="2400" b="1" kern="1200" dirty="0">
                        <a:solidFill>
                          <a:schemeClr val="lt1"/>
                        </a:solidFill>
                        <a:effectLst/>
                        <a:latin typeface="+mn-lt"/>
                        <a:ea typeface="+mn-ea"/>
                        <a:cs typeface="+mn-cs"/>
                      </a:endParaRPr>
                    </a:p>
                  </a:txBody>
                  <a:tcPr marL="68580" marR="68580" marT="0" marB="0">
                    <a:solidFill>
                      <a:schemeClr val="accent4"/>
                    </a:solidFill>
                  </a:tcPr>
                </a:tc>
                <a:extLst>
                  <a:ext uri="{0D108BD9-81ED-4DB2-BD59-A6C34878D82A}">
                    <a16:rowId xmlns:a16="http://schemas.microsoft.com/office/drawing/2014/main" val="3821075524"/>
                  </a:ext>
                </a:extLst>
              </a:tr>
            </a:tbl>
          </a:graphicData>
        </a:graphic>
      </p:graphicFrame>
      <p:graphicFrame>
        <p:nvGraphicFramePr>
          <p:cNvPr id="9" name="Table 8">
            <a:extLst>
              <a:ext uri="{FF2B5EF4-FFF2-40B4-BE49-F238E27FC236}">
                <a16:creationId xmlns:a16="http://schemas.microsoft.com/office/drawing/2014/main" id="{2170DDB3-4322-45B9-A426-838813124F89}"/>
              </a:ext>
            </a:extLst>
          </p:cNvPr>
          <p:cNvGraphicFramePr>
            <a:graphicFrameLocks noGrp="1"/>
          </p:cNvGraphicFramePr>
          <p:nvPr>
            <p:extLst>
              <p:ext uri="{D42A27DB-BD31-4B8C-83A1-F6EECF244321}">
                <p14:modId xmlns:p14="http://schemas.microsoft.com/office/powerpoint/2010/main" val="2275683551"/>
              </p:ext>
            </p:extLst>
          </p:nvPr>
        </p:nvGraphicFramePr>
        <p:xfrm>
          <a:off x="11723" y="1554480"/>
          <a:ext cx="1946032" cy="5303521"/>
        </p:xfrm>
        <a:graphic>
          <a:graphicData uri="http://schemas.openxmlformats.org/drawingml/2006/table">
            <a:tbl>
              <a:tblPr firstRow="1" bandRow="1">
                <a:tableStyleId>{5C22544A-7EE6-4342-B048-85BDC9FD1C3A}</a:tableStyleId>
              </a:tblPr>
              <a:tblGrid>
                <a:gridCol w="1946032">
                  <a:extLst>
                    <a:ext uri="{9D8B030D-6E8A-4147-A177-3AD203B41FA5}">
                      <a16:colId xmlns:a16="http://schemas.microsoft.com/office/drawing/2014/main" val="1529901115"/>
                    </a:ext>
                  </a:extLst>
                </a:gridCol>
              </a:tblGrid>
              <a:tr h="417533">
                <a:tc>
                  <a:txBody>
                    <a:bodyPr/>
                    <a:lstStyle/>
                    <a:p>
                      <a:r>
                        <a:rPr lang="en-AU" sz="2000" dirty="0"/>
                        <a:t>Success Criteria</a:t>
                      </a:r>
                    </a:p>
                  </a:txBody>
                  <a:tcPr>
                    <a:solidFill>
                      <a:srgbClr val="F77B15"/>
                    </a:solidFill>
                  </a:tcPr>
                </a:tc>
                <a:extLst>
                  <a:ext uri="{0D108BD9-81ED-4DB2-BD59-A6C34878D82A}">
                    <a16:rowId xmlns:a16="http://schemas.microsoft.com/office/drawing/2014/main" val="438604388"/>
                  </a:ext>
                </a:extLst>
              </a:tr>
              <a:tr h="1163426">
                <a:tc>
                  <a:txBody>
                    <a:bodyPr/>
                    <a:lstStyle/>
                    <a:p>
                      <a:r>
                        <a:rPr lang="en-AU" sz="2000" dirty="0"/>
                        <a:t>I </a:t>
                      </a:r>
                      <a:r>
                        <a:rPr lang="en-AU" sz="2000" dirty="0" smtClean="0"/>
                        <a:t>can</a:t>
                      </a:r>
                      <a:r>
                        <a:rPr lang="en-AU" sz="2000" baseline="0" dirty="0" smtClean="0"/>
                        <a:t> identify the most important part of my quote</a:t>
                      </a:r>
                      <a:endParaRPr lang="en-AU" sz="2000" dirty="0"/>
                    </a:p>
                  </a:txBody>
                  <a:tcPr>
                    <a:solidFill>
                      <a:srgbClr val="FFFF00"/>
                    </a:solidFill>
                  </a:tcPr>
                </a:tc>
                <a:extLst>
                  <a:ext uri="{0D108BD9-81ED-4DB2-BD59-A6C34878D82A}">
                    <a16:rowId xmlns:a16="http://schemas.microsoft.com/office/drawing/2014/main" val="2214889484"/>
                  </a:ext>
                </a:extLst>
              </a:tr>
              <a:tr h="1381070">
                <a:tc>
                  <a:txBody>
                    <a:bodyPr/>
                    <a:lstStyle/>
                    <a:p>
                      <a:r>
                        <a:rPr lang="en-AU" sz="2000" dirty="0" smtClean="0"/>
                        <a:t>I can use the formula for embedding quotes</a:t>
                      </a:r>
                      <a:endParaRPr lang="en-AU" sz="2000" dirty="0"/>
                    </a:p>
                  </a:txBody>
                  <a:tcPr>
                    <a:solidFill>
                      <a:srgbClr val="FFFF00"/>
                    </a:solidFill>
                  </a:tcPr>
                </a:tc>
                <a:extLst>
                  <a:ext uri="{0D108BD9-81ED-4DB2-BD59-A6C34878D82A}">
                    <a16:rowId xmlns:a16="http://schemas.microsoft.com/office/drawing/2014/main" val="2229975842"/>
                  </a:ext>
                </a:extLst>
              </a:tr>
              <a:tr h="1178066">
                <a:tc>
                  <a:txBody>
                    <a:bodyPr/>
                    <a:lstStyle/>
                    <a:p>
                      <a:r>
                        <a:rPr lang="en-AU" sz="2000" dirty="0"/>
                        <a:t>I can </a:t>
                      </a:r>
                      <a:r>
                        <a:rPr lang="en-AU" sz="2000" dirty="0" smtClean="0"/>
                        <a:t>embed a short quote into</a:t>
                      </a:r>
                      <a:r>
                        <a:rPr lang="en-AU" sz="2000" baseline="0" dirty="0" smtClean="0"/>
                        <a:t> a sentence</a:t>
                      </a:r>
                      <a:endParaRPr lang="en-AU" sz="2000" dirty="0"/>
                    </a:p>
                  </a:txBody>
                  <a:tcPr>
                    <a:solidFill>
                      <a:srgbClr val="92D050"/>
                    </a:solidFill>
                  </a:tcPr>
                </a:tc>
                <a:extLst>
                  <a:ext uri="{0D108BD9-81ED-4DB2-BD59-A6C34878D82A}">
                    <a16:rowId xmlns:a16="http://schemas.microsoft.com/office/drawing/2014/main" val="835583285"/>
                  </a:ext>
                </a:extLst>
              </a:tr>
              <a:tr h="1163426">
                <a:tc>
                  <a:txBody>
                    <a:bodyPr/>
                    <a:lstStyle/>
                    <a:p>
                      <a:r>
                        <a:rPr lang="en-AU" sz="2000" dirty="0"/>
                        <a:t>I can </a:t>
                      </a:r>
                      <a:r>
                        <a:rPr lang="en-AU" sz="2000" dirty="0" smtClean="0"/>
                        <a:t>analysis</a:t>
                      </a:r>
                      <a:r>
                        <a:rPr lang="en-AU" sz="2000" baseline="0" dirty="0" smtClean="0"/>
                        <a:t> the quote in the same sentence.</a:t>
                      </a:r>
                      <a:endParaRPr lang="en-AU" sz="2000" dirty="0"/>
                    </a:p>
                  </a:txBody>
                  <a:tcPr>
                    <a:solidFill>
                      <a:srgbClr val="92D050"/>
                    </a:solidFill>
                  </a:tcPr>
                </a:tc>
                <a:extLst>
                  <a:ext uri="{0D108BD9-81ED-4DB2-BD59-A6C34878D82A}">
                    <a16:rowId xmlns:a16="http://schemas.microsoft.com/office/drawing/2014/main" val="3081174515"/>
                  </a:ext>
                </a:extLst>
              </a:tr>
            </a:tbl>
          </a:graphicData>
        </a:graphic>
      </p:graphicFrame>
    </p:spTree>
    <p:extLst>
      <p:ext uri="{BB962C8B-B14F-4D97-AF65-F5344CB8AC3E}">
        <p14:creationId xmlns:p14="http://schemas.microsoft.com/office/powerpoint/2010/main" val="181877023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8056BC-B744-4648-AB3F-308DEE4EBD84}"/>
              </a:ext>
            </a:extLst>
          </p:cNvPr>
          <p:cNvSpPr>
            <a:spLocks noGrp="1"/>
          </p:cNvSpPr>
          <p:nvPr>
            <p:ph type="title"/>
          </p:nvPr>
        </p:nvSpPr>
        <p:spPr>
          <a:xfrm>
            <a:off x="3118338" y="555088"/>
            <a:ext cx="7425397" cy="999392"/>
          </a:xfrm>
        </p:spPr>
        <p:txBody>
          <a:bodyPr/>
          <a:lstStyle/>
          <a:p>
            <a:r>
              <a:rPr lang="en-AU" dirty="0" smtClean="0"/>
              <a:t>Now you try…</a:t>
            </a:r>
            <a:endParaRPr lang="en-AU" dirty="0"/>
          </a:p>
        </p:txBody>
      </p:sp>
      <p:sp>
        <p:nvSpPr>
          <p:cNvPr id="3" name="Content Placeholder 2">
            <a:extLst>
              <a:ext uri="{FF2B5EF4-FFF2-40B4-BE49-F238E27FC236}">
                <a16:creationId xmlns:a16="http://schemas.microsoft.com/office/drawing/2014/main" id="{9D578D22-A381-4859-86FF-72B31CF4A541}"/>
              </a:ext>
            </a:extLst>
          </p:cNvPr>
          <p:cNvSpPr>
            <a:spLocks noGrp="1"/>
          </p:cNvSpPr>
          <p:nvPr>
            <p:ph idx="1"/>
          </p:nvPr>
        </p:nvSpPr>
        <p:spPr>
          <a:xfrm>
            <a:off x="2224247" y="1746662"/>
            <a:ext cx="9213578" cy="2617519"/>
          </a:xfrm>
        </p:spPr>
        <p:txBody>
          <a:bodyPr>
            <a:normAutofit/>
          </a:bodyPr>
          <a:lstStyle/>
          <a:p>
            <a:r>
              <a:rPr lang="en-AU" dirty="0" smtClean="0">
                <a:solidFill>
                  <a:schemeClr val="tx1"/>
                </a:solidFill>
              </a:rPr>
              <a:t>Look at a quote you have selected for your paragraph. </a:t>
            </a:r>
            <a:r>
              <a:rPr lang="en-AU" dirty="0" smtClean="0">
                <a:solidFill>
                  <a:schemeClr val="tx1"/>
                </a:solidFill>
              </a:rPr>
              <a:t>What is the shortest section you could take to discuss your point? </a:t>
            </a:r>
          </a:p>
          <a:p>
            <a:r>
              <a:rPr lang="en-AU" i="1" dirty="0" smtClean="0">
                <a:solidFill>
                  <a:schemeClr val="tx1"/>
                </a:solidFill>
              </a:rPr>
              <a:t>NOTE: Unfortunately you may have to cut a good part of the quote. Some quotes are long and great, but it is not appropriate to the text type to use long quotes.</a:t>
            </a:r>
            <a:endParaRPr lang="en-AU" i="1" dirty="0">
              <a:solidFill>
                <a:schemeClr val="tx1"/>
              </a:solidFill>
            </a:endParaRPr>
          </a:p>
        </p:txBody>
      </p:sp>
      <p:graphicFrame>
        <p:nvGraphicFramePr>
          <p:cNvPr id="6" name="Table 5">
            <a:extLst>
              <a:ext uri="{FF2B5EF4-FFF2-40B4-BE49-F238E27FC236}">
                <a16:creationId xmlns:a16="http://schemas.microsoft.com/office/drawing/2014/main" id="{EAB08AA4-98F3-4569-B79D-96E000ABA983}"/>
              </a:ext>
            </a:extLst>
          </p:cNvPr>
          <p:cNvGraphicFramePr>
            <a:graphicFrameLocks noGrp="1"/>
          </p:cNvGraphicFramePr>
          <p:nvPr>
            <p:extLst/>
          </p:nvPr>
        </p:nvGraphicFramePr>
        <p:xfrm>
          <a:off x="0" y="0"/>
          <a:ext cx="1946031" cy="1554480"/>
        </p:xfrm>
        <a:graphic>
          <a:graphicData uri="http://schemas.openxmlformats.org/drawingml/2006/table">
            <a:tbl>
              <a:tblPr firstRow="1" bandRow="1">
                <a:tableStyleId>{5C22544A-7EE6-4342-B048-85BDC9FD1C3A}</a:tableStyleId>
              </a:tblPr>
              <a:tblGrid>
                <a:gridCol w="1946031">
                  <a:extLst>
                    <a:ext uri="{9D8B030D-6E8A-4147-A177-3AD203B41FA5}">
                      <a16:colId xmlns:a16="http://schemas.microsoft.com/office/drawing/2014/main" val="1529901115"/>
                    </a:ext>
                  </a:extLst>
                </a:gridCol>
              </a:tblGrid>
              <a:tr h="370840">
                <a:tc>
                  <a:txBody>
                    <a:bodyPr/>
                    <a:lstStyle/>
                    <a:p>
                      <a:r>
                        <a:rPr lang="en-AU" sz="1800" dirty="0"/>
                        <a:t>Learning Intention</a:t>
                      </a:r>
                    </a:p>
                  </a:txBody>
                  <a:tcPr>
                    <a:solidFill>
                      <a:srgbClr val="F77B15"/>
                    </a:solidFill>
                  </a:tcPr>
                </a:tc>
                <a:extLst>
                  <a:ext uri="{0D108BD9-81ED-4DB2-BD59-A6C34878D82A}">
                    <a16:rowId xmlns:a16="http://schemas.microsoft.com/office/drawing/2014/main" val="438604388"/>
                  </a:ext>
                </a:extLst>
              </a:tr>
              <a:tr h="370840">
                <a:tc>
                  <a:txBody>
                    <a:bodyPr/>
                    <a:lstStyle/>
                    <a:p>
                      <a:r>
                        <a:rPr lang="en-AU" sz="1800" dirty="0" smtClean="0"/>
                        <a:t>To be able to embed a quote in an</a:t>
                      </a:r>
                      <a:r>
                        <a:rPr lang="en-AU" sz="1800" baseline="0" dirty="0" smtClean="0"/>
                        <a:t> essay sentence</a:t>
                      </a:r>
                      <a:endParaRPr lang="en-AU" sz="1800" dirty="0"/>
                    </a:p>
                  </a:txBody>
                  <a:tcPr>
                    <a:solidFill>
                      <a:schemeClr val="accent3">
                        <a:lumMod val="40000"/>
                        <a:lumOff val="60000"/>
                      </a:schemeClr>
                    </a:solidFill>
                  </a:tcPr>
                </a:tc>
                <a:extLst>
                  <a:ext uri="{0D108BD9-81ED-4DB2-BD59-A6C34878D82A}">
                    <a16:rowId xmlns:a16="http://schemas.microsoft.com/office/drawing/2014/main" val="2214889484"/>
                  </a:ext>
                </a:extLst>
              </a:tr>
            </a:tbl>
          </a:graphicData>
        </a:graphic>
      </p:graphicFrame>
      <p:graphicFrame>
        <p:nvGraphicFramePr>
          <p:cNvPr id="9" name="Table 8">
            <a:extLst>
              <a:ext uri="{FF2B5EF4-FFF2-40B4-BE49-F238E27FC236}">
                <a16:creationId xmlns:a16="http://schemas.microsoft.com/office/drawing/2014/main" id="{2170DDB3-4322-45B9-A426-838813124F89}"/>
              </a:ext>
            </a:extLst>
          </p:cNvPr>
          <p:cNvGraphicFramePr>
            <a:graphicFrameLocks noGrp="1"/>
          </p:cNvGraphicFramePr>
          <p:nvPr>
            <p:extLst>
              <p:ext uri="{D42A27DB-BD31-4B8C-83A1-F6EECF244321}">
                <p14:modId xmlns:p14="http://schemas.microsoft.com/office/powerpoint/2010/main" val="2275683551"/>
              </p:ext>
            </p:extLst>
          </p:nvPr>
        </p:nvGraphicFramePr>
        <p:xfrm>
          <a:off x="11723" y="1554480"/>
          <a:ext cx="1946032" cy="5303521"/>
        </p:xfrm>
        <a:graphic>
          <a:graphicData uri="http://schemas.openxmlformats.org/drawingml/2006/table">
            <a:tbl>
              <a:tblPr firstRow="1" bandRow="1">
                <a:tableStyleId>{5C22544A-7EE6-4342-B048-85BDC9FD1C3A}</a:tableStyleId>
              </a:tblPr>
              <a:tblGrid>
                <a:gridCol w="1946032">
                  <a:extLst>
                    <a:ext uri="{9D8B030D-6E8A-4147-A177-3AD203B41FA5}">
                      <a16:colId xmlns:a16="http://schemas.microsoft.com/office/drawing/2014/main" val="1529901115"/>
                    </a:ext>
                  </a:extLst>
                </a:gridCol>
              </a:tblGrid>
              <a:tr h="417533">
                <a:tc>
                  <a:txBody>
                    <a:bodyPr/>
                    <a:lstStyle/>
                    <a:p>
                      <a:r>
                        <a:rPr lang="en-AU" sz="2000" dirty="0"/>
                        <a:t>Success Criteria</a:t>
                      </a:r>
                    </a:p>
                  </a:txBody>
                  <a:tcPr>
                    <a:solidFill>
                      <a:srgbClr val="F77B15"/>
                    </a:solidFill>
                  </a:tcPr>
                </a:tc>
                <a:extLst>
                  <a:ext uri="{0D108BD9-81ED-4DB2-BD59-A6C34878D82A}">
                    <a16:rowId xmlns:a16="http://schemas.microsoft.com/office/drawing/2014/main" val="438604388"/>
                  </a:ext>
                </a:extLst>
              </a:tr>
              <a:tr h="1163426">
                <a:tc>
                  <a:txBody>
                    <a:bodyPr/>
                    <a:lstStyle/>
                    <a:p>
                      <a:r>
                        <a:rPr lang="en-AU" sz="2000" dirty="0"/>
                        <a:t>I </a:t>
                      </a:r>
                      <a:r>
                        <a:rPr lang="en-AU" sz="2000" dirty="0" smtClean="0"/>
                        <a:t>can</a:t>
                      </a:r>
                      <a:r>
                        <a:rPr lang="en-AU" sz="2000" baseline="0" dirty="0" smtClean="0"/>
                        <a:t> identify the most important part of my quote</a:t>
                      </a:r>
                      <a:endParaRPr lang="en-AU" sz="2000" dirty="0"/>
                    </a:p>
                  </a:txBody>
                  <a:tcPr>
                    <a:solidFill>
                      <a:srgbClr val="FFFF00"/>
                    </a:solidFill>
                  </a:tcPr>
                </a:tc>
                <a:extLst>
                  <a:ext uri="{0D108BD9-81ED-4DB2-BD59-A6C34878D82A}">
                    <a16:rowId xmlns:a16="http://schemas.microsoft.com/office/drawing/2014/main" val="2214889484"/>
                  </a:ext>
                </a:extLst>
              </a:tr>
              <a:tr h="1381070">
                <a:tc>
                  <a:txBody>
                    <a:bodyPr/>
                    <a:lstStyle/>
                    <a:p>
                      <a:r>
                        <a:rPr lang="en-AU" sz="2000" dirty="0" smtClean="0"/>
                        <a:t>I can use the formula for embedding quotes</a:t>
                      </a:r>
                      <a:endParaRPr lang="en-AU" sz="2000" dirty="0"/>
                    </a:p>
                  </a:txBody>
                  <a:tcPr>
                    <a:solidFill>
                      <a:srgbClr val="FFFF00"/>
                    </a:solidFill>
                  </a:tcPr>
                </a:tc>
                <a:extLst>
                  <a:ext uri="{0D108BD9-81ED-4DB2-BD59-A6C34878D82A}">
                    <a16:rowId xmlns:a16="http://schemas.microsoft.com/office/drawing/2014/main" val="2229975842"/>
                  </a:ext>
                </a:extLst>
              </a:tr>
              <a:tr h="1178066">
                <a:tc>
                  <a:txBody>
                    <a:bodyPr/>
                    <a:lstStyle/>
                    <a:p>
                      <a:r>
                        <a:rPr lang="en-AU" sz="2000" dirty="0"/>
                        <a:t>I can </a:t>
                      </a:r>
                      <a:r>
                        <a:rPr lang="en-AU" sz="2000" dirty="0" smtClean="0"/>
                        <a:t>embed a short quote into</a:t>
                      </a:r>
                      <a:r>
                        <a:rPr lang="en-AU" sz="2000" baseline="0" dirty="0" smtClean="0"/>
                        <a:t> a sentence</a:t>
                      </a:r>
                      <a:endParaRPr lang="en-AU" sz="2000" dirty="0"/>
                    </a:p>
                  </a:txBody>
                  <a:tcPr>
                    <a:solidFill>
                      <a:srgbClr val="92D050"/>
                    </a:solidFill>
                  </a:tcPr>
                </a:tc>
                <a:extLst>
                  <a:ext uri="{0D108BD9-81ED-4DB2-BD59-A6C34878D82A}">
                    <a16:rowId xmlns:a16="http://schemas.microsoft.com/office/drawing/2014/main" val="835583285"/>
                  </a:ext>
                </a:extLst>
              </a:tr>
              <a:tr h="1163426">
                <a:tc>
                  <a:txBody>
                    <a:bodyPr/>
                    <a:lstStyle/>
                    <a:p>
                      <a:r>
                        <a:rPr lang="en-AU" sz="2000" dirty="0"/>
                        <a:t>I can </a:t>
                      </a:r>
                      <a:r>
                        <a:rPr lang="en-AU" sz="2000" dirty="0" smtClean="0"/>
                        <a:t>analysis</a:t>
                      </a:r>
                      <a:r>
                        <a:rPr lang="en-AU" sz="2000" baseline="0" dirty="0" smtClean="0"/>
                        <a:t> the quote in the same sentence.</a:t>
                      </a:r>
                      <a:endParaRPr lang="en-AU" sz="2000" dirty="0"/>
                    </a:p>
                  </a:txBody>
                  <a:tcPr>
                    <a:solidFill>
                      <a:srgbClr val="92D050"/>
                    </a:solidFill>
                  </a:tcPr>
                </a:tc>
                <a:extLst>
                  <a:ext uri="{0D108BD9-81ED-4DB2-BD59-A6C34878D82A}">
                    <a16:rowId xmlns:a16="http://schemas.microsoft.com/office/drawing/2014/main" val="3081174515"/>
                  </a:ext>
                </a:extLst>
              </a:tr>
            </a:tbl>
          </a:graphicData>
        </a:graphic>
      </p:graphicFrame>
    </p:spTree>
    <p:extLst>
      <p:ext uri="{BB962C8B-B14F-4D97-AF65-F5344CB8AC3E}">
        <p14:creationId xmlns:p14="http://schemas.microsoft.com/office/powerpoint/2010/main" val="118478397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8056BC-B744-4648-AB3F-308DEE4EBD84}"/>
              </a:ext>
            </a:extLst>
          </p:cNvPr>
          <p:cNvSpPr>
            <a:spLocks noGrp="1"/>
          </p:cNvSpPr>
          <p:nvPr>
            <p:ph type="title"/>
          </p:nvPr>
        </p:nvSpPr>
        <p:spPr>
          <a:xfrm>
            <a:off x="2578223" y="555088"/>
            <a:ext cx="8505626" cy="999392"/>
          </a:xfrm>
        </p:spPr>
        <p:txBody>
          <a:bodyPr>
            <a:normAutofit/>
          </a:bodyPr>
          <a:lstStyle/>
          <a:p>
            <a:r>
              <a:rPr lang="en-AU" dirty="0" smtClean="0"/>
              <a:t>Formula</a:t>
            </a:r>
            <a:endParaRPr lang="en-AU" dirty="0"/>
          </a:p>
        </p:txBody>
      </p:sp>
      <p:sp>
        <p:nvSpPr>
          <p:cNvPr id="3" name="Content Placeholder 2">
            <a:extLst>
              <a:ext uri="{FF2B5EF4-FFF2-40B4-BE49-F238E27FC236}">
                <a16:creationId xmlns:a16="http://schemas.microsoft.com/office/drawing/2014/main" id="{9D578D22-A381-4859-86FF-72B31CF4A541}"/>
              </a:ext>
            </a:extLst>
          </p:cNvPr>
          <p:cNvSpPr>
            <a:spLocks noGrp="1"/>
          </p:cNvSpPr>
          <p:nvPr>
            <p:ph idx="1"/>
          </p:nvPr>
        </p:nvSpPr>
        <p:spPr>
          <a:xfrm>
            <a:off x="2224247" y="1746662"/>
            <a:ext cx="9213578" cy="816429"/>
          </a:xfrm>
        </p:spPr>
        <p:txBody>
          <a:bodyPr>
            <a:normAutofit/>
          </a:bodyPr>
          <a:lstStyle/>
          <a:p>
            <a:r>
              <a:rPr lang="en-AU" dirty="0" smtClean="0">
                <a:solidFill>
                  <a:schemeClr val="tx1"/>
                </a:solidFill>
              </a:rPr>
              <a:t>This is an easy way to embed quotes rather than dumping them on the page.</a:t>
            </a:r>
            <a:endParaRPr lang="en-AU" i="1" dirty="0">
              <a:solidFill>
                <a:schemeClr val="tx1"/>
              </a:solidFill>
            </a:endParaRPr>
          </a:p>
        </p:txBody>
      </p:sp>
      <p:graphicFrame>
        <p:nvGraphicFramePr>
          <p:cNvPr id="6" name="Table 5">
            <a:extLst>
              <a:ext uri="{FF2B5EF4-FFF2-40B4-BE49-F238E27FC236}">
                <a16:creationId xmlns:a16="http://schemas.microsoft.com/office/drawing/2014/main" id="{EAB08AA4-98F3-4569-B79D-96E000ABA983}"/>
              </a:ext>
            </a:extLst>
          </p:cNvPr>
          <p:cNvGraphicFramePr>
            <a:graphicFrameLocks noGrp="1"/>
          </p:cNvGraphicFramePr>
          <p:nvPr>
            <p:extLst/>
          </p:nvPr>
        </p:nvGraphicFramePr>
        <p:xfrm>
          <a:off x="0" y="0"/>
          <a:ext cx="1946031" cy="1554480"/>
        </p:xfrm>
        <a:graphic>
          <a:graphicData uri="http://schemas.openxmlformats.org/drawingml/2006/table">
            <a:tbl>
              <a:tblPr firstRow="1" bandRow="1">
                <a:tableStyleId>{5C22544A-7EE6-4342-B048-85BDC9FD1C3A}</a:tableStyleId>
              </a:tblPr>
              <a:tblGrid>
                <a:gridCol w="1946031">
                  <a:extLst>
                    <a:ext uri="{9D8B030D-6E8A-4147-A177-3AD203B41FA5}">
                      <a16:colId xmlns:a16="http://schemas.microsoft.com/office/drawing/2014/main" val="1529901115"/>
                    </a:ext>
                  </a:extLst>
                </a:gridCol>
              </a:tblGrid>
              <a:tr h="370840">
                <a:tc>
                  <a:txBody>
                    <a:bodyPr/>
                    <a:lstStyle/>
                    <a:p>
                      <a:r>
                        <a:rPr lang="en-AU" sz="1800" dirty="0"/>
                        <a:t>Learning Intention</a:t>
                      </a:r>
                    </a:p>
                  </a:txBody>
                  <a:tcPr>
                    <a:solidFill>
                      <a:srgbClr val="F77B15"/>
                    </a:solidFill>
                  </a:tcPr>
                </a:tc>
                <a:extLst>
                  <a:ext uri="{0D108BD9-81ED-4DB2-BD59-A6C34878D82A}">
                    <a16:rowId xmlns:a16="http://schemas.microsoft.com/office/drawing/2014/main" val="438604388"/>
                  </a:ext>
                </a:extLst>
              </a:tr>
              <a:tr h="370840">
                <a:tc>
                  <a:txBody>
                    <a:bodyPr/>
                    <a:lstStyle/>
                    <a:p>
                      <a:r>
                        <a:rPr lang="en-AU" sz="1800" dirty="0" smtClean="0"/>
                        <a:t>To be able to embed a quote in an</a:t>
                      </a:r>
                      <a:r>
                        <a:rPr lang="en-AU" sz="1800" baseline="0" dirty="0" smtClean="0"/>
                        <a:t> essay sentence</a:t>
                      </a:r>
                      <a:endParaRPr lang="en-AU" sz="1800" dirty="0"/>
                    </a:p>
                  </a:txBody>
                  <a:tcPr>
                    <a:solidFill>
                      <a:schemeClr val="accent3">
                        <a:lumMod val="40000"/>
                        <a:lumOff val="60000"/>
                      </a:schemeClr>
                    </a:solidFill>
                  </a:tcPr>
                </a:tc>
                <a:extLst>
                  <a:ext uri="{0D108BD9-81ED-4DB2-BD59-A6C34878D82A}">
                    <a16:rowId xmlns:a16="http://schemas.microsoft.com/office/drawing/2014/main" val="2214889484"/>
                  </a:ext>
                </a:extLst>
              </a:tr>
            </a:tbl>
          </a:graphicData>
        </a:graphic>
      </p:graphicFrame>
      <p:graphicFrame>
        <p:nvGraphicFramePr>
          <p:cNvPr id="4" name="Table 3"/>
          <p:cNvGraphicFramePr>
            <a:graphicFrameLocks noGrp="1"/>
          </p:cNvGraphicFramePr>
          <p:nvPr>
            <p:extLst>
              <p:ext uri="{D42A27DB-BD31-4B8C-83A1-F6EECF244321}">
                <p14:modId xmlns:p14="http://schemas.microsoft.com/office/powerpoint/2010/main" val="4095833655"/>
              </p:ext>
            </p:extLst>
          </p:nvPr>
        </p:nvGraphicFramePr>
        <p:xfrm>
          <a:off x="2224247" y="2298073"/>
          <a:ext cx="6220296" cy="914400"/>
        </p:xfrm>
        <a:graphic>
          <a:graphicData uri="http://schemas.openxmlformats.org/drawingml/2006/table">
            <a:tbl>
              <a:tblPr firstRow="1" bandRow="1">
                <a:tableStyleId>{00A15C55-8517-42AA-B614-E9B94910E393}</a:tableStyleId>
              </a:tblPr>
              <a:tblGrid>
                <a:gridCol w="3110148">
                  <a:extLst>
                    <a:ext uri="{9D8B030D-6E8A-4147-A177-3AD203B41FA5}">
                      <a16:colId xmlns:a16="http://schemas.microsoft.com/office/drawing/2014/main" val="2349093606"/>
                    </a:ext>
                  </a:extLst>
                </a:gridCol>
                <a:gridCol w="3110148">
                  <a:extLst>
                    <a:ext uri="{9D8B030D-6E8A-4147-A177-3AD203B41FA5}">
                      <a16:colId xmlns:a16="http://schemas.microsoft.com/office/drawing/2014/main" val="3698811178"/>
                    </a:ext>
                  </a:extLst>
                </a:gridCol>
              </a:tblGrid>
              <a:tr h="437309">
                <a:tc>
                  <a:txBody>
                    <a:bodyPr/>
                    <a:lstStyle/>
                    <a:p>
                      <a:r>
                        <a:rPr lang="en-AU" sz="2400" dirty="0" smtClean="0"/>
                        <a:t>Lead</a:t>
                      </a:r>
                      <a:r>
                        <a:rPr lang="en-AU" sz="2400" baseline="0" dirty="0" smtClean="0"/>
                        <a:t>-in clause</a:t>
                      </a:r>
                      <a:endParaRPr lang="en-AU" sz="2400" dirty="0"/>
                    </a:p>
                  </a:txBody>
                  <a:tcPr/>
                </a:tc>
                <a:tc>
                  <a:txBody>
                    <a:bodyPr/>
                    <a:lstStyle/>
                    <a:p>
                      <a:r>
                        <a:rPr lang="en-AU" sz="2400" dirty="0" smtClean="0"/>
                        <a:t>Connecting phrase</a:t>
                      </a:r>
                      <a:endParaRPr lang="en-AU" sz="2400" dirty="0"/>
                    </a:p>
                  </a:txBody>
                  <a:tcPr/>
                </a:tc>
                <a:extLst>
                  <a:ext uri="{0D108BD9-81ED-4DB2-BD59-A6C34878D82A}">
                    <a16:rowId xmlns:a16="http://schemas.microsoft.com/office/drawing/2014/main" val="2239598386"/>
                  </a:ext>
                </a:extLst>
              </a:tr>
              <a:tr h="437309">
                <a:tc>
                  <a:txBody>
                    <a:bodyPr/>
                    <a:lstStyle/>
                    <a:p>
                      <a:r>
                        <a:rPr lang="en-AU" sz="2400" dirty="0" smtClean="0"/>
                        <a:t>When </a:t>
                      </a:r>
                      <a:r>
                        <a:rPr lang="en-AU" sz="2400" dirty="0" err="1" smtClean="0"/>
                        <a:t>Dupin</a:t>
                      </a:r>
                      <a:r>
                        <a:rPr lang="en-AU" sz="2400" baseline="0" dirty="0" smtClean="0"/>
                        <a:t> says… </a:t>
                      </a:r>
                      <a:endParaRPr lang="en-AU" sz="2400" dirty="0"/>
                    </a:p>
                  </a:txBody>
                  <a:tcPr/>
                </a:tc>
                <a:tc>
                  <a:txBody>
                    <a:bodyPr/>
                    <a:lstStyle/>
                    <a:p>
                      <a:r>
                        <a:rPr lang="en-AU" sz="2400" dirty="0" smtClean="0"/>
                        <a:t>… this shows that…</a:t>
                      </a:r>
                      <a:endParaRPr lang="en-AU" sz="2400" dirty="0"/>
                    </a:p>
                  </a:txBody>
                  <a:tcPr/>
                </a:tc>
                <a:extLst>
                  <a:ext uri="{0D108BD9-81ED-4DB2-BD59-A6C34878D82A}">
                    <a16:rowId xmlns:a16="http://schemas.microsoft.com/office/drawing/2014/main" val="1313031507"/>
                  </a:ext>
                </a:extLst>
              </a:tr>
            </a:tbl>
          </a:graphicData>
        </a:graphic>
      </p:graphicFrame>
      <p:graphicFrame>
        <p:nvGraphicFramePr>
          <p:cNvPr id="5" name="Table 4"/>
          <p:cNvGraphicFramePr>
            <a:graphicFrameLocks noGrp="1"/>
          </p:cNvGraphicFramePr>
          <p:nvPr>
            <p:extLst>
              <p:ext uri="{D42A27DB-BD31-4B8C-83A1-F6EECF244321}">
                <p14:modId xmlns:p14="http://schemas.microsoft.com/office/powerpoint/2010/main" val="3899095974"/>
              </p:ext>
            </p:extLst>
          </p:nvPr>
        </p:nvGraphicFramePr>
        <p:xfrm>
          <a:off x="2224247" y="3578463"/>
          <a:ext cx="9330444" cy="1188720"/>
        </p:xfrm>
        <a:graphic>
          <a:graphicData uri="http://schemas.openxmlformats.org/drawingml/2006/table">
            <a:tbl>
              <a:tblPr firstRow="1" bandRow="1">
                <a:tableStyleId>{21E4AEA4-8DFA-4A89-87EB-49C32662AFE0}</a:tableStyleId>
              </a:tblPr>
              <a:tblGrid>
                <a:gridCol w="9330444">
                  <a:extLst>
                    <a:ext uri="{9D8B030D-6E8A-4147-A177-3AD203B41FA5}">
                      <a16:colId xmlns:a16="http://schemas.microsoft.com/office/drawing/2014/main" val="90319288"/>
                    </a:ext>
                  </a:extLst>
                </a:gridCol>
              </a:tblGrid>
              <a:tr h="661027">
                <a:tc>
                  <a:txBody>
                    <a:bodyPr/>
                    <a:lstStyle/>
                    <a:p>
                      <a:r>
                        <a:rPr lang="en-AU" sz="2400" dirty="0" smtClean="0"/>
                        <a:t>When </a:t>
                      </a:r>
                      <a:r>
                        <a:rPr lang="en-AU" sz="2400" dirty="0" err="1" smtClean="0"/>
                        <a:t>Dupin</a:t>
                      </a:r>
                      <a:r>
                        <a:rPr lang="en-AU" sz="2400" baseline="0" dirty="0" smtClean="0"/>
                        <a:t> says he has “ways you could never have dreamed of” to solve crimes, this shows that he is not only highly intelligent but also that he is very aware of it.</a:t>
                      </a:r>
                      <a:endParaRPr lang="en-AU" sz="2400" dirty="0"/>
                    </a:p>
                  </a:txBody>
                  <a:tcPr/>
                </a:tc>
                <a:extLst>
                  <a:ext uri="{0D108BD9-81ED-4DB2-BD59-A6C34878D82A}">
                    <a16:rowId xmlns:a16="http://schemas.microsoft.com/office/drawing/2014/main" val="2375649748"/>
                  </a:ext>
                </a:extLst>
              </a:tr>
            </a:tbl>
          </a:graphicData>
        </a:graphic>
      </p:graphicFrame>
      <p:graphicFrame>
        <p:nvGraphicFramePr>
          <p:cNvPr id="8" name="Table 7">
            <a:extLst>
              <a:ext uri="{FF2B5EF4-FFF2-40B4-BE49-F238E27FC236}">
                <a16:creationId xmlns:a16="http://schemas.microsoft.com/office/drawing/2014/main" id="{2170DDB3-4322-45B9-A426-838813124F89}"/>
              </a:ext>
            </a:extLst>
          </p:cNvPr>
          <p:cNvGraphicFramePr>
            <a:graphicFrameLocks noGrp="1"/>
          </p:cNvGraphicFramePr>
          <p:nvPr>
            <p:extLst>
              <p:ext uri="{D42A27DB-BD31-4B8C-83A1-F6EECF244321}">
                <p14:modId xmlns:p14="http://schemas.microsoft.com/office/powerpoint/2010/main" val="2275683551"/>
              </p:ext>
            </p:extLst>
          </p:nvPr>
        </p:nvGraphicFramePr>
        <p:xfrm>
          <a:off x="11723" y="1554480"/>
          <a:ext cx="1946032" cy="5303521"/>
        </p:xfrm>
        <a:graphic>
          <a:graphicData uri="http://schemas.openxmlformats.org/drawingml/2006/table">
            <a:tbl>
              <a:tblPr firstRow="1" bandRow="1">
                <a:tableStyleId>{5C22544A-7EE6-4342-B048-85BDC9FD1C3A}</a:tableStyleId>
              </a:tblPr>
              <a:tblGrid>
                <a:gridCol w="1946032">
                  <a:extLst>
                    <a:ext uri="{9D8B030D-6E8A-4147-A177-3AD203B41FA5}">
                      <a16:colId xmlns:a16="http://schemas.microsoft.com/office/drawing/2014/main" val="1529901115"/>
                    </a:ext>
                  </a:extLst>
                </a:gridCol>
              </a:tblGrid>
              <a:tr h="417533">
                <a:tc>
                  <a:txBody>
                    <a:bodyPr/>
                    <a:lstStyle/>
                    <a:p>
                      <a:r>
                        <a:rPr lang="en-AU" sz="2000" dirty="0"/>
                        <a:t>Success Criteria</a:t>
                      </a:r>
                    </a:p>
                  </a:txBody>
                  <a:tcPr>
                    <a:solidFill>
                      <a:srgbClr val="F77B15"/>
                    </a:solidFill>
                  </a:tcPr>
                </a:tc>
                <a:extLst>
                  <a:ext uri="{0D108BD9-81ED-4DB2-BD59-A6C34878D82A}">
                    <a16:rowId xmlns:a16="http://schemas.microsoft.com/office/drawing/2014/main" val="438604388"/>
                  </a:ext>
                </a:extLst>
              </a:tr>
              <a:tr h="1163426">
                <a:tc>
                  <a:txBody>
                    <a:bodyPr/>
                    <a:lstStyle/>
                    <a:p>
                      <a:r>
                        <a:rPr lang="en-AU" sz="2000" dirty="0"/>
                        <a:t>I </a:t>
                      </a:r>
                      <a:r>
                        <a:rPr lang="en-AU" sz="2000" dirty="0" smtClean="0"/>
                        <a:t>can</a:t>
                      </a:r>
                      <a:r>
                        <a:rPr lang="en-AU" sz="2000" baseline="0" dirty="0" smtClean="0"/>
                        <a:t> identify the most important part of my quote</a:t>
                      </a:r>
                      <a:endParaRPr lang="en-AU" sz="2000" dirty="0"/>
                    </a:p>
                  </a:txBody>
                  <a:tcPr>
                    <a:solidFill>
                      <a:srgbClr val="FFFF00"/>
                    </a:solidFill>
                  </a:tcPr>
                </a:tc>
                <a:extLst>
                  <a:ext uri="{0D108BD9-81ED-4DB2-BD59-A6C34878D82A}">
                    <a16:rowId xmlns:a16="http://schemas.microsoft.com/office/drawing/2014/main" val="2214889484"/>
                  </a:ext>
                </a:extLst>
              </a:tr>
              <a:tr h="1381070">
                <a:tc>
                  <a:txBody>
                    <a:bodyPr/>
                    <a:lstStyle/>
                    <a:p>
                      <a:r>
                        <a:rPr lang="en-AU" sz="2000" dirty="0" smtClean="0"/>
                        <a:t>I can use the formula for embedding quotes</a:t>
                      </a:r>
                      <a:endParaRPr lang="en-AU" sz="2000" dirty="0"/>
                    </a:p>
                  </a:txBody>
                  <a:tcPr>
                    <a:solidFill>
                      <a:srgbClr val="FFFF00"/>
                    </a:solidFill>
                  </a:tcPr>
                </a:tc>
                <a:extLst>
                  <a:ext uri="{0D108BD9-81ED-4DB2-BD59-A6C34878D82A}">
                    <a16:rowId xmlns:a16="http://schemas.microsoft.com/office/drawing/2014/main" val="2229975842"/>
                  </a:ext>
                </a:extLst>
              </a:tr>
              <a:tr h="1178066">
                <a:tc>
                  <a:txBody>
                    <a:bodyPr/>
                    <a:lstStyle/>
                    <a:p>
                      <a:r>
                        <a:rPr lang="en-AU" sz="2000" dirty="0"/>
                        <a:t>I can </a:t>
                      </a:r>
                      <a:r>
                        <a:rPr lang="en-AU" sz="2000" dirty="0" smtClean="0"/>
                        <a:t>embed a short quote into</a:t>
                      </a:r>
                      <a:r>
                        <a:rPr lang="en-AU" sz="2000" baseline="0" dirty="0" smtClean="0"/>
                        <a:t> a sentence</a:t>
                      </a:r>
                      <a:endParaRPr lang="en-AU" sz="2000" dirty="0"/>
                    </a:p>
                  </a:txBody>
                  <a:tcPr>
                    <a:solidFill>
                      <a:srgbClr val="92D050"/>
                    </a:solidFill>
                  </a:tcPr>
                </a:tc>
                <a:extLst>
                  <a:ext uri="{0D108BD9-81ED-4DB2-BD59-A6C34878D82A}">
                    <a16:rowId xmlns:a16="http://schemas.microsoft.com/office/drawing/2014/main" val="835583285"/>
                  </a:ext>
                </a:extLst>
              </a:tr>
              <a:tr h="1163426">
                <a:tc>
                  <a:txBody>
                    <a:bodyPr/>
                    <a:lstStyle/>
                    <a:p>
                      <a:r>
                        <a:rPr lang="en-AU" sz="2000" dirty="0"/>
                        <a:t>I can </a:t>
                      </a:r>
                      <a:r>
                        <a:rPr lang="en-AU" sz="2000" dirty="0" smtClean="0"/>
                        <a:t>analysis</a:t>
                      </a:r>
                      <a:r>
                        <a:rPr lang="en-AU" sz="2000" baseline="0" dirty="0" smtClean="0"/>
                        <a:t> the quote in the same sentence.</a:t>
                      </a:r>
                      <a:endParaRPr lang="en-AU" sz="2000" dirty="0"/>
                    </a:p>
                  </a:txBody>
                  <a:tcPr>
                    <a:solidFill>
                      <a:srgbClr val="92D050"/>
                    </a:solidFill>
                  </a:tcPr>
                </a:tc>
                <a:extLst>
                  <a:ext uri="{0D108BD9-81ED-4DB2-BD59-A6C34878D82A}">
                    <a16:rowId xmlns:a16="http://schemas.microsoft.com/office/drawing/2014/main" val="3081174515"/>
                  </a:ext>
                </a:extLst>
              </a:tr>
            </a:tbl>
          </a:graphicData>
        </a:graphic>
      </p:graphicFrame>
    </p:spTree>
    <p:extLst>
      <p:ext uri="{BB962C8B-B14F-4D97-AF65-F5344CB8AC3E}">
        <p14:creationId xmlns:p14="http://schemas.microsoft.com/office/powerpoint/2010/main" val="116148598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8056BC-B744-4648-AB3F-308DEE4EBD84}"/>
              </a:ext>
            </a:extLst>
          </p:cNvPr>
          <p:cNvSpPr>
            <a:spLocks noGrp="1"/>
          </p:cNvSpPr>
          <p:nvPr>
            <p:ph type="title"/>
          </p:nvPr>
        </p:nvSpPr>
        <p:spPr>
          <a:xfrm>
            <a:off x="2578223" y="555088"/>
            <a:ext cx="8505626" cy="999392"/>
          </a:xfrm>
        </p:spPr>
        <p:txBody>
          <a:bodyPr>
            <a:normAutofit/>
          </a:bodyPr>
          <a:lstStyle/>
          <a:p>
            <a:r>
              <a:rPr lang="en-AU" dirty="0" smtClean="0"/>
              <a:t>Formula</a:t>
            </a:r>
            <a:endParaRPr lang="en-AU" dirty="0"/>
          </a:p>
        </p:txBody>
      </p:sp>
      <p:sp>
        <p:nvSpPr>
          <p:cNvPr id="3" name="Content Placeholder 2">
            <a:extLst>
              <a:ext uri="{FF2B5EF4-FFF2-40B4-BE49-F238E27FC236}">
                <a16:creationId xmlns:a16="http://schemas.microsoft.com/office/drawing/2014/main" id="{9D578D22-A381-4859-86FF-72B31CF4A541}"/>
              </a:ext>
            </a:extLst>
          </p:cNvPr>
          <p:cNvSpPr>
            <a:spLocks noGrp="1"/>
          </p:cNvSpPr>
          <p:nvPr>
            <p:ph idx="1"/>
          </p:nvPr>
        </p:nvSpPr>
        <p:spPr>
          <a:xfrm>
            <a:off x="2224247" y="1746662"/>
            <a:ext cx="9213578" cy="816429"/>
          </a:xfrm>
        </p:spPr>
        <p:txBody>
          <a:bodyPr>
            <a:normAutofit/>
          </a:bodyPr>
          <a:lstStyle/>
          <a:p>
            <a:r>
              <a:rPr lang="en-AU" dirty="0" smtClean="0">
                <a:solidFill>
                  <a:schemeClr val="tx1"/>
                </a:solidFill>
              </a:rPr>
              <a:t>This is an easy way to embed quotes rather than dumping them on the page.</a:t>
            </a:r>
            <a:endParaRPr lang="en-AU" i="1" dirty="0">
              <a:solidFill>
                <a:schemeClr val="tx1"/>
              </a:solidFill>
            </a:endParaRPr>
          </a:p>
        </p:txBody>
      </p:sp>
      <p:graphicFrame>
        <p:nvGraphicFramePr>
          <p:cNvPr id="6" name="Table 5">
            <a:extLst>
              <a:ext uri="{FF2B5EF4-FFF2-40B4-BE49-F238E27FC236}">
                <a16:creationId xmlns:a16="http://schemas.microsoft.com/office/drawing/2014/main" id="{EAB08AA4-98F3-4569-B79D-96E000ABA983}"/>
              </a:ext>
            </a:extLst>
          </p:cNvPr>
          <p:cNvGraphicFramePr>
            <a:graphicFrameLocks noGrp="1"/>
          </p:cNvGraphicFramePr>
          <p:nvPr>
            <p:extLst/>
          </p:nvPr>
        </p:nvGraphicFramePr>
        <p:xfrm>
          <a:off x="0" y="0"/>
          <a:ext cx="1946031" cy="1554480"/>
        </p:xfrm>
        <a:graphic>
          <a:graphicData uri="http://schemas.openxmlformats.org/drawingml/2006/table">
            <a:tbl>
              <a:tblPr firstRow="1" bandRow="1">
                <a:tableStyleId>{5C22544A-7EE6-4342-B048-85BDC9FD1C3A}</a:tableStyleId>
              </a:tblPr>
              <a:tblGrid>
                <a:gridCol w="1946031">
                  <a:extLst>
                    <a:ext uri="{9D8B030D-6E8A-4147-A177-3AD203B41FA5}">
                      <a16:colId xmlns:a16="http://schemas.microsoft.com/office/drawing/2014/main" val="1529901115"/>
                    </a:ext>
                  </a:extLst>
                </a:gridCol>
              </a:tblGrid>
              <a:tr h="370840">
                <a:tc>
                  <a:txBody>
                    <a:bodyPr/>
                    <a:lstStyle/>
                    <a:p>
                      <a:r>
                        <a:rPr lang="en-AU" sz="1800" dirty="0"/>
                        <a:t>Learning Intention</a:t>
                      </a:r>
                    </a:p>
                  </a:txBody>
                  <a:tcPr>
                    <a:solidFill>
                      <a:srgbClr val="F77B15"/>
                    </a:solidFill>
                  </a:tcPr>
                </a:tc>
                <a:extLst>
                  <a:ext uri="{0D108BD9-81ED-4DB2-BD59-A6C34878D82A}">
                    <a16:rowId xmlns:a16="http://schemas.microsoft.com/office/drawing/2014/main" val="438604388"/>
                  </a:ext>
                </a:extLst>
              </a:tr>
              <a:tr h="370840">
                <a:tc>
                  <a:txBody>
                    <a:bodyPr/>
                    <a:lstStyle/>
                    <a:p>
                      <a:r>
                        <a:rPr lang="en-AU" sz="1800" dirty="0" smtClean="0"/>
                        <a:t>To be able to embed a quote in an</a:t>
                      </a:r>
                      <a:r>
                        <a:rPr lang="en-AU" sz="1800" baseline="0" dirty="0" smtClean="0"/>
                        <a:t> essay sentence</a:t>
                      </a:r>
                      <a:endParaRPr lang="en-AU" sz="1800" dirty="0"/>
                    </a:p>
                  </a:txBody>
                  <a:tcPr>
                    <a:solidFill>
                      <a:schemeClr val="accent3">
                        <a:lumMod val="40000"/>
                        <a:lumOff val="60000"/>
                      </a:schemeClr>
                    </a:solidFill>
                  </a:tcPr>
                </a:tc>
                <a:extLst>
                  <a:ext uri="{0D108BD9-81ED-4DB2-BD59-A6C34878D82A}">
                    <a16:rowId xmlns:a16="http://schemas.microsoft.com/office/drawing/2014/main" val="2214889484"/>
                  </a:ext>
                </a:extLst>
              </a:tr>
            </a:tbl>
          </a:graphicData>
        </a:graphic>
      </p:graphicFrame>
      <p:graphicFrame>
        <p:nvGraphicFramePr>
          <p:cNvPr id="4" name="Table 3"/>
          <p:cNvGraphicFramePr>
            <a:graphicFrameLocks noGrp="1"/>
          </p:cNvGraphicFramePr>
          <p:nvPr>
            <p:extLst>
              <p:ext uri="{D42A27DB-BD31-4B8C-83A1-F6EECF244321}">
                <p14:modId xmlns:p14="http://schemas.microsoft.com/office/powerpoint/2010/main" val="714771800"/>
              </p:ext>
            </p:extLst>
          </p:nvPr>
        </p:nvGraphicFramePr>
        <p:xfrm>
          <a:off x="2224247" y="2298073"/>
          <a:ext cx="7557062" cy="1645920"/>
        </p:xfrm>
        <a:graphic>
          <a:graphicData uri="http://schemas.openxmlformats.org/drawingml/2006/table">
            <a:tbl>
              <a:tblPr firstRow="1" bandRow="1">
                <a:tableStyleId>{00A15C55-8517-42AA-B614-E9B94910E393}</a:tableStyleId>
              </a:tblPr>
              <a:tblGrid>
                <a:gridCol w="3778531">
                  <a:extLst>
                    <a:ext uri="{9D8B030D-6E8A-4147-A177-3AD203B41FA5}">
                      <a16:colId xmlns:a16="http://schemas.microsoft.com/office/drawing/2014/main" val="2349093606"/>
                    </a:ext>
                  </a:extLst>
                </a:gridCol>
                <a:gridCol w="3778531">
                  <a:extLst>
                    <a:ext uri="{9D8B030D-6E8A-4147-A177-3AD203B41FA5}">
                      <a16:colId xmlns:a16="http://schemas.microsoft.com/office/drawing/2014/main" val="3698811178"/>
                    </a:ext>
                  </a:extLst>
                </a:gridCol>
              </a:tblGrid>
              <a:tr h="446919">
                <a:tc>
                  <a:txBody>
                    <a:bodyPr/>
                    <a:lstStyle/>
                    <a:p>
                      <a:r>
                        <a:rPr lang="en-AU" sz="2400" dirty="0" smtClean="0"/>
                        <a:t>Lead</a:t>
                      </a:r>
                      <a:r>
                        <a:rPr lang="en-AU" sz="2400" baseline="0" dirty="0" smtClean="0"/>
                        <a:t>-in clause</a:t>
                      </a:r>
                      <a:endParaRPr lang="en-AU" sz="2400" dirty="0"/>
                    </a:p>
                  </a:txBody>
                  <a:tcPr/>
                </a:tc>
                <a:tc>
                  <a:txBody>
                    <a:bodyPr/>
                    <a:lstStyle/>
                    <a:p>
                      <a:r>
                        <a:rPr lang="en-AU" sz="2400" dirty="0" smtClean="0"/>
                        <a:t>Connecting phrase</a:t>
                      </a:r>
                      <a:endParaRPr lang="en-AU" sz="2400" dirty="0"/>
                    </a:p>
                  </a:txBody>
                  <a:tcPr/>
                </a:tc>
                <a:extLst>
                  <a:ext uri="{0D108BD9-81ED-4DB2-BD59-A6C34878D82A}">
                    <a16:rowId xmlns:a16="http://schemas.microsoft.com/office/drawing/2014/main" val="2239598386"/>
                  </a:ext>
                </a:extLst>
              </a:tr>
              <a:tr h="1161990">
                <a:tc>
                  <a:txBody>
                    <a:bodyPr/>
                    <a:lstStyle/>
                    <a:p>
                      <a:r>
                        <a:rPr lang="en-AU" sz="2400" dirty="0" smtClean="0"/>
                        <a:t>When </a:t>
                      </a:r>
                      <a:r>
                        <a:rPr lang="en-AU" sz="2400" dirty="0" err="1" smtClean="0"/>
                        <a:t>Dupin</a:t>
                      </a:r>
                      <a:r>
                        <a:rPr lang="en-AU" sz="2400" baseline="0" dirty="0" smtClean="0"/>
                        <a:t> says… </a:t>
                      </a:r>
                    </a:p>
                    <a:p>
                      <a:r>
                        <a:rPr lang="en-AU" sz="2400" baseline="0" dirty="0" smtClean="0"/>
                        <a:t>When Cornwell writes…</a:t>
                      </a:r>
                    </a:p>
                    <a:p>
                      <a:r>
                        <a:rPr lang="en-AU" sz="2400" baseline="0" dirty="0" smtClean="0"/>
                        <a:t>When Marlowe thinks…</a:t>
                      </a:r>
                      <a:endParaRPr lang="en-AU" sz="2400" dirty="0"/>
                    </a:p>
                  </a:txBody>
                  <a:tcPr/>
                </a:tc>
                <a:tc>
                  <a:txBody>
                    <a:bodyPr/>
                    <a:lstStyle/>
                    <a:p>
                      <a:r>
                        <a:rPr lang="en-AU" sz="2400" dirty="0" smtClean="0"/>
                        <a:t>… this shows that…</a:t>
                      </a:r>
                    </a:p>
                    <a:p>
                      <a:r>
                        <a:rPr lang="en-AU" sz="2400" dirty="0" smtClean="0"/>
                        <a:t>… this demonstrates that…</a:t>
                      </a:r>
                    </a:p>
                    <a:p>
                      <a:r>
                        <a:rPr lang="en-AU" sz="2400" dirty="0" smtClean="0"/>
                        <a:t>… this illustrates that… </a:t>
                      </a:r>
                      <a:r>
                        <a:rPr lang="en-AU" sz="2400" dirty="0" smtClean="0"/>
                        <a:t> </a:t>
                      </a:r>
                      <a:endParaRPr lang="en-AU" sz="2400" dirty="0"/>
                    </a:p>
                  </a:txBody>
                  <a:tcPr/>
                </a:tc>
                <a:extLst>
                  <a:ext uri="{0D108BD9-81ED-4DB2-BD59-A6C34878D82A}">
                    <a16:rowId xmlns:a16="http://schemas.microsoft.com/office/drawing/2014/main" val="1313031507"/>
                  </a:ext>
                </a:extLst>
              </a:tr>
            </a:tbl>
          </a:graphicData>
        </a:graphic>
      </p:graphicFrame>
      <p:graphicFrame>
        <p:nvGraphicFramePr>
          <p:cNvPr id="9" name="Table 8"/>
          <p:cNvGraphicFramePr>
            <a:graphicFrameLocks noGrp="1"/>
          </p:cNvGraphicFramePr>
          <p:nvPr>
            <p:extLst>
              <p:ext uri="{D42A27DB-BD31-4B8C-83A1-F6EECF244321}">
                <p14:modId xmlns:p14="http://schemas.microsoft.com/office/powerpoint/2010/main" val="2039374092"/>
              </p:ext>
            </p:extLst>
          </p:nvPr>
        </p:nvGraphicFramePr>
        <p:xfrm>
          <a:off x="2224247" y="4223408"/>
          <a:ext cx="9213578" cy="1359973"/>
        </p:xfrm>
        <a:graphic>
          <a:graphicData uri="http://schemas.openxmlformats.org/drawingml/2006/table">
            <a:tbl>
              <a:tblPr firstRow="1" bandRow="1">
                <a:tableStyleId>{21E4AEA4-8DFA-4A89-87EB-49C32662AFE0}</a:tableStyleId>
              </a:tblPr>
              <a:tblGrid>
                <a:gridCol w="9213578">
                  <a:extLst>
                    <a:ext uri="{9D8B030D-6E8A-4147-A177-3AD203B41FA5}">
                      <a16:colId xmlns:a16="http://schemas.microsoft.com/office/drawing/2014/main" val="90319288"/>
                    </a:ext>
                  </a:extLst>
                </a:gridCol>
              </a:tblGrid>
              <a:tr h="1359973">
                <a:tc>
                  <a:txBody>
                    <a:bodyPr/>
                    <a:lstStyle/>
                    <a:p>
                      <a:r>
                        <a:rPr lang="en-AU" sz="2400" dirty="0" smtClean="0"/>
                        <a:t>When </a:t>
                      </a:r>
                      <a:r>
                        <a:rPr lang="en-AU" sz="2400" dirty="0" smtClean="0">
                          <a:solidFill>
                            <a:schemeClr val="bg1"/>
                          </a:solidFill>
                        </a:rPr>
                        <a:t>Marlowe observes</a:t>
                      </a:r>
                      <a:r>
                        <a:rPr lang="en-AU" sz="2400" baseline="0" dirty="0" smtClean="0">
                          <a:solidFill>
                            <a:schemeClr val="bg1"/>
                          </a:solidFill>
                        </a:rPr>
                        <a:t> that “</a:t>
                      </a:r>
                      <a:r>
                        <a:rPr lang="en-AU" sz="2400" b="1" kern="1200" dirty="0" smtClean="0">
                          <a:solidFill>
                            <a:schemeClr val="bg1"/>
                          </a:solidFill>
                          <a:effectLst/>
                          <a:latin typeface="+mn-lt"/>
                          <a:ea typeface="+mn-ea"/>
                          <a:cs typeface="+mn-cs"/>
                        </a:rPr>
                        <a:t>thinking was always going to be a bother” to Carmen </a:t>
                      </a:r>
                      <a:r>
                        <a:rPr lang="en-AU" sz="2400" b="1" kern="1200" dirty="0" err="1" smtClean="0">
                          <a:solidFill>
                            <a:schemeClr val="bg1"/>
                          </a:solidFill>
                          <a:effectLst/>
                          <a:latin typeface="+mn-lt"/>
                          <a:ea typeface="+mn-ea"/>
                          <a:cs typeface="+mn-cs"/>
                        </a:rPr>
                        <a:t>Sternwood</a:t>
                      </a:r>
                      <a:r>
                        <a:rPr lang="en-AU" sz="2400" b="1" kern="1200" dirty="0" smtClean="0">
                          <a:solidFill>
                            <a:schemeClr val="bg1"/>
                          </a:solidFill>
                          <a:effectLst/>
                          <a:latin typeface="+mn-lt"/>
                          <a:ea typeface="+mn-ea"/>
                          <a:cs typeface="+mn-cs"/>
                        </a:rPr>
                        <a:t>,</a:t>
                      </a:r>
                      <a:r>
                        <a:rPr lang="en-AU" sz="2400" b="1" kern="1200" baseline="0" dirty="0" smtClean="0">
                          <a:solidFill>
                            <a:schemeClr val="bg1"/>
                          </a:solidFill>
                          <a:effectLst/>
                          <a:latin typeface="+mn-lt"/>
                          <a:ea typeface="+mn-ea"/>
                          <a:cs typeface="+mn-cs"/>
                        </a:rPr>
                        <a:t> this demonstrates the lack of strong female characters in hard-boiled crime fiction.</a:t>
                      </a:r>
                      <a:endParaRPr lang="en-AU" sz="2400" dirty="0">
                        <a:solidFill>
                          <a:schemeClr val="bg1"/>
                        </a:solidFill>
                      </a:endParaRPr>
                    </a:p>
                  </a:txBody>
                  <a:tcPr/>
                </a:tc>
                <a:extLst>
                  <a:ext uri="{0D108BD9-81ED-4DB2-BD59-A6C34878D82A}">
                    <a16:rowId xmlns:a16="http://schemas.microsoft.com/office/drawing/2014/main" val="2375649748"/>
                  </a:ext>
                </a:extLst>
              </a:tr>
            </a:tbl>
          </a:graphicData>
        </a:graphic>
      </p:graphicFrame>
      <p:graphicFrame>
        <p:nvGraphicFramePr>
          <p:cNvPr id="10" name="Table 9">
            <a:extLst>
              <a:ext uri="{FF2B5EF4-FFF2-40B4-BE49-F238E27FC236}">
                <a16:creationId xmlns:a16="http://schemas.microsoft.com/office/drawing/2014/main" id="{2170DDB3-4322-45B9-A426-838813124F89}"/>
              </a:ext>
            </a:extLst>
          </p:cNvPr>
          <p:cNvGraphicFramePr>
            <a:graphicFrameLocks noGrp="1"/>
          </p:cNvGraphicFramePr>
          <p:nvPr>
            <p:extLst>
              <p:ext uri="{D42A27DB-BD31-4B8C-83A1-F6EECF244321}">
                <p14:modId xmlns:p14="http://schemas.microsoft.com/office/powerpoint/2010/main" val="2275683551"/>
              </p:ext>
            </p:extLst>
          </p:nvPr>
        </p:nvGraphicFramePr>
        <p:xfrm>
          <a:off x="11723" y="1554480"/>
          <a:ext cx="1946032" cy="5303521"/>
        </p:xfrm>
        <a:graphic>
          <a:graphicData uri="http://schemas.openxmlformats.org/drawingml/2006/table">
            <a:tbl>
              <a:tblPr firstRow="1" bandRow="1">
                <a:tableStyleId>{5C22544A-7EE6-4342-B048-85BDC9FD1C3A}</a:tableStyleId>
              </a:tblPr>
              <a:tblGrid>
                <a:gridCol w="1946032">
                  <a:extLst>
                    <a:ext uri="{9D8B030D-6E8A-4147-A177-3AD203B41FA5}">
                      <a16:colId xmlns:a16="http://schemas.microsoft.com/office/drawing/2014/main" val="1529901115"/>
                    </a:ext>
                  </a:extLst>
                </a:gridCol>
              </a:tblGrid>
              <a:tr h="417533">
                <a:tc>
                  <a:txBody>
                    <a:bodyPr/>
                    <a:lstStyle/>
                    <a:p>
                      <a:r>
                        <a:rPr lang="en-AU" sz="2000" dirty="0"/>
                        <a:t>Success Criteria</a:t>
                      </a:r>
                    </a:p>
                  </a:txBody>
                  <a:tcPr>
                    <a:solidFill>
                      <a:srgbClr val="F77B15"/>
                    </a:solidFill>
                  </a:tcPr>
                </a:tc>
                <a:extLst>
                  <a:ext uri="{0D108BD9-81ED-4DB2-BD59-A6C34878D82A}">
                    <a16:rowId xmlns:a16="http://schemas.microsoft.com/office/drawing/2014/main" val="438604388"/>
                  </a:ext>
                </a:extLst>
              </a:tr>
              <a:tr h="1163426">
                <a:tc>
                  <a:txBody>
                    <a:bodyPr/>
                    <a:lstStyle/>
                    <a:p>
                      <a:r>
                        <a:rPr lang="en-AU" sz="2000" dirty="0"/>
                        <a:t>I </a:t>
                      </a:r>
                      <a:r>
                        <a:rPr lang="en-AU" sz="2000" dirty="0" smtClean="0"/>
                        <a:t>can</a:t>
                      </a:r>
                      <a:r>
                        <a:rPr lang="en-AU" sz="2000" baseline="0" dirty="0" smtClean="0"/>
                        <a:t> identify the most important part of my quote</a:t>
                      </a:r>
                      <a:endParaRPr lang="en-AU" sz="2000" dirty="0"/>
                    </a:p>
                  </a:txBody>
                  <a:tcPr>
                    <a:solidFill>
                      <a:srgbClr val="FFFF00"/>
                    </a:solidFill>
                  </a:tcPr>
                </a:tc>
                <a:extLst>
                  <a:ext uri="{0D108BD9-81ED-4DB2-BD59-A6C34878D82A}">
                    <a16:rowId xmlns:a16="http://schemas.microsoft.com/office/drawing/2014/main" val="2214889484"/>
                  </a:ext>
                </a:extLst>
              </a:tr>
              <a:tr h="1381070">
                <a:tc>
                  <a:txBody>
                    <a:bodyPr/>
                    <a:lstStyle/>
                    <a:p>
                      <a:r>
                        <a:rPr lang="en-AU" sz="2000" dirty="0" smtClean="0"/>
                        <a:t>I can use the formula for embedding quotes</a:t>
                      </a:r>
                      <a:endParaRPr lang="en-AU" sz="2000" dirty="0"/>
                    </a:p>
                  </a:txBody>
                  <a:tcPr>
                    <a:solidFill>
                      <a:srgbClr val="FFFF00"/>
                    </a:solidFill>
                  </a:tcPr>
                </a:tc>
                <a:extLst>
                  <a:ext uri="{0D108BD9-81ED-4DB2-BD59-A6C34878D82A}">
                    <a16:rowId xmlns:a16="http://schemas.microsoft.com/office/drawing/2014/main" val="2229975842"/>
                  </a:ext>
                </a:extLst>
              </a:tr>
              <a:tr h="1178066">
                <a:tc>
                  <a:txBody>
                    <a:bodyPr/>
                    <a:lstStyle/>
                    <a:p>
                      <a:r>
                        <a:rPr lang="en-AU" sz="2000" dirty="0"/>
                        <a:t>I can </a:t>
                      </a:r>
                      <a:r>
                        <a:rPr lang="en-AU" sz="2000" dirty="0" smtClean="0"/>
                        <a:t>embed a short quote into</a:t>
                      </a:r>
                      <a:r>
                        <a:rPr lang="en-AU" sz="2000" baseline="0" dirty="0" smtClean="0"/>
                        <a:t> a sentence</a:t>
                      </a:r>
                      <a:endParaRPr lang="en-AU" sz="2000" dirty="0"/>
                    </a:p>
                  </a:txBody>
                  <a:tcPr>
                    <a:solidFill>
                      <a:srgbClr val="92D050"/>
                    </a:solidFill>
                  </a:tcPr>
                </a:tc>
                <a:extLst>
                  <a:ext uri="{0D108BD9-81ED-4DB2-BD59-A6C34878D82A}">
                    <a16:rowId xmlns:a16="http://schemas.microsoft.com/office/drawing/2014/main" val="835583285"/>
                  </a:ext>
                </a:extLst>
              </a:tr>
              <a:tr h="1163426">
                <a:tc>
                  <a:txBody>
                    <a:bodyPr/>
                    <a:lstStyle/>
                    <a:p>
                      <a:r>
                        <a:rPr lang="en-AU" sz="2000" dirty="0"/>
                        <a:t>I can </a:t>
                      </a:r>
                      <a:r>
                        <a:rPr lang="en-AU" sz="2000" dirty="0" smtClean="0"/>
                        <a:t>analysis</a:t>
                      </a:r>
                      <a:r>
                        <a:rPr lang="en-AU" sz="2000" baseline="0" dirty="0" smtClean="0"/>
                        <a:t> the quote in the same sentence.</a:t>
                      </a:r>
                      <a:endParaRPr lang="en-AU" sz="2000" dirty="0"/>
                    </a:p>
                  </a:txBody>
                  <a:tcPr>
                    <a:solidFill>
                      <a:srgbClr val="92D050"/>
                    </a:solidFill>
                  </a:tcPr>
                </a:tc>
                <a:extLst>
                  <a:ext uri="{0D108BD9-81ED-4DB2-BD59-A6C34878D82A}">
                    <a16:rowId xmlns:a16="http://schemas.microsoft.com/office/drawing/2014/main" val="3081174515"/>
                  </a:ext>
                </a:extLst>
              </a:tr>
            </a:tbl>
          </a:graphicData>
        </a:graphic>
      </p:graphicFrame>
    </p:spTree>
    <p:extLst>
      <p:ext uri="{BB962C8B-B14F-4D97-AF65-F5344CB8AC3E}">
        <p14:creationId xmlns:p14="http://schemas.microsoft.com/office/powerpoint/2010/main" val="132366251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8056BC-B744-4648-AB3F-308DEE4EBD84}"/>
              </a:ext>
            </a:extLst>
          </p:cNvPr>
          <p:cNvSpPr>
            <a:spLocks noGrp="1"/>
          </p:cNvSpPr>
          <p:nvPr>
            <p:ph type="title"/>
          </p:nvPr>
        </p:nvSpPr>
        <p:spPr>
          <a:xfrm>
            <a:off x="2578223" y="555088"/>
            <a:ext cx="8505626" cy="999392"/>
          </a:xfrm>
        </p:spPr>
        <p:txBody>
          <a:bodyPr>
            <a:normAutofit/>
          </a:bodyPr>
          <a:lstStyle/>
          <a:p>
            <a:r>
              <a:rPr lang="en-AU" dirty="0" smtClean="0"/>
              <a:t>Formula</a:t>
            </a:r>
            <a:endParaRPr lang="en-AU" dirty="0"/>
          </a:p>
        </p:txBody>
      </p:sp>
      <p:sp>
        <p:nvSpPr>
          <p:cNvPr id="3" name="Content Placeholder 2">
            <a:extLst>
              <a:ext uri="{FF2B5EF4-FFF2-40B4-BE49-F238E27FC236}">
                <a16:creationId xmlns:a16="http://schemas.microsoft.com/office/drawing/2014/main" id="{9D578D22-A381-4859-86FF-72B31CF4A541}"/>
              </a:ext>
            </a:extLst>
          </p:cNvPr>
          <p:cNvSpPr>
            <a:spLocks noGrp="1"/>
          </p:cNvSpPr>
          <p:nvPr>
            <p:ph idx="1"/>
          </p:nvPr>
        </p:nvSpPr>
        <p:spPr>
          <a:xfrm>
            <a:off x="2224247" y="1746662"/>
            <a:ext cx="9213578" cy="816429"/>
          </a:xfrm>
        </p:spPr>
        <p:txBody>
          <a:bodyPr>
            <a:normAutofit/>
          </a:bodyPr>
          <a:lstStyle/>
          <a:p>
            <a:r>
              <a:rPr lang="en-AU" dirty="0" smtClean="0">
                <a:solidFill>
                  <a:schemeClr val="tx1"/>
                </a:solidFill>
              </a:rPr>
              <a:t>This is an easy way to embed quotes rather than dumping them on the page.</a:t>
            </a:r>
            <a:endParaRPr lang="en-AU" i="1" dirty="0">
              <a:solidFill>
                <a:schemeClr val="tx1"/>
              </a:solidFill>
            </a:endParaRPr>
          </a:p>
        </p:txBody>
      </p:sp>
      <p:graphicFrame>
        <p:nvGraphicFramePr>
          <p:cNvPr id="6" name="Table 5">
            <a:extLst>
              <a:ext uri="{FF2B5EF4-FFF2-40B4-BE49-F238E27FC236}">
                <a16:creationId xmlns:a16="http://schemas.microsoft.com/office/drawing/2014/main" id="{EAB08AA4-98F3-4569-B79D-96E000ABA983}"/>
              </a:ext>
            </a:extLst>
          </p:cNvPr>
          <p:cNvGraphicFramePr>
            <a:graphicFrameLocks noGrp="1"/>
          </p:cNvGraphicFramePr>
          <p:nvPr>
            <p:extLst/>
          </p:nvPr>
        </p:nvGraphicFramePr>
        <p:xfrm>
          <a:off x="0" y="0"/>
          <a:ext cx="1946031" cy="1554480"/>
        </p:xfrm>
        <a:graphic>
          <a:graphicData uri="http://schemas.openxmlformats.org/drawingml/2006/table">
            <a:tbl>
              <a:tblPr firstRow="1" bandRow="1">
                <a:tableStyleId>{5C22544A-7EE6-4342-B048-85BDC9FD1C3A}</a:tableStyleId>
              </a:tblPr>
              <a:tblGrid>
                <a:gridCol w="1946031">
                  <a:extLst>
                    <a:ext uri="{9D8B030D-6E8A-4147-A177-3AD203B41FA5}">
                      <a16:colId xmlns:a16="http://schemas.microsoft.com/office/drawing/2014/main" val="1529901115"/>
                    </a:ext>
                  </a:extLst>
                </a:gridCol>
              </a:tblGrid>
              <a:tr h="370840">
                <a:tc>
                  <a:txBody>
                    <a:bodyPr/>
                    <a:lstStyle/>
                    <a:p>
                      <a:r>
                        <a:rPr lang="en-AU" sz="1800" dirty="0"/>
                        <a:t>Learning Intention</a:t>
                      </a:r>
                    </a:p>
                  </a:txBody>
                  <a:tcPr>
                    <a:solidFill>
                      <a:srgbClr val="F77B15"/>
                    </a:solidFill>
                  </a:tcPr>
                </a:tc>
                <a:extLst>
                  <a:ext uri="{0D108BD9-81ED-4DB2-BD59-A6C34878D82A}">
                    <a16:rowId xmlns:a16="http://schemas.microsoft.com/office/drawing/2014/main" val="438604388"/>
                  </a:ext>
                </a:extLst>
              </a:tr>
              <a:tr h="370840">
                <a:tc>
                  <a:txBody>
                    <a:bodyPr/>
                    <a:lstStyle/>
                    <a:p>
                      <a:r>
                        <a:rPr lang="en-AU" sz="1800" dirty="0" smtClean="0"/>
                        <a:t>To be able to embed a quote in an</a:t>
                      </a:r>
                      <a:r>
                        <a:rPr lang="en-AU" sz="1800" baseline="0" dirty="0" smtClean="0"/>
                        <a:t> essay sentence</a:t>
                      </a:r>
                      <a:endParaRPr lang="en-AU" sz="1800" dirty="0"/>
                    </a:p>
                  </a:txBody>
                  <a:tcPr>
                    <a:solidFill>
                      <a:schemeClr val="accent3">
                        <a:lumMod val="40000"/>
                        <a:lumOff val="60000"/>
                      </a:schemeClr>
                    </a:solidFill>
                  </a:tcPr>
                </a:tc>
                <a:extLst>
                  <a:ext uri="{0D108BD9-81ED-4DB2-BD59-A6C34878D82A}">
                    <a16:rowId xmlns:a16="http://schemas.microsoft.com/office/drawing/2014/main" val="2214889484"/>
                  </a:ext>
                </a:extLst>
              </a:tr>
            </a:tbl>
          </a:graphicData>
        </a:graphic>
      </p:graphicFrame>
      <p:graphicFrame>
        <p:nvGraphicFramePr>
          <p:cNvPr id="4" name="Table 3"/>
          <p:cNvGraphicFramePr>
            <a:graphicFrameLocks noGrp="1"/>
          </p:cNvGraphicFramePr>
          <p:nvPr/>
        </p:nvGraphicFramePr>
        <p:xfrm>
          <a:off x="2224247" y="2298073"/>
          <a:ext cx="7557062" cy="1645920"/>
        </p:xfrm>
        <a:graphic>
          <a:graphicData uri="http://schemas.openxmlformats.org/drawingml/2006/table">
            <a:tbl>
              <a:tblPr firstRow="1" bandRow="1">
                <a:tableStyleId>{00A15C55-8517-42AA-B614-E9B94910E393}</a:tableStyleId>
              </a:tblPr>
              <a:tblGrid>
                <a:gridCol w="3778531">
                  <a:extLst>
                    <a:ext uri="{9D8B030D-6E8A-4147-A177-3AD203B41FA5}">
                      <a16:colId xmlns:a16="http://schemas.microsoft.com/office/drawing/2014/main" val="2349093606"/>
                    </a:ext>
                  </a:extLst>
                </a:gridCol>
                <a:gridCol w="3778531">
                  <a:extLst>
                    <a:ext uri="{9D8B030D-6E8A-4147-A177-3AD203B41FA5}">
                      <a16:colId xmlns:a16="http://schemas.microsoft.com/office/drawing/2014/main" val="3698811178"/>
                    </a:ext>
                  </a:extLst>
                </a:gridCol>
              </a:tblGrid>
              <a:tr h="446919">
                <a:tc>
                  <a:txBody>
                    <a:bodyPr/>
                    <a:lstStyle/>
                    <a:p>
                      <a:r>
                        <a:rPr lang="en-AU" sz="2400" dirty="0" smtClean="0"/>
                        <a:t>Lead</a:t>
                      </a:r>
                      <a:r>
                        <a:rPr lang="en-AU" sz="2400" baseline="0" dirty="0" smtClean="0"/>
                        <a:t>-in clause</a:t>
                      </a:r>
                      <a:endParaRPr lang="en-AU" sz="2400" dirty="0"/>
                    </a:p>
                  </a:txBody>
                  <a:tcPr/>
                </a:tc>
                <a:tc>
                  <a:txBody>
                    <a:bodyPr/>
                    <a:lstStyle/>
                    <a:p>
                      <a:r>
                        <a:rPr lang="en-AU" sz="2400" dirty="0" smtClean="0"/>
                        <a:t>Connecting phrase</a:t>
                      </a:r>
                      <a:endParaRPr lang="en-AU" sz="2400" dirty="0"/>
                    </a:p>
                  </a:txBody>
                  <a:tcPr/>
                </a:tc>
                <a:extLst>
                  <a:ext uri="{0D108BD9-81ED-4DB2-BD59-A6C34878D82A}">
                    <a16:rowId xmlns:a16="http://schemas.microsoft.com/office/drawing/2014/main" val="2239598386"/>
                  </a:ext>
                </a:extLst>
              </a:tr>
              <a:tr h="1161990">
                <a:tc>
                  <a:txBody>
                    <a:bodyPr/>
                    <a:lstStyle/>
                    <a:p>
                      <a:r>
                        <a:rPr lang="en-AU" sz="2400" dirty="0" smtClean="0"/>
                        <a:t>When </a:t>
                      </a:r>
                      <a:r>
                        <a:rPr lang="en-AU" sz="2400" dirty="0" err="1" smtClean="0"/>
                        <a:t>Dupin</a:t>
                      </a:r>
                      <a:r>
                        <a:rPr lang="en-AU" sz="2400" baseline="0" dirty="0" smtClean="0"/>
                        <a:t> says… </a:t>
                      </a:r>
                    </a:p>
                    <a:p>
                      <a:r>
                        <a:rPr lang="en-AU" sz="2400" baseline="0" dirty="0" smtClean="0"/>
                        <a:t>When Cornwell writes…</a:t>
                      </a:r>
                    </a:p>
                    <a:p>
                      <a:r>
                        <a:rPr lang="en-AU" sz="2400" baseline="0" dirty="0" smtClean="0"/>
                        <a:t>When Marlowe thinks…</a:t>
                      </a:r>
                      <a:endParaRPr lang="en-AU" sz="2400" dirty="0"/>
                    </a:p>
                  </a:txBody>
                  <a:tcPr/>
                </a:tc>
                <a:tc>
                  <a:txBody>
                    <a:bodyPr/>
                    <a:lstStyle/>
                    <a:p>
                      <a:r>
                        <a:rPr lang="en-AU" sz="2400" dirty="0" smtClean="0"/>
                        <a:t>… this shows that…</a:t>
                      </a:r>
                    </a:p>
                    <a:p>
                      <a:r>
                        <a:rPr lang="en-AU" sz="2400" dirty="0" smtClean="0"/>
                        <a:t>… this demonstrates that…</a:t>
                      </a:r>
                    </a:p>
                    <a:p>
                      <a:r>
                        <a:rPr lang="en-AU" sz="2400" dirty="0" smtClean="0"/>
                        <a:t>… this illustrates that… </a:t>
                      </a:r>
                      <a:r>
                        <a:rPr lang="en-AU" sz="2400" dirty="0" smtClean="0"/>
                        <a:t> </a:t>
                      </a:r>
                      <a:endParaRPr lang="en-AU" sz="2400" dirty="0"/>
                    </a:p>
                  </a:txBody>
                  <a:tcPr/>
                </a:tc>
                <a:extLst>
                  <a:ext uri="{0D108BD9-81ED-4DB2-BD59-A6C34878D82A}">
                    <a16:rowId xmlns:a16="http://schemas.microsoft.com/office/drawing/2014/main" val="1313031507"/>
                  </a:ext>
                </a:extLst>
              </a:tr>
            </a:tbl>
          </a:graphicData>
        </a:graphic>
      </p:graphicFrame>
      <p:graphicFrame>
        <p:nvGraphicFramePr>
          <p:cNvPr id="8" name="Table 7"/>
          <p:cNvGraphicFramePr>
            <a:graphicFrameLocks noGrp="1"/>
          </p:cNvGraphicFramePr>
          <p:nvPr>
            <p:extLst>
              <p:ext uri="{D42A27DB-BD31-4B8C-83A1-F6EECF244321}">
                <p14:modId xmlns:p14="http://schemas.microsoft.com/office/powerpoint/2010/main" val="3433656700"/>
              </p:ext>
            </p:extLst>
          </p:nvPr>
        </p:nvGraphicFramePr>
        <p:xfrm>
          <a:off x="2224247" y="4405745"/>
          <a:ext cx="9625806" cy="1645920"/>
        </p:xfrm>
        <a:graphic>
          <a:graphicData uri="http://schemas.openxmlformats.org/drawingml/2006/table">
            <a:tbl>
              <a:tblPr firstRow="1" firstCol="1" bandRow="1">
                <a:tableStyleId>{21E4AEA4-8DFA-4A89-87EB-49C32662AFE0}</a:tableStyleId>
              </a:tblPr>
              <a:tblGrid>
                <a:gridCol w="9625806">
                  <a:extLst>
                    <a:ext uri="{9D8B030D-6E8A-4147-A177-3AD203B41FA5}">
                      <a16:colId xmlns:a16="http://schemas.microsoft.com/office/drawing/2014/main" val="3201723763"/>
                    </a:ext>
                  </a:extLst>
                </a:gridCol>
              </a:tblGrid>
              <a:tr h="1560566">
                <a:tc>
                  <a:txBody>
                    <a:bodyPr/>
                    <a:lstStyle/>
                    <a:p>
                      <a:pPr>
                        <a:lnSpc>
                          <a:spcPct val="150000"/>
                        </a:lnSpc>
                        <a:spcAft>
                          <a:spcPts val="0"/>
                        </a:spcAft>
                      </a:pPr>
                      <a:r>
                        <a:rPr lang="en-AU" sz="2400" dirty="0" smtClean="0">
                          <a:effectLst/>
                        </a:rPr>
                        <a:t>When Collins</a:t>
                      </a:r>
                      <a:r>
                        <a:rPr lang="en-AU" sz="2400" baseline="0" dirty="0" smtClean="0">
                          <a:effectLst/>
                        </a:rPr>
                        <a:t> describes “microscopic analysis” and “haemorrhaging into soft tissue”, this demonstrates how the specialised vocabulary of forensic crime fiction.</a:t>
                      </a:r>
                      <a:endParaRPr lang="en-AU" sz="24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821075524"/>
                  </a:ext>
                </a:extLst>
              </a:tr>
            </a:tbl>
          </a:graphicData>
        </a:graphic>
      </p:graphicFrame>
      <p:graphicFrame>
        <p:nvGraphicFramePr>
          <p:cNvPr id="10" name="Table 9">
            <a:extLst>
              <a:ext uri="{FF2B5EF4-FFF2-40B4-BE49-F238E27FC236}">
                <a16:creationId xmlns:a16="http://schemas.microsoft.com/office/drawing/2014/main" id="{2170DDB3-4322-45B9-A426-838813124F89}"/>
              </a:ext>
            </a:extLst>
          </p:cNvPr>
          <p:cNvGraphicFramePr>
            <a:graphicFrameLocks noGrp="1"/>
          </p:cNvGraphicFramePr>
          <p:nvPr>
            <p:extLst>
              <p:ext uri="{D42A27DB-BD31-4B8C-83A1-F6EECF244321}">
                <p14:modId xmlns:p14="http://schemas.microsoft.com/office/powerpoint/2010/main" val="2275683551"/>
              </p:ext>
            </p:extLst>
          </p:nvPr>
        </p:nvGraphicFramePr>
        <p:xfrm>
          <a:off x="11723" y="1554480"/>
          <a:ext cx="1946032" cy="5303521"/>
        </p:xfrm>
        <a:graphic>
          <a:graphicData uri="http://schemas.openxmlformats.org/drawingml/2006/table">
            <a:tbl>
              <a:tblPr firstRow="1" bandRow="1">
                <a:tableStyleId>{5C22544A-7EE6-4342-B048-85BDC9FD1C3A}</a:tableStyleId>
              </a:tblPr>
              <a:tblGrid>
                <a:gridCol w="1946032">
                  <a:extLst>
                    <a:ext uri="{9D8B030D-6E8A-4147-A177-3AD203B41FA5}">
                      <a16:colId xmlns:a16="http://schemas.microsoft.com/office/drawing/2014/main" val="1529901115"/>
                    </a:ext>
                  </a:extLst>
                </a:gridCol>
              </a:tblGrid>
              <a:tr h="417533">
                <a:tc>
                  <a:txBody>
                    <a:bodyPr/>
                    <a:lstStyle/>
                    <a:p>
                      <a:r>
                        <a:rPr lang="en-AU" sz="2000" dirty="0"/>
                        <a:t>Success Criteria</a:t>
                      </a:r>
                    </a:p>
                  </a:txBody>
                  <a:tcPr>
                    <a:solidFill>
                      <a:srgbClr val="F77B15"/>
                    </a:solidFill>
                  </a:tcPr>
                </a:tc>
                <a:extLst>
                  <a:ext uri="{0D108BD9-81ED-4DB2-BD59-A6C34878D82A}">
                    <a16:rowId xmlns:a16="http://schemas.microsoft.com/office/drawing/2014/main" val="438604388"/>
                  </a:ext>
                </a:extLst>
              </a:tr>
              <a:tr h="1163426">
                <a:tc>
                  <a:txBody>
                    <a:bodyPr/>
                    <a:lstStyle/>
                    <a:p>
                      <a:r>
                        <a:rPr lang="en-AU" sz="2000" dirty="0"/>
                        <a:t>I </a:t>
                      </a:r>
                      <a:r>
                        <a:rPr lang="en-AU" sz="2000" dirty="0" smtClean="0"/>
                        <a:t>can</a:t>
                      </a:r>
                      <a:r>
                        <a:rPr lang="en-AU" sz="2000" baseline="0" dirty="0" smtClean="0"/>
                        <a:t> identify the most important part of my quote</a:t>
                      </a:r>
                      <a:endParaRPr lang="en-AU" sz="2000" dirty="0"/>
                    </a:p>
                  </a:txBody>
                  <a:tcPr>
                    <a:solidFill>
                      <a:srgbClr val="FFFF00"/>
                    </a:solidFill>
                  </a:tcPr>
                </a:tc>
                <a:extLst>
                  <a:ext uri="{0D108BD9-81ED-4DB2-BD59-A6C34878D82A}">
                    <a16:rowId xmlns:a16="http://schemas.microsoft.com/office/drawing/2014/main" val="2214889484"/>
                  </a:ext>
                </a:extLst>
              </a:tr>
              <a:tr h="1381070">
                <a:tc>
                  <a:txBody>
                    <a:bodyPr/>
                    <a:lstStyle/>
                    <a:p>
                      <a:r>
                        <a:rPr lang="en-AU" sz="2000" dirty="0" smtClean="0"/>
                        <a:t>I can use the formula for embedding quotes</a:t>
                      </a:r>
                      <a:endParaRPr lang="en-AU" sz="2000" dirty="0"/>
                    </a:p>
                  </a:txBody>
                  <a:tcPr>
                    <a:solidFill>
                      <a:srgbClr val="FFFF00"/>
                    </a:solidFill>
                  </a:tcPr>
                </a:tc>
                <a:extLst>
                  <a:ext uri="{0D108BD9-81ED-4DB2-BD59-A6C34878D82A}">
                    <a16:rowId xmlns:a16="http://schemas.microsoft.com/office/drawing/2014/main" val="2229975842"/>
                  </a:ext>
                </a:extLst>
              </a:tr>
              <a:tr h="1178066">
                <a:tc>
                  <a:txBody>
                    <a:bodyPr/>
                    <a:lstStyle/>
                    <a:p>
                      <a:r>
                        <a:rPr lang="en-AU" sz="2000" dirty="0"/>
                        <a:t>I can </a:t>
                      </a:r>
                      <a:r>
                        <a:rPr lang="en-AU" sz="2000" dirty="0" smtClean="0"/>
                        <a:t>embed a short quote into</a:t>
                      </a:r>
                      <a:r>
                        <a:rPr lang="en-AU" sz="2000" baseline="0" dirty="0" smtClean="0"/>
                        <a:t> a sentence</a:t>
                      </a:r>
                      <a:endParaRPr lang="en-AU" sz="2000" dirty="0"/>
                    </a:p>
                  </a:txBody>
                  <a:tcPr>
                    <a:solidFill>
                      <a:srgbClr val="92D050"/>
                    </a:solidFill>
                  </a:tcPr>
                </a:tc>
                <a:extLst>
                  <a:ext uri="{0D108BD9-81ED-4DB2-BD59-A6C34878D82A}">
                    <a16:rowId xmlns:a16="http://schemas.microsoft.com/office/drawing/2014/main" val="835583285"/>
                  </a:ext>
                </a:extLst>
              </a:tr>
              <a:tr h="1163426">
                <a:tc>
                  <a:txBody>
                    <a:bodyPr/>
                    <a:lstStyle/>
                    <a:p>
                      <a:r>
                        <a:rPr lang="en-AU" sz="2000" dirty="0"/>
                        <a:t>I can </a:t>
                      </a:r>
                      <a:r>
                        <a:rPr lang="en-AU" sz="2000" dirty="0" smtClean="0"/>
                        <a:t>analysis</a:t>
                      </a:r>
                      <a:r>
                        <a:rPr lang="en-AU" sz="2000" baseline="0" dirty="0" smtClean="0"/>
                        <a:t> the quote in the same sentence.</a:t>
                      </a:r>
                      <a:endParaRPr lang="en-AU" sz="2000" dirty="0"/>
                    </a:p>
                  </a:txBody>
                  <a:tcPr>
                    <a:solidFill>
                      <a:srgbClr val="92D050"/>
                    </a:solidFill>
                  </a:tcPr>
                </a:tc>
                <a:extLst>
                  <a:ext uri="{0D108BD9-81ED-4DB2-BD59-A6C34878D82A}">
                    <a16:rowId xmlns:a16="http://schemas.microsoft.com/office/drawing/2014/main" val="3081174515"/>
                  </a:ext>
                </a:extLst>
              </a:tr>
            </a:tbl>
          </a:graphicData>
        </a:graphic>
      </p:graphicFrame>
    </p:spTree>
    <p:extLst>
      <p:ext uri="{BB962C8B-B14F-4D97-AF65-F5344CB8AC3E}">
        <p14:creationId xmlns:p14="http://schemas.microsoft.com/office/powerpoint/2010/main" val="109220483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8056BC-B744-4648-AB3F-308DEE4EBD84}"/>
              </a:ext>
            </a:extLst>
          </p:cNvPr>
          <p:cNvSpPr>
            <a:spLocks noGrp="1"/>
          </p:cNvSpPr>
          <p:nvPr>
            <p:ph type="title"/>
          </p:nvPr>
        </p:nvSpPr>
        <p:spPr>
          <a:xfrm>
            <a:off x="2578223" y="555088"/>
            <a:ext cx="8505626" cy="999392"/>
          </a:xfrm>
        </p:spPr>
        <p:txBody>
          <a:bodyPr>
            <a:normAutofit/>
          </a:bodyPr>
          <a:lstStyle/>
          <a:p>
            <a:r>
              <a:rPr lang="en-AU" dirty="0" smtClean="0"/>
              <a:t>Embedding quotes into sentences</a:t>
            </a:r>
            <a:endParaRPr lang="en-AU" dirty="0"/>
          </a:p>
        </p:txBody>
      </p:sp>
      <p:sp>
        <p:nvSpPr>
          <p:cNvPr id="3" name="Content Placeholder 2">
            <a:extLst>
              <a:ext uri="{FF2B5EF4-FFF2-40B4-BE49-F238E27FC236}">
                <a16:creationId xmlns:a16="http://schemas.microsoft.com/office/drawing/2014/main" id="{9D578D22-A381-4859-86FF-72B31CF4A541}"/>
              </a:ext>
            </a:extLst>
          </p:cNvPr>
          <p:cNvSpPr>
            <a:spLocks noGrp="1"/>
          </p:cNvSpPr>
          <p:nvPr>
            <p:ph idx="1"/>
          </p:nvPr>
        </p:nvSpPr>
        <p:spPr>
          <a:xfrm>
            <a:off x="2212523" y="1516749"/>
            <a:ext cx="9213578" cy="816429"/>
          </a:xfrm>
        </p:spPr>
        <p:txBody>
          <a:bodyPr>
            <a:normAutofit/>
          </a:bodyPr>
          <a:lstStyle/>
          <a:p>
            <a:r>
              <a:rPr lang="en-AU" dirty="0" smtClean="0">
                <a:solidFill>
                  <a:schemeClr val="tx1"/>
                </a:solidFill>
              </a:rPr>
              <a:t>This is </a:t>
            </a:r>
            <a:r>
              <a:rPr lang="en-AU" dirty="0" smtClean="0">
                <a:solidFill>
                  <a:schemeClr val="tx1"/>
                </a:solidFill>
              </a:rPr>
              <a:t>a more sophisticated way of using quotes. </a:t>
            </a:r>
            <a:endParaRPr lang="en-AU" i="1" dirty="0">
              <a:solidFill>
                <a:schemeClr val="tx1"/>
              </a:solidFill>
            </a:endParaRPr>
          </a:p>
        </p:txBody>
      </p:sp>
      <p:graphicFrame>
        <p:nvGraphicFramePr>
          <p:cNvPr id="6" name="Table 5">
            <a:extLst>
              <a:ext uri="{FF2B5EF4-FFF2-40B4-BE49-F238E27FC236}">
                <a16:creationId xmlns:a16="http://schemas.microsoft.com/office/drawing/2014/main" id="{EAB08AA4-98F3-4569-B79D-96E000ABA983}"/>
              </a:ext>
            </a:extLst>
          </p:cNvPr>
          <p:cNvGraphicFramePr>
            <a:graphicFrameLocks noGrp="1"/>
          </p:cNvGraphicFramePr>
          <p:nvPr>
            <p:extLst/>
          </p:nvPr>
        </p:nvGraphicFramePr>
        <p:xfrm>
          <a:off x="0" y="0"/>
          <a:ext cx="1946031" cy="1554480"/>
        </p:xfrm>
        <a:graphic>
          <a:graphicData uri="http://schemas.openxmlformats.org/drawingml/2006/table">
            <a:tbl>
              <a:tblPr firstRow="1" bandRow="1">
                <a:tableStyleId>{5C22544A-7EE6-4342-B048-85BDC9FD1C3A}</a:tableStyleId>
              </a:tblPr>
              <a:tblGrid>
                <a:gridCol w="1946031">
                  <a:extLst>
                    <a:ext uri="{9D8B030D-6E8A-4147-A177-3AD203B41FA5}">
                      <a16:colId xmlns:a16="http://schemas.microsoft.com/office/drawing/2014/main" val="1529901115"/>
                    </a:ext>
                  </a:extLst>
                </a:gridCol>
              </a:tblGrid>
              <a:tr h="370840">
                <a:tc>
                  <a:txBody>
                    <a:bodyPr/>
                    <a:lstStyle/>
                    <a:p>
                      <a:r>
                        <a:rPr lang="en-AU" sz="1800" dirty="0"/>
                        <a:t>Learning Intention</a:t>
                      </a:r>
                    </a:p>
                  </a:txBody>
                  <a:tcPr>
                    <a:solidFill>
                      <a:srgbClr val="F77B15"/>
                    </a:solidFill>
                  </a:tcPr>
                </a:tc>
                <a:extLst>
                  <a:ext uri="{0D108BD9-81ED-4DB2-BD59-A6C34878D82A}">
                    <a16:rowId xmlns:a16="http://schemas.microsoft.com/office/drawing/2014/main" val="438604388"/>
                  </a:ext>
                </a:extLst>
              </a:tr>
              <a:tr h="370840">
                <a:tc>
                  <a:txBody>
                    <a:bodyPr/>
                    <a:lstStyle/>
                    <a:p>
                      <a:r>
                        <a:rPr lang="en-AU" sz="1800" dirty="0" smtClean="0"/>
                        <a:t>To be able to embed a quote in an</a:t>
                      </a:r>
                      <a:r>
                        <a:rPr lang="en-AU" sz="1800" baseline="0" dirty="0" smtClean="0"/>
                        <a:t> essay sentence</a:t>
                      </a:r>
                      <a:endParaRPr lang="en-AU" sz="1800" dirty="0"/>
                    </a:p>
                  </a:txBody>
                  <a:tcPr>
                    <a:solidFill>
                      <a:schemeClr val="accent3">
                        <a:lumMod val="40000"/>
                        <a:lumOff val="60000"/>
                      </a:schemeClr>
                    </a:solidFill>
                  </a:tcPr>
                </a:tc>
                <a:extLst>
                  <a:ext uri="{0D108BD9-81ED-4DB2-BD59-A6C34878D82A}">
                    <a16:rowId xmlns:a16="http://schemas.microsoft.com/office/drawing/2014/main" val="2214889484"/>
                  </a:ext>
                </a:extLst>
              </a:tr>
            </a:tbl>
          </a:graphicData>
        </a:graphic>
      </p:graphicFrame>
      <p:graphicFrame>
        <p:nvGraphicFramePr>
          <p:cNvPr id="5" name="Table 4"/>
          <p:cNvGraphicFramePr>
            <a:graphicFrameLocks noGrp="1"/>
          </p:cNvGraphicFramePr>
          <p:nvPr>
            <p:extLst>
              <p:ext uri="{D42A27DB-BD31-4B8C-83A1-F6EECF244321}">
                <p14:modId xmlns:p14="http://schemas.microsoft.com/office/powerpoint/2010/main" val="2432725548"/>
              </p:ext>
            </p:extLst>
          </p:nvPr>
        </p:nvGraphicFramePr>
        <p:xfrm>
          <a:off x="2212523" y="2130974"/>
          <a:ext cx="9462484" cy="1641536"/>
        </p:xfrm>
        <a:graphic>
          <a:graphicData uri="http://schemas.openxmlformats.org/drawingml/2006/table">
            <a:tbl>
              <a:tblPr firstRow="1" bandRow="1">
                <a:tableStyleId>{00A15C55-8517-42AA-B614-E9B94910E393}</a:tableStyleId>
              </a:tblPr>
              <a:tblGrid>
                <a:gridCol w="9462484">
                  <a:extLst>
                    <a:ext uri="{9D8B030D-6E8A-4147-A177-3AD203B41FA5}">
                      <a16:colId xmlns:a16="http://schemas.microsoft.com/office/drawing/2014/main" val="3473204779"/>
                    </a:ext>
                  </a:extLst>
                </a:gridCol>
              </a:tblGrid>
              <a:tr h="1641536">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AU" sz="2400" dirty="0" smtClean="0">
                          <a:latin typeface="+mj-lt"/>
                          <a:ea typeface="Calibri" panose="020F0502020204030204" pitchFamily="34" charset="0"/>
                          <a:cs typeface="Avenir-Book"/>
                        </a:rPr>
                        <a:t>‘My dad was a man of infinite varieties of bitterness, rage, distaste. In my lifelong struggle to avoid becoming him, I'd developed an inability to demonstrate much negative emotion at all […] It was a constant problem.’ </a:t>
                      </a:r>
                      <a:r>
                        <a:rPr lang="en-AU" sz="2400" i="0" dirty="0" smtClean="0">
                          <a:latin typeface="+mj-lt"/>
                          <a:ea typeface="Calibri" panose="020F0502020204030204" pitchFamily="34" charset="0"/>
                          <a:cs typeface="Avenir-Book"/>
                        </a:rPr>
                        <a:t>Nick</a:t>
                      </a:r>
                      <a:r>
                        <a:rPr lang="en-AU" sz="2400" i="0" baseline="0" dirty="0" smtClean="0">
                          <a:latin typeface="+mj-lt"/>
                          <a:ea typeface="Calibri" panose="020F0502020204030204" pitchFamily="34" charset="0"/>
                          <a:cs typeface="Avenir-Book"/>
                        </a:rPr>
                        <a:t> Dunne</a:t>
                      </a:r>
                      <a:r>
                        <a:rPr lang="en-AU" sz="2400" i="1" baseline="0" dirty="0" smtClean="0">
                          <a:latin typeface="+mj-lt"/>
                          <a:ea typeface="Calibri" panose="020F0502020204030204" pitchFamily="34" charset="0"/>
                          <a:cs typeface="Avenir-Book"/>
                        </a:rPr>
                        <a:t>, Gone Girl</a:t>
                      </a:r>
                      <a:endParaRPr lang="en-AU" sz="2400" dirty="0" smtClean="0">
                        <a:latin typeface="+mj-lt"/>
                      </a:endParaRPr>
                    </a:p>
                  </a:txBody>
                  <a:tcPr/>
                </a:tc>
                <a:extLst>
                  <a:ext uri="{0D108BD9-81ED-4DB2-BD59-A6C34878D82A}">
                    <a16:rowId xmlns:a16="http://schemas.microsoft.com/office/drawing/2014/main" val="1395438192"/>
                  </a:ext>
                </a:extLst>
              </a:tr>
            </a:tbl>
          </a:graphicData>
        </a:graphic>
      </p:graphicFrame>
      <p:graphicFrame>
        <p:nvGraphicFramePr>
          <p:cNvPr id="12" name="Table 11"/>
          <p:cNvGraphicFramePr>
            <a:graphicFrameLocks noGrp="1"/>
          </p:cNvGraphicFramePr>
          <p:nvPr>
            <p:extLst>
              <p:ext uri="{D42A27DB-BD31-4B8C-83A1-F6EECF244321}">
                <p14:modId xmlns:p14="http://schemas.microsoft.com/office/powerpoint/2010/main" val="1426327258"/>
              </p:ext>
            </p:extLst>
          </p:nvPr>
        </p:nvGraphicFramePr>
        <p:xfrm>
          <a:off x="2212523" y="4774663"/>
          <a:ext cx="9462484" cy="1188720"/>
        </p:xfrm>
        <a:graphic>
          <a:graphicData uri="http://schemas.openxmlformats.org/drawingml/2006/table">
            <a:tbl>
              <a:tblPr firstRow="1" bandRow="1">
                <a:tableStyleId>{21E4AEA4-8DFA-4A89-87EB-49C32662AFE0}</a:tableStyleId>
              </a:tblPr>
              <a:tblGrid>
                <a:gridCol w="9462484">
                  <a:extLst>
                    <a:ext uri="{9D8B030D-6E8A-4147-A177-3AD203B41FA5}">
                      <a16:colId xmlns:a16="http://schemas.microsoft.com/office/drawing/2014/main" val="3473204779"/>
                    </a:ext>
                  </a:extLst>
                </a:gridCol>
              </a:tblGrid>
              <a:tr h="1179864">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AU" sz="2400" dirty="0" smtClean="0"/>
                        <a:t>Nick thinks</a:t>
                      </a:r>
                      <a:r>
                        <a:rPr lang="en-AU" sz="2400" baseline="0" dirty="0" smtClean="0"/>
                        <a:t> about his father’s “bitterness” and “rage” and describes his own “lifelong struggle to avoid becoming him”, which demonstrates his potential dark side to the reader. </a:t>
                      </a:r>
                      <a:endParaRPr lang="en-AU" sz="2400" dirty="0" smtClean="0">
                        <a:latin typeface="+mj-lt"/>
                      </a:endParaRPr>
                    </a:p>
                  </a:txBody>
                  <a:tcPr/>
                </a:tc>
                <a:extLst>
                  <a:ext uri="{0D108BD9-81ED-4DB2-BD59-A6C34878D82A}">
                    <a16:rowId xmlns:a16="http://schemas.microsoft.com/office/drawing/2014/main" val="1395438192"/>
                  </a:ext>
                </a:extLst>
              </a:tr>
            </a:tbl>
          </a:graphicData>
        </a:graphic>
      </p:graphicFrame>
      <p:graphicFrame>
        <p:nvGraphicFramePr>
          <p:cNvPr id="13" name="Table 12"/>
          <p:cNvGraphicFramePr>
            <a:graphicFrameLocks noGrp="1"/>
          </p:cNvGraphicFramePr>
          <p:nvPr>
            <p:extLst>
              <p:ext uri="{D42A27DB-BD31-4B8C-83A1-F6EECF244321}">
                <p14:modId xmlns:p14="http://schemas.microsoft.com/office/powerpoint/2010/main" val="3388709705"/>
              </p:ext>
            </p:extLst>
          </p:nvPr>
        </p:nvGraphicFramePr>
        <p:xfrm>
          <a:off x="2212523" y="3994809"/>
          <a:ext cx="9475064" cy="457200"/>
        </p:xfrm>
        <a:graphic>
          <a:graphicData uri="http://schemas.openxmlformats.org/drawingml/2006/table">
            <a:tbl>
              <a:tblPr firstRow="1" bandRow="1">
                <a:tableStyleId>{F5AB1C69-6EDB-4FF4-983F-18BD219EF322}</a:tableStyleId>
              </a:tblPr>
              <a:tblGrid>
                <a:gridCol w="1900999">
                  <a:extLst>
                    <a:ext uri="{9D8B030D-6E8A-4147-A177-3AD203B41FA5}">
                      <a16:colId xmlns:a16="http://schemas.microsoft.com/office/drawing/2014/main" val="2826232967"/>
                    </a:ext>
                  </a:extLst>
                </a:gridCol>
                <a:gridCol w="1440873">
                  <a:extLst>
                    <a:ext uri="{9D8B030D-6E8A-4147-A177-3AD203B41FA5}">
                      <a16:colId xmlns:a16="http://schemas.microsoft.com/office/drawing/2014/main" val="3143072795"/>
                    </a:ext>
                  </a:extLst>
                </a:gridCol>
                <a:gridCol w="1565564">
                  <a:extLst>
                    <a:ext uri="{9D8B030D-6E8A-4147-A177-3AD203B41FA5}">
                      <a16:colId xmlns:a16="http://schemas.microsoft.com/office/drawing/2014/main" val="2306034818"/>
                    </a:ext>
                  </a:extLst>
                </a:gridCol>
                <a:gridCol w="4567628">
                  <a:extLst>
                    <a:ext uri="{9D8B030D-6E8A-4147-A177-3AD203B41FA5}">
                      <a16:colId xmlns:a16="http://schemas.microsoft.com/office/drawing/2014/main" val="1841043607"/>
                    </a:ext>
                  </a:extLst>
                </a:gridCol>
              </a:tblGrid>
              <a:tr h="370840">
                <a:tc>
                  <a:txBody>
                    <a:bodyPr/>
                    <a:lstStyle/>
                    <a:p>
                      <a:r>
                        <a:rPr lang="en-AU" sz="2400" dirty="0" smtClean="0"/>
                        <a:t>Character </a:t>
                      </a:r>
                      <a:endParaRPr lang="en-AU" sz="2400" dirty="0"/>
                    </a:p>
                  </a:txBody>
                  <a:tcPr/>
                </a:tc>
                <a:tc>
                  <a:txBody>
                    <a:bodyPr/>
                    <a:lstStyle/>
                    <a:p>
                      <a:r>
                        <a:rPr lang="en-AU" sz="2400" dirty="0" smtClean="0"/>
                        <a:t>Verb</a:t>
                      </a:r>
                      <a:endParaRPr lang="en-AU" sz="2400" dirty="0"/>
                    </a:p>
                  </a:txBody>
                  <a:tcPr/>
                </a:tc>
                <a:tc>
                  <a:txBody>
                    <a:bodyPr/>
                    <a:lstStyle/>
                    <a:p>
                      <a:r>
                        <a:rPr lang="en-AU" sz="2400" dirty="0" smtClean="0"/>
                        <a:t>Quote</a:t>
                      </a:r>
                      <a:endParaRPr lang="en-AU" sz="2400" dirty="0"/>
                    </a:p>
                  </a:txBody>
                  <a:tcPr/>
                </a:tc>
                <a:tc>
                  <a:txBody>
                    <a:bodyPr/>
                    <a:lstStyle/>
                    <a:p>
                      <a:r>
                        <a:rPr lang="en-AU" sz="2400" dirty="0" smtClean="0"/>
                        <a:t>Relative</a:t>
                      </a:r>
                      <a:r>
                        <a:rPr lang="en-AU" sz="2400" baseline="0" dirty="0" smtClean="0"/>
                        <a:t> pronoun &amp; analytic verb</a:t>
                      </a:r>
                      <a:endParaRPr lang="en-AU" sz="2400" dirty="0"/>
                    </a:p>
                  </a:txBody>
                  <a:tcPr/>
                </a:tc>
                <a:extLst>
                  <a:ext uri="{0D108BD9-81ED-4DB2-BD59-A6C34878D82A}">
                    <a16:rowId xmlns:a16="http://schemas.microsoft.com/office/drawing/2014/main" val="3231000316"/>
                  </a:ext>
                </a:extLst>
              </a:tr>
            </a:tbl>
          </a:graphicData>
        </a:graphic>
      </p:graphicFrame>
      <p:graphicFrame>
        <p:nvGraphicFramePr>
          <p:cNvPr id="14" name="Table 13">
            <a:extLst>
              <a:ext uri="{FF2B5EF4-FFF2-40B4-BE49-F238E27FC236}">
                <a16:creationId xmlns:a16="http://schemas.microsoft.com/office/drawing/2014/main" id="{2170DDB3-4322-45B9-A426-838813124F89}"/>
              </a:ext>
            </a:extLst>
          </p:cNvPr>
          <p:cNvGraphicFramePr>
            <a:graphicFrameLocks noGrp="1"/>
          </p:cNvGraphicFramePr>
          <p:nvPr>
            <p:extLst>
              <p:ext uri="{D42A27DB-BD31-4B8C-83A1-F6EECF244321}">
                <p14:modId xmlns:p14="http://schemas.microsoft.com/office/powerpoint/2010/main" val="2275683551"/>
              </p:ext>
            </p:extLst>
          </p:nvPr>
        </p:nvGraphicFramePr>
        <p:xfrm>
          <a:off x="11723" y="1554480"/>
          <a:ext cx="1946032" cy="5303521"/>
        </p:xfrm>
        <a:graphic>
          <a:graphicData uri="http://schemas.openxmlformats.org/drawingml/2006/table">
            <a:tbl>
              <a:tblPr firstRow="1" bandRow="1">
                <a:tableStyleId>{5C22544A-7EE6-4342-B048-85BDC9FD1C3A}</a:tableStyleId>
              </a:tblPr>
              <a:tblGrid>
                <a:gridCol w="1946032">
                  <a:extLst>
                    <a:ext uri="{9D8B030D-6E8A-4147-A177-3AD203B41FA5}">
                      <a16:colId xmlns:a16="http://schemas.microsoft.com/office/drawing/2014/main" val="1529901115"/>
                    </a:ext>
                  </a:extLst>
                </a:gridCol>
              </a:tblGrid>
              <a:tr h="417533">
                <a:tc>
                  <a:txBody>
                    <a:bodyPr/>
                    <a:lstStyle/>
                    <a:p>
                      <a:r>
                        <a:rPr lang="en-AU" sz="2000" dirty="0"/>
                        <a:t>Success Criteria</a:t>
                      </a:r>
                    </a:p>
                  </a:txBody>
                  <a:tcPr>
                    <a:solidFill>
                      <a:srgbClr val="F77B15"/>
                    </a:solidFill>
                  </a:tcPr>
                </a:tc>
                <a:extLst>
                  <a:ext uri="{0D108BD9-81ED-4DB2-BD59-A6C34878D82A}">
                    <a16:rowId xmlns:a16="http://schemas.microsoft.com/office/drawing/2014/main" val="438604388"/>
                  </a:ext>
                </a:extLst>
              </a:tr>
              <a:tr h="1163426">
                <a:tc>
                  <a:txBody>
                    <a:bodyPr/>
                    <a:lstStyle/>
                    <a:p>
                      <a:r>
                        <a:rPr lang="en-AU" sz="2000" dirty="0"/>
                        <a:t>I </a:t>
                      </a:r>
                      <a:r>
                        <a:rPr lang="en-AU" sz="2000" dirty="0" smtClean="0"/>
                        <a:t>can</a:t>
                      </a:r>
                      <a:r>
                        <a:rPr lang="en-AU" sz="2000" baseline="0" dirty="0" smtClean="0"/>
                        <a:t> identify the most important part of my quote</a:t>
                      </a:r>
                      <a:endParaRPr lang="en-AU" sz="2000" dirty="0"/>
                    </a:p>
                  </a:txBody>
                  <a:tcPr>
                    <a:solidFill>
                      <a:srgbClr val="FFFF00"/>
                    </a:solidFill>
                  </a:tcPr>
                </a:tc>
                <a:extLst>
                  <a:ext uri="{0D108BD9-81ED-4DB2-BD59-A6C34878D82A}">
                    <a16:rowId xmlns:a16="http://schemas.microsoft.com/office/drawing/2014/main" val="2214889484"/>
                  </a:ext>
                </a:extLst>
              </a:tr>
              <a:tr h="1381070">
                <a:tc>
                  <a:txBody>
                    <a:bodyPr/>
                    <a:lstStyle/>
                    <a:p>
                      <a:r>
                        <a:rPr lang="en-AU" sz="2000" dirty="0" smtClean="0"/>
                        <a:t>I can use the formula for embedding quotes</a:t>
                      </a:r>
                      <a:endParaRPr lang="en-AU" sz="2000" dirty="0"/>
                    </a:p>
                  </a:txBody>
                  <a:tcPr>
                    <a:solidFill>
                      <a:srgbClr val="FFFF00"/>
                    </a:solidFill>
                  </a:tcPr>
                </a:tc>
                <a:extLst>
                  <a:ext uri="{0D108BD9-81ED-4DB2-BD59-A6C34878D82A}">
                    <a16:rowId xmlns:a16="http://schemas.microsoft.com/office/drawing/2014/main" val="2229975842"/>
                  </a:ext>
                </a:extLst>
              </a:tr>
              <a:tr h="1178066">
                <a:tc>
                  <a:txBody>
                    <a:bodyPr/>
                    <a:lstStyle/>
                    <a:p>
                      <a:r>
                        <a:rPr lang="en-AU" sz="2000" dirty="0"/>
                        <a:t>I can </a:t>
                      </a:r>
                      <a:r>
                        <a:rPr lang="en-AU" sz="2000" dirty="0" smtClean="0"/>
                        <a:t>embed a short quote into</a:t>
                      </a:r>
                      <a:r>
                        <a:rPr lang="en-AU" sz="2000" baseline="0" dirty="0" smtClean="0"/>
                        <a:t> a sentence</a:t>
                      </a:r>
                      <a:endParaRPr lang="en-AU" sz="2000" dirty="0"/>
                    </a:p>
                  </a:txBody>
                  <a:tcPr>
                    <a:solidFill>
                      <a:srgbClr val="92D050"/>
                    </a:solidFill>
                  </a:tcPr>
                </a:tc>
                <a:extLst>
                  <a:ext uri="{0D108BD9-81ED-4DB2-BD59-A6C34878D82A}">
                    <a16:rowId xmlns:a16="http://schemas.microsoft.com/office/drawing/2014/main" val="835583285"/>
                  </a:ext>
                </a:extLst>
              </a:tr>
              <a:tr h="1163426">
                <a:tc>
                  <a:txBody>
                    <a:bodyPr/>
                    <a:lstStyle/>
                    <a:p>
                      <a:r>
                        <a:rPr lang="en-AU" sz="2000" dirty="0"/>
                        <a:t>I can </a:t>
                      </a:r>
                      <a:r>
                        <a:rPr lang="en-AU" sz="2000" dirty="0" smtClean="0"/>
                        <a:t>analysis</a:t>
                      </a:r>
                      <a:r>
                        <a:rPr lang="en-AU" sz="2000" baseline="0" dirty="0" smtClean="0"/>
                        <a:t> the quote in the same sentence.</a:t>
                      </a:r>
                      <a:endParaRPr lang="en-AU" sz="2000" dirty="0"/>
                    </a:p>
                  </a:txBody>
                  <a:tcPr>
                    <a:solidFill>
                      <a:srgbClr val="92D050"/>
                    </a:solidFill>
                  </a:tcPr>
                </a:tc>
                <a:extLst>
                  <a:ext uri="{0D108BD9-81ED-4DB2-BD59-A6C34878D82A}">
                    <a16:rowId xmlns:a16="http://schemas.microsoft.com/office/drawing/2014/main" val="3081174515"/>
                  </a:ext>
                </a:extLst>
              </a:tr>
            </a:tbl>
          </a:graphicData>
        </a:graphic>
      </p:graphicFrame>
    </p:spTree>
    <p:extLst>
      <p:ext uri="{BB962C8B-B14F-4D97-AF65-F5344CB8AC3E}">
        <p14:creationId xmlns:p14="http://schemas.microsoft.com/office/powerpoint/2010/main" val="328923305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8056BC-B744-4648-AB3F-308DEE4EBD84}"/>
              </a:ext>
            </a:extLst>
          </p:cNvPr>
          <p:cNvSpPr>
            <a:spLocks noGrp="1"/>
          </p:cNvSpPr>
          <p:nvPr>
            <p:ph type="title"/>
          </p:nvPr>
        </p:nvSpPr>
        <p:spPr>
          <a:xfrm>
            <a:off x="2578223" y="555088"/>
            <a:ext cx="8505626" cy="999392"/>
          </a:xfrm>
        </p:spPr>
        <p:txBody>
          <a:bodyPr>
            <a:normAutofit/>
          </a:bodyPr>
          <a:lstStyle/>
          <a:p>
            <a:r>
              <a:rPr lang="en-AU" dirty="0" smtClean="0"/>
              <a:t>Embedding quotes into sentences</a:t>
            </a:r>
            <a:endParaRPr lang="en-AU" dirty="0"/>
          </a:p>
        </p:txBody>
      </p:sp>
      <p:sp>
        <p:nvSpPr>
          <p:cNvPr id="3" name="Content Placeholder 2">
            <a:extLst>
              <a:ext uri="{FF2B5EF4-FFF2-40B4-BE49-F238E27FC236}">
                <a16:creationId xmlns:a16="http://schemas.microsoft.com/office/drawing/2014/main" id="{9D578D22-A381-4859-86FF-72B31CF4A541}"/>
              </a:ext>
            </a:extLst>
          </p:cNvPr>
          <p:cNvSpPr>
            <a:spLocks noGrp="1"/>
          </p:cNvSpPr>
          <p:nvPr>
            <p:ph idx="1"/>
          </p:nvPr>
        </p:nvSpPr>
        <p:spPr>
          <a:xfrm>
            <a:off x="2212523" y="1516749"/>
            <a:ext cx="9213578" cy="816429"/>
          </a:xfrm>
        </p:spPr>
        <p:txBody>
          <a:bodyPr>
            <a:normAutofit/>
          </a:bodyPr>
          <a:lstStyle/>
          <a:p>
            <a:r>
              <a:rPr lang="en-AU" dirty="0" smtClean="0">
                <a:solidFill>
                  <a:schemeClr val="tx1"/>
                </a:solidFill>
              </a:rPr>
              <a:t>Or you can reverse the analysis and quote</a:t>
            </a:r>
            <a:endParaRPr lang="en-AU" i="1" dirty="0">
              <a:solidFill>
                <a:schemeClr val="tx1"/>
              </a:solidFill>
            </a:endParaRPr>
          </a:p>
        </p:txBody>
      </p:sp>
      <p:graphicFrame>
        <p:nvGraphicFramePr>
          <p:cNvPr id="6" name="Table 5">
            <a:extLst>
              <a:ext uri="{FF2B5EF4-FFF2-40B4-BE49-F238E27FC236}">
                <a16:creationId xmlns:a16="http://schemas.microsoft.com/office/drawing/2014/main" id="{EAB08AA4-98F3-4569-B79D-96E000ABA983}"/>
              </a:ext>
            </a:extLst>
          </p:cNvPr>
          <p:cNvGraphicFramePr>
            <a:graphicFrameLocks noGrp="1"/>
          </p:cNvGraphicFramePr>
          <p:nvPr>
            <p:extLst/>
          </p:nvPr>
        </p:nvGraphicFramePr>
        <p:xfrm>
          <a:off x="0" y="0"/>
          <a:ext cx="1946031" cy="1554480"/>
        </p:xfrm>
        <a:graphic>
          <a:graphicData uri="http://schemas.openxmlformats.org/drawingml/2006/table">
            <a:tbl>
              <a:tblPr firstRow="1" bandRow="1">
                <a:tableStyleId>{5C22544A-7EE6-4342-B048-85BDC9FD1C3A}</a:tableStyleId>
              </a:tblPr>
              <a:tblGrid>
                <a:gridCol w="1946031">
                  <a:extLst>
                    <a:ext uri="{9D8B030D-6E8A-4147-A177-3AD203B41FA5}">
                      <a16:colId xmlns:a16="http://schemas.microsoft.com/office/drawing/2014/main" val="1529901115"/>
                    </a:ext>
                  </a:extLst>
                </a:gridCol>
              </a:tblGrid>
              <a:tr h="370840">
                <a:tc>
                  <a:txBody>
                    <a:bodyPr/>
                    <a:lstStyle/>
                    <a:p>
                      <a:r>
                        <a:rPr lang="en-AU" sz="1800" dirty="0"/>
                        <a:t>Learning Intention</a:t>
                      </a:r>
                    </a:p>
                  </a:txBody>
                  <a:tcPr>
                    <a:solidFill>
                      <a:srgbClr val="F77B15"/>
                    </a:solidFill>
                  </a:tcPr>
                </a:tc>
                <a:extLst>
                  <a:ext uri="{0D108BD9-81ED-4DB2-BD59-A6C34878D82A}">
                    <a16:rowId xmlns:a16="http://schemas.microsoft.com/office/drawing/2014/main" val="438604388"/>
                  </a:ext>
                </a:extLst>
              </a:tr>
              <a:tr h="370840">
                <a:tc>
                  <a:txBody>
                    <a:bodyPr/>
                    <a:lstStyle/>
                    <a:p>
                      <a:r>
                        <a:rPr lang="en-AU" sz="1800" dirty="0" smtClean="0"/>
                        <a:t>To be able to embed a quote in an</a:t>
                      </a:r>
                      <a:r>
                        <a:rPr lang="en-AU" sz="1800" baseline="0" dirty="0" smtClean="0"/>
                        <a:t> essay sentence</a:t>
                      </a:r>
                      <a:endParaRPr lang="en-AU" sz="1800" dirty="0"/>
                    </a:p>
                  </a:txBody>
                  <a:tcPr>
                    <a:solidFill>
                      <a:schemeClr val="accent3">
                        <a:lumMod val="40000"/>
                        <a:lumOff val="60000"/>
                      </a:schemeClr>
                    </a:solidFill>
                  </a:tcPr>
                </a:tc>
                <a:extLst>
                  <a:ext uri="{0D108BD9-81ED-4DB2-BD59-A6C34878D82A}">
                    <a16:rowId xmlns:a16="http://schemas.microsoft.com/office/drawing/2014/main" val="2214889484"/>
                  </a:ext>
                </a:extLst>
              </a:tr>
            </a:tbl>
          </a:graphicData>
        </a:graphic>
      </p:graphicFrame>
      <p:graphicFrame>
        <p:nvGraphicFramePr>
          <p:cNvPr id="12" name="Table 11"/>
          <p:cNvGraphicFramePr>
            <a:graphicFrameLocks noGrp="1"/>
          </p:cNvGraphicFramePr>
          <p:nvPr>
            <p:extLst>
              <p:ext uri="{D42A27DB-BD31-4B8C-83A1-F6EECF244321}">
                <p14:modId xmlns:p14="http://schemas.microsoft.com/office/powerpoint/2010/main" val="457334533"/>
              </p:ext>
            </p:extLst>
          </p:nvPr>
        </p:nvGraphicFramePr>
        <p:xfrm>
          <a:off x="2225100" y="2510286"/>
          <a:ext cx="9462484" cy="1188720"/>
        </p:xfrm>
        <a:graphic>
          <a:graphicData uri="http://schemas.openxmlformats.org/drawingml/2006/table">
            <a:tbl>
              <a:tblPr firstRow="1" bandRow="1">
                <a:tableStyleId>{21E4AEA4-8DFA-4A89-87EB-49C32662AFE0}</a:tableStyleId>
              </a:tblPr>
              <a:tblGrid>
                <a:gridCol w="9462484">
                  <a:extLst>
                    <a:ext uri="{9D8B030D-6E8A-4147-A177-3AD203B41FA5}">
                      <a16:colId xmlns:a16="http://schemas.microsoft.com/office/drawing/2014/main" val="3473204779"/>
                    </a:ext>
                  </a:extLst>
                </a:gridCol>
              </a:tblGrid>
              <a:tr h="1179864">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AU" sz="2400" dirty="0" smtClean="0"/>
                        <a:t>Nick </a:t>
                      </a:r>
                      <a:r>
                        <a:rPr lang="en-AU" sz="2400" baseline="0" dirty="0" smtClean="0"/>
                        <a:t>which demonstrates his potential dark side to the reader when he </a:t>
                      </a:r>
                      <a:r>
                        <a:rPr lang="en-AU" sz="2400" dirty="0" smtClean="0"/>
                        <a:t>thinks</a:t>
                      </a:r>
                      <a:r>
                        <a:rPr lang="en-AU" sz="2400" baseline="0" dirty="0" smtClean="0"/>
                        <a:t> about his father’s “bitterness” and “rage” and describes his own “lifelong struggle to avoid becoming him”. </a:t>
                      </a:r>
                      <a:endParaRPr lang="en-AU" sz="2400" dirty="0" smtClean="0">
                        <a:latin typeface="+mj-lt"/>
                      </a:endParaRPr>
                    </a:p>
                  </a:txBody>
                  <a:tcPr/>
                </a:tc>
                <a:extLst>
                  <a:ext uri="{0D108BD9-81ED-4DB2-BD59-A6C34878D82A}">
                    <a16:rowId xmlns:a16="http://schemas.microsoft.com/office/drawing/2014/main" val="1395438192"/>
                  </a:ext>
                </a:extLst>
              </a:tr>
            </a:tbl>
          </a:graphicData>
        </a:graphic>
      </p:graphicFrame>
      <p:graphicFrame>
        <p:nvGraphicFramePr>
          <p:cNvPr id="13" name="Table 12"/>
          <p:cNvGraphicFramePr>
            <a:graphicFrameLocks noGrp="1"/>
          </p:cNvGraphicFramePr>
          <p:nvPr>
            <p:extLst>
              <p:ext uri="{D42A27DB-BD31-4B8C-83A1-F6EECF244321}">
                <p14:modId xmlns:p14="http://schemas.microsoft.com/office/powerpoint/2010/main" val="2358483949"/>
              </p:ext>
            </p:extLst>
          </p:nvPr>
        </p:nvGraphicFramePr>
        <p:xfrm>
          <a:off x="2212523" y="1936938"/>
          <a:ext cx="9475064" cy="457200"/>
        </p:xfrm>
        <a:graphic>
          <a:graphicData uri="http://schemas.openxmlformats.org/drawingml/2006/table">
            <a:tbl>
              <a:tblPr firstRow="1" bandRow="1">
                <a:tableStyleId>{F5AB1C69-6EDB-4FF4-983F-18BD219EF322}</a:tableStyleId>
              </a:tblPr>
              <a:tblGrid>
                <a:gridCol w="1900999">
                  <a:extLst>
                    <a:ext uri="{9D8B030D-6E8A-4147-A177-3AD203B41FA5}">
                      <a16:colId xmlns:a16="http://schemas.microsoft.com/office/drawing/2014/main" val="2826232967"/>
                    </a:ext>
                  </a:extLst>
                </a:gridCol>
                <a:gridCol w="1828800">
                  <a:extLst>
                    <a:ext uri="{9D8B030D-6E8A-4147-A177-3AD203B41FA5}">
                      <a16:colId xmlns:a16="http://schemas.microsoft.com/office/drawing/2014/main" val="3143072795"/>
                    </a:ext>
                  </a:extLst>
                </a:gridCol>
                <a:gridCol w="1939637">
                  <a:extLst>
                    <a:ext uri="{9D8B030D-6E8A-4147-A177-3AD203B41FA5}">
                      <a16:colId xmlns:a16="http://schemas.microsoft.com/office/drawing/2014/main" val="2306034818"/>
                    </a:ext>
                  </a:extLst>
                </a:gridCol>
                <a:gridCol w="3805628">
                  <a:extLst>
                    <a:ext uri="{9D8B030D-6E8A-4147-A177-3AD203B41FA5}">
                      <a16:colId xmlns:a16="http://schemas.microsoft.com/office/drawing/2014/main" val="1841043607"/>
                    </a:ext>
                  </a:extLst>
                </a:gridCol>
              </a:tblGrid>
              <a:tr h="370840">
                <a:tc>
                  <a:txBody>
                    <a:bodyPr/>
                    <a:lstStyle/>
                    <a:p>
                      <a:r>
                        <a:rPr lang="en-AU" sz="2400" dirty="0" smtClean="0"/>
                        <a:t>Character </a:t>
                      </a:r>
                      <a:endParaRPr lang="en-AU" sz="2400" dirty="0"/>
                    </a:p>
                  </a:txBody>
                  <a:tcPr/>
                </a:tc>
                <a:tc>
                  <a:txBody>
                    <a:bodyPr/>
                    <a:lstStyle/>
                    <a:p>
                      <a:r>
                        <a:rPr lang="en-AU" sz="2400" dirty="0" smtClean="0"/>
                        <a:t>Verb</a:t>
                      </a:r>
                      <a:endParaRPr lang="en-AU" sz="2400" dirty="0"/>
                    </a:p>
                  </a:txBody>
                  <a:tcPr/>
                </a:tc>
                <a:tc>
                  <a:txBody>
                    <a:bodyPr/>
                    <a:lstStyle/>
                    <a:p>
                      <a:r>
                        <a:rPr lang="en-AU" sz="2400" dirty="0" smtClean="0"/>
                        <a:t>Analysis</a:t>
                      </a:r>
                      <a:endParaRPr lang="en-AU" sz="2400" dirty="0"/>
                    </a:p>
                  </a:txBody>
                  <a:tcPr/>
                </a:tc>
                <a:tc>
                  <a:txBody>
                    <a:bodyPr/>
                    <a:lstStyle/>
                    <a:p>
                      <a:r>
                        <a:rPr lang="en-AU" sz="2400" dirty="0" smtClean="0"/>
                        <a:t>Reporting verb and quote</a:t>
                      </a:r>
                      <a:endParaRPr lang="en-AU" sz="2400" dirty="0"/>
                    </a:p>
                  </a:txBody>
                  <a:tcPr/>
                </a:tc>
                <a:extLst>
                  <a:ext uri="{0D108BD9-81ED-4DB2-BD59-A6C34878D82A}">
                    <a16:rowId xmlns:a16="http://schemas.microsoft.com/office/drawing/2014/main" val="3231000316"/>
                  </a:ext>
                </a:extLst>
              </a:tr>
            </a:tbl>
          </a:graphicData>
        </a:graphic>
      </p:graphicFrame>
      <p:sp>
        <p:nvSpPr>
          <p:cNvPr id="9" name="Content Placeholder 2">
            <a:extLst>
              <a:ext uri="{FF2B5EF4-FFF2-40B4-BE49-F238E27FC236}">
                <a16:creationId xmlns:a16="http://schemas.microsoft.com/office/drawing/2014/main" id="{9D578D22-A381-4859-86FF-72B31CF4A541}"/>
              </a:ext>
            </a:extLst>
          </p:cNvPr>
          <p:cNvSpPr txBox="1">
            <a:spLocks/>
          </p:cNvSpPr>
          <p:nvPr/>
        </p:nvSpPr>
        <p:spPr>
          <a:xfrm>
            <a:off x="2198668" y="3865988"/>
            <a:ext cx="9213578" cy="816429"/>
          </a:xfrm>
          <a:prstGeom prst="rect">
            <a:avLst/>
          </a:prstGeom>
        </p:spPr>
        <p:txBody>
          <a:bodyPr vert="horz" lIns="91440" tIns="45720" rIns="91440" bIns="45720" rtlCol="0">
            <a:normAutofit/>
          </a:bodyPr>
          <a:lstStyle>
            <a:lvl1pPr marL="228600" indent="-182880" algn="l" defTabSz="914400" rtl="0" eaLnBrk="1" latinLnBrk="0" hangingPunct="1">
              <a:lnSpc>
                <a:spcPct val="90000"/>
              </a:lnSpc>
              <a:spcBef>
                <a:spcPts val="1400"/>
              </a:spcBef>
              <a:buClr>
                <a:schemeClr val="accent1"/>
              </a:buClr>
              <a:buSzPct val="80000"/>
              <a:buFont typeface="Corbel" pitchFamily="34" charset="0"/>
              <a:buChar char="•"/>
              <a:defRPr sz="2200" kern="1200">
                <a:solidFill>
                  <a:schemeClr val="accent1"/>
                </a:solidFill>
                <a:latin typeface="+mn-lt"/>
                <a:ea typeface="+mn-ea"/>
                <a:cs typeface="+mn-cs"/>
              </a:defRPr>
            </a:lvl1pPr>
            <a:lvl2pPr marL="457200" indent="-182880" algn="l" defTabSz="914400" rtl="0" eaLnBrk="1" latinLnBrk="0" hangingPunct="1">
              <a:lnSpc>
                <a:spcPct val="90000"/>
              </a:lnSpc>
              <a:spcBef>
                <a:spcPts val="200"/>
              </a:spcBef>
              <a:spcAft>
                <a:spcPts val="400"/>
              </a:spcAft>
              <a:buClr>
                <a:schemeClr val="accent1"/>
              </a:buClr>
              <a:buSzPct val="80000"/>
              <a:buFont typeface="Corbel" pitchFamily="34" charset="0"/>
              <a:buChar char="•"/>
              <a:defRPr sz="2000" kern="1200">
                <a:solidFill>
                  <a:schemeClr val="accent1"/>
                </a:solidFill>
                <a:latin typeface="+mn-lt"/>
                <a:ea typeface="+mn-ea"/>
                <a:cs typeface="+mn-cs"/>
              </a:defRPr>
            </a:lvl2pPr>
            <a:lvl3pPr marL="731520" indent="-182880" algn="l" defTabSz="914400" rtl="0" eaLnBrk="1" latinLnBrk="0" hangingPunct="1">
              <a:lnSpc>
                <a:spcPct val="90000"/>
              </a:lnSpc>
              <a:spcBef>
                <a:spcPts val="200"/>
              </a:spcBef>
              <a:spcAft>
                <a:spcPts val="400"/>
              </a:spcAft>
              <a:buClr>
                <a:schemeClr val="accent1"/>
              </a:buClr>
              <a:buSzPct val="80000"/>
              <a:buFont typeface="Corbel" pitchFamily="34" charset="0"/>
              <a:buChar char="•"/>
              <a:defRPr sz="1800" kern="1200">
                <a:solidFill>
                  <a:schemeClr val="accent1"/>
                </a:solidFill>
                <a:latin typeface="+mn-lt"/>
                <a:ea typeface="+mn-ea"/>
                <a:cs typeface="+mn-cs"/>
              </a:defRPr>
            </a:lvl3pPr>
            <a:lvl4pPr marL="1005840" indent="-182880" algn="l" defTabSz="914400" rtl="0" eaLnBrk="1" latinLnBrk="0" hangingPunct="1">
              <a:lnSpc>
                <a:spcPct val="90000"/>
              </a:lnSpc>
              <a:spcBef>
                <a:spcPts val="200"/>
              </a:spcBef>
              <a:spcAft>
                <a:spcPts val="400"/>
              </a:spcAft>
              <a:buClr>
                <a:schemeClr val="accent1"/>
              </a:buClr>
              <a:buSzPct val="80000"/>
              <a:buFont typeface="Corbel" pitchFamily="34" charset="0"/>
              <a:buChar char="•"/>
              <a:defRPr sz="1600" kern="1200">
                <a:solidFill>
                  <a:schemeClr val="accent1"/>
                </a:solidFill>
                <a:latin typeface="+mn-lt"/>
                <a:ea typeface="+mn-ea"/>
                <a:cs typeface="+mn-cs"/>
              </a:defRPr>
            </a:lvl4pPr>
            <a:lvl5pPr marL="1280160" indent="-182880" algn="l" defTabSz="914400" rtl="0" eaLnBrk="1" latinLnBrk="0" hangingPunct="1">
              <a:lnSpc>
                <a:spcPct val="90000"/>
              </a:lnSpc>
              <a:spcBef>
                <a:spcPts val="200"/>
              </a:spcBef>
              <a:spcAft>
                <a:spcPts val="400"/>
              </a:spcAft>
              <a:buClr>
                <a:schemeClr val="accent1"/>
              </a:buClr>
              <a:buSzPct val="80000"/>
              <a:buFont typeface="Corbel" pitchFamily="34" charset="0"/>
              <a:buChar char="•"/>
              <a:defRPr sz="1600" kern="1200">
                <a:solidFill>
                  <a:schemeClr val="accent1"/>
                </a:solidFill>
                <a:latin typeface="+mn-lt"/>
                <a:ea typeface="+mn-ea"/>
                <a:cs typeface="+mn-cs"/>
              </a:defRPr>
            </a:lvl5pPr>
            <a:lvl6pPr marL="1600000" indent="-228600" algn="l" defTabSz="914400" rtl="0" eaLnBrk="1" latinLnBrk="0" hangingPunct="1">
              <a:lnSpc>
                <a:spcPct val="90000"/>
              </a:lnSpc>
              <a:spcBef>
                <a:spcPts val="200"/>
              </a:spcBef>
              <a:spcAft>
                <a:spcPts val="400"/>
              </a:spcAft>
              <a:buClr>
                <a:schemeClr val="accent1"/>
              </a:buClr>
              <a:buSzPct val="80000"/>
              <a:buFont typeface="Corbel" pitchFamily="34" charset="0"/>
              <a:buChar char="•"/>
              <a:defRPr sz="1600" kern="1200">
                <a:solidFill>
                  <a:schemeClr val="accent1"/>
                </a:solidFill>
                <a:latin typeface="+mn-lt"/>
                <a:ea typeface="+mn-ea"/>
                <a:cs typeface="+mn-cs"/>
              </a:defRPr>
            </a:lvl6pPr>
            <a:lvl7pPr marL="1900000" indent="-228600" algn="l" defTabSz="914400" rtl="0" eaLnBrk="1" latinLnBrk="0" hangingPunct="1">
              <a:lnSpc>
                <a:spcPct val="90000"/>
              </a:lnSpc>
              <a:spcBef>
                <a:spcPts val="200"/>
              </a:spcBef>
              <a:spcAft>
                <a:spcPts val="400"/>
              </a:spcAft>
              <a:buClr>
                <a:schemeClr val="accent1"/>
              </a:buClr>
              <a:buSzPct val="80000"/>
              <a:buFont typeface="Corbel" pitchFamily="34" charset="0"/>
              <a:buChar char="•"/>
              <a:defRPr sz="1600" kern="1200">
                <a:solidFill>
                  <a:schemeClr val="accent1"/>
                </a:solidFill>
                <a:latin typeface="+mn-lt"/>
                <a:ea typeface="+mn-ea"/>
                <a:cs typeface="+mn-cs"/>
              </a:defRPr>
            </a:lvl7pPr>
            <a:lvl8pPr marL="2200000" indent="-228600" algn="l" defTabSz="914400" rtl="0" eaLnBrk="1" latinLnBrk="0" hangingPunct="1">
              <a:lnSpc>
                <a:spcPct val="90000"/>
              </a:lnSpc>
              <a:spcBef>
                <a:spcPts val="200"/>
              </a:spcBef>
              <a:spcAft>
                <a:spcPts val="400"/>
              </a:spcAft>
              <a:buClr>
                <a:schemeClr val="accent1"/>
              </a:buClr>
              <a:buSzPct val="80000"/>
              <a:buFont typeface="Corbel" pitchFamily="34" charset="0"/>
              <a:buChar char="•"/>
              <a:defRPr sz="1600" kern="1200">
                <a:solidFill>
                  <a:schemeClr val="accent1"/>
                </a:solidFill>
                <a:latin typeface="+mn-lt"/>
                <a:ea typeface="+mn-ea"/>
                <a:cs typeface="+mn-cs"/>
              </a:defRPr>
            </a:lvl8pPr>
            <a:lvl9pPr marL="2500000" indent="-228600" algn="l" defTabSz="914400" rtl="0" eaLnBrk="1" latinLnBrk="0" hangingPunct="1">
              <a:lnSpc>
                <a:spcPct val="90000"/>
              </a:lnSpc>
              <a:spcBef>
                <a:spcPts val="200"/>
              </a:spcBef>
              <a:spcAft>
                <a:spcPts val="400"/>
              </a:spcAft>
              <a:buClr>
                <a:schemeClr val="accent1"/>
              </a:buClr>
              <a:buSzPct val="80000"/>
              <a:buFont typeface="Corbel" pitchFamily="34" charset="0"/>
              <a:buChar char="•"/>
              <a:defRPr sz="1600" kern="1200">
                <a:solidFill>
                  <a:schemeClr val="accent1"/>
                </a:solidFill>
                <a:latin typeface="+mn-lt"/>
                <a:ea typeface="+mn-ea"/>
                <a:cs typeface="+mn-cs"/>
              </a:defRPr>
            </a:lvl9pPr>
          </a:lstStyle>
          <a:p>
            <a:r>
              <a:rPr lang="en-AU" dirty="0" smtClean="0">
                <a:solidFill>
                  <a:schemeClr val="tx1"/>
                </a:solidFill>
              </a:rPr>
              <a:t>You can use a “-</a:t>
            </a:r>
            <a:r>
              <a:rPr lang="en-AU" dirty="0" err="1" smtClean="0">
                <a:solidFill>
                  <a:schemeClr val="tx1"/>
                </a:solidFill>
              </a:rPr>
              <a:t>ing</a:t>
            </a:r>
            <a:r>
              <a:rPr lang="en-AU" dirty="0" smtClean="0">
                <a:solidFill>
                  <a:schemeClr val="tx1"/>
                </a:solidFill>
              </a:rPr>
              <a:t>” verb</a:t>
            </a:r>
            <a:endParaRPr lang="en-AU" i="1" dirty="0">
              <a:solidFill>
                <a:schemeClr val="tx1"/>
              </a:solidFill>
            </a:endParaRPr>
          </a:p>
        </p:txBody>
      </p:sp>
      <p:graphicFrame>
        <p:nvGraphicFramePr>
          <p:cNvPr id="10" name="Table 9"/>
          <p:cNvGraphicFramePr>
            <a:graphicFrameLocks noGrp="1"/>
          </p:cNvGraphicFramePr>
          <p:nvPr>
            <p:extLst>
              <p:ext uri="{D42A27DB-BD31-4B8C-83A1-F6EECF244321}">
                <p14:modId xmlns:p14="http://schemas.microsoft.com/office/powerpoint/2010/main" val="1975190791"/>
              </p:ext>
            </p:extLst>
          </p:nvPr>
        </p:nvGraphicFramePr>
        <p:xfrm>
          <a:off x="2198668" y="4335163"/>
          <a:ext cx="9475064" cy="457200"/>
        </p:xfrm>
        <a:graphic>
          <a:graphicData uri="http://schemas.openxmlformats.org/drawingml/2006/table">
            <a:tbl>
              <a:tblPr firstRow="1" bandRow="1">
                <a:tableStyleId>{F5AB1C69-6EDB-4FF4-983F-18BD219EF322}</a:tableStyleId>
              </a:tblPr>
              <a:tblGrid>
                <a:gridCol w="1900999">
                  <a:extLst>
                    <a:ext uri="{9D8B030D-6E8A-4147-A177-3AD203B41FA5}">
                      <a16:colId xmlns:a16="http://schemas.microsoft.com/office/drawing/2014/main" val="2826232967"/>
                    </a:ext>
                  </a:extLst>
                </a:gridCol>
                <a:gridCol w="1843933">
                  <a:extLst>
                    <a:ext uri="{9D8B030D-6E8A-4147-A177-3AD203B41FA5}">
                      <a16:colId xmlns:a16="http://schemas.microsoft.com/office/drawing/2014/main" val="3143072795"/>
                    </a:ext>
                  </a:extLst>
                </a:gridCol>
                <a:gridCol w="1787236">
                  <a:extLst>
                    <a:ext uri="{9D8B030D-6E8A-4147-A177-3AD203B41FA5}">
                      <a16:colId xmlns:a16="http://schemas.microsoft.com/office/drawing/2014/main" val="2306034818"/>
                    </a:ext>
                  </a:extLst>
                </a:gridCol>
                <a:gridCol w="3942896">
                  <a:extLst>
                    <a:ext uri="{9D8B030D-6E8A-4147-A177-3AD203B41FA5}">
                      <a16:colId xmlns:a16="http://schemas.microsoft.com/office/drawing/2014/main" val="1841043607"/>
                    </a:ext>
                  </a:extLst>
                </a:gridCol>
              </a:tblGrid>
              <a:tr h="370840">
                <a:tc>
                  <a:txBody>
                    <a:bodyPr/>
                    <a:lstStyle/>
                    <a:p>
                      <a:r>
                        <a:rPr lang="en-AU" sz="2400" dirty="0" smtClean="0"/>
                        <a:t>Character </a:t>
                      </a:r>
                      <a:endParaRPr lang="en-AU" sz="2400" dirty="0"/>
                    </a:p>
                  </a:txBody>
                  <a:tcPr/>
                </a:tc>
                <a:tc>
                  <a:txBody>
                    <a:bodyPr/>
                    <a:lstStyle/>
                    <a:p>
                      <a:r>
                        <a:rPr lang="en-AU" sz="2400" dirty="0" smtClean="0"/>
                        <a:t>Verb</a:t>
                      </a:r>
                      <a:endParaRPr lang="en-AU" sz="2400" dirty="0"/>
                    </a:p>
                  </a:txBody>
                  <a:tcPr/>
                </a:tc>
                <a:tc>
                  <a:txBody>
                    <a:bodyPr/>
                    <a:lstStyle/>
                    <a:p>
                      <a:r>
                        <a:rPr lang="en-AU" sz="2400" dirty="0" smtClean="0"/>
                        <a:t>Quote</a:t>
                      </a:r>
                      <a:endParaRPr lang="en-AU" sz="2400" dirty="0"/>
                    </a:p>
                  </a:txBody>
                  <a:tcPr/>
                </a:tc>
                <a:tc>
                  <a:txBody>
                    <a:bodyPr/>
                    <a:lstStyle/>
                    <a:p>
                      <a:r>
                        <a:rPr lang="en-AU" sz="2400" dirty="0" smtClean="0"/>
                        <a:t>Comma</a:t>
                      </a:r>
                      <a:r>
                        <a:rPr lang="en-AU" sz="2400" baseline="0" dirty="0" smtClean="0"/>
                        <a:t> + “-</a:t>
                      </a:r>
                      <a:r>
                        <a:rPr lang="en-AU" sz="2400" baseline="0" dirty="0" err="1" smtClean="0"/>
                        <a:t>ing</a:t>
                      </a:r>
                      <a:r>
                        <a:rPr lang="en-AU" sz="2400" baseline="0" dirty="0" smtClean="0"/>
                        <a:t>” verb</a:t>
                      </a:r>
                      <a:endParaRPr lang="en-AU" sz="2400" dirty="0"/>
                    </a:p>
                  </a:txBody>
                  <a:tcPr/>
                </a:tc>
                <a:extLst>
                  <a:ext uri="{0D108BD9-81ED-4DB2-BD59-A6C34878D82A}">
                    <a16:rowId xmlns:a16="http://schemas.microsoft.com/office/drawing/2014/main" val="3231000316"/>
                  </a:ext>
                </a:extLst>
              </a:tr>
            </a:tbl>
          </a:graphicData>
        </a:graphic>
      </p:graphicFrame>
      <p:graphicFrame>
        <p:nvGraphicFramePr>
          <p:cNvPr id="11" name="Table 10"/>
          <p:cNvGraphicFramePr>
            <a:graphicFrameLocks noGrp="1"/>
          </p:cNvGraphicFramePr>
          <p:nvPr>
            <p:extLst>
              <p:ext uri="{D42A27DB-BD31-4B8C-83A1-F6EECF244321}">
                <p14:modId xmlns:p14="http://schemas.microsoft.com/office/powerpoint/2010/main" val="3708187035"/>
              </p:ext>
            </p:extLst>
          </p:nvPr>
        </p:nvGraphicFramePr>
        <p:xfrm>
          <a:off x="2198668" y="5052202"/>
          <a:ext cx="9462484" cy="1188720"/>
        </p:xfrm>
        <a:graphic>
          <a:graphicData uri="http://schemas.openxmlformats.org/drawingml/2006/table">
            <a:tbl>
              <a:tblPr firstRow="1" bandRow="1">
                <a:tableStyleId>{21E4AEA4-8DFA-4A89-87EB-49C32662AFE0}</a:tableStyleId>
              </a:tblPr>
              <a:tblGrid>
                <a:gridCol w="9462484">
                  <a:extLst>
                    <a:ext uri="{9D8B030D-6E8A-4147-A177-3AD203B41FA5}">
                      <a16:colId xmlns:a16="http://schemas.microsoft.com/office/drawing/2014/main" val="3473204779"/>
                    </a:ext>
                  </a:extLst>
                </a:gridCol>
              </a:tblGrid>
              <a:tr h="1179864">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AU" sz="2400" dirty="0" smtClean="0"/>
                        <a:t>Nick thinks</a:t>
                      </a:r>
                      <a:r>
                        <a:rPr lang="en-AU" sz="2400" baseline="0" dirty="0" smtClean="0"/>
                        <a:t> about his father’s “bitterness” and “rage” and describes his own “lifelong struggle to avoid becoming him”, demonstrating his potential dark side to the reader. </a:t>
                      </a:r>
                      <a:endParaRPr lang="en-AU" sz="2400" dirty="0" smtClean="0">
                        <a:latin typeface="+mj-lt"/>
                      </a:endParaRPr>
                    </a:p>
                  </a:txBody>
                  <a:tcPr/>
                </a:tc>
                <a:extLst>
                  <a:ext uri="{0D108BD9-81ED-4DB2-BD59-A6C34878D82A}">
                    <a16:rowId xmlns:a16="http://schemas.microsoft.com/office/drawing/2014/main" val="1395438192"/>
                  </a:ext>
                </a:extLst>
              </a:tr>
            </a:tbl>
          </a:graphicData>
        </a:graphic>
      </p:graphicFrame>
      <p:graphicFrame>
        <p:nvGraphicFramePr>
          <p:cNvPr id="14" name="Table 13">
            <a:extLst>
              <a:ext uri="{FF2B5EF4-FFF2-40B4-BE49-F238E27FC236}">
                <a16:creationId xmlns:a16="http://schemas.microsoft.com/office/drawing/2014/main" id="{2170DDB3-4322-45B9-A426-838813124F89}"/>
              </a:ext>
            </a:extLst>
          </p:cNvPr>
          <p:cNvGraphicFramePr>
            <a:graphicFrameLocks noGrp="1"/>
          </p:cNvGraphicFramePr>
          <p:nvPr>
            <p:extLst>
              <p:ext uri="{D42A27DB-BD31-4B8C-83A1-F6EECF244321}">
                <p14:modId xmlns:p14="http://schemas.microsoft.com/office/powerpoint/2010/main" val="2275683551"/>
              </p:ext>
            </p:extLst>
          </p:nvPr>
        </p:nvGraphicFramePr>
        <p:xfrm>
          <a:off x="11723" y="1554480"/>
          <a:ext cx="1946032" cy="5303521"/>
        </p:xfrm>
        <a:graphic>
          <a:graphicData uri="http://schemas.openxmlformats.org/drawingml/2006/table">
            <a:tbl>
              <a:tblPr firstRow="1" bandRow="1">
                <a:tableStyleId>{5C22544A-7EE6-4342-B048-85BDC9FD1C3A}</a:tableStyleId>
              </a:tblPr>
              <a:tblGrid>
                <a:gridCol w="1946032">
                  <a:extLst>
                    <a:ext uri="{9D8B030D-6E8A-4147-A177-3AD203B41FA5}">
                      <a16:colId xmlns:a16="http://schemas.microsoft.com/office/drawing/2014/main" val="1529901115"/>
                    </a:ext>
                  </a:extLst>
                </a:gridCol>
              </a:tblGrid>
              <a:tr h="417533">
                <a:tc>
                  <a:txBody>
                    <a:bodyPr/>
                    <a:lstStyle/>
                    <a:p>
                      <a:r>
                        <a:rPr lang="en-AU" sz="2000" dirty="0"/>
                        <a:t>Success Criteria</a:t>
                      </a:r>
                    </a:p>
                  </a:txBody>
                  <a:tcPr>
                    <a:solidFill>
                      <a:srgbClr val="F77B15"/>
                    </a:solidFill>
                  </a:tcPr>
                </a:tc>
                <a:extLst>
                  <a:ext uri="{0D108BD9-81ED-4DB2-BD59-A6C34878D82A}">
                    <a16:rowId xmlns:a16="http://schemas.microsoft.com/office/drawing/2014/main" val="438604388"/>
                  </a:ext>
                </a:extLst>
              </a:tr>
              <a:tr h="1163426">
                <a:tc>
                  <a:txBody>
                    <a:bodyPr/>
                    <a:lstStyle/>
                    <a:p>
                      <a:r>
                        <a:rPr lang="en-AU" sz="2000" dirty="0"/>
                        <a:t>I </a:t>
                      </a:r>
                      <a:r>
                        <a:rPr lang="en-AU" sz="2000" dirty="0" smtClean="0"/>
                        <a:t>can</a:t>
                      </a:r>
                      <a:r>
                        <a:rPr lang="en-AU" sz="2000" baseline="0" dirty="0" smtClean="0"/>
                        <a:t> identify the most important part of my quote</a:t>
                      </a:r>
                      <a:endParaRPr lang="en-AU" sz="2000" dirty="0"/>
                    </a:p>
                  </a:txBody>
                  <a:tcPr>
                    <a:solidFill>
                      <a:srgbClr val="FFFF00"/>
                    </a:solidFill>
                  </a:tcPr>
                </a:tc>
                <a:extLst>
                  <a:ext uri="{0D108BD9-81ED-4DB2-BD59-A6C34878D82A}">
                    <a16:rowId xmlns:a16="http://schemas.microsoft.com/office/drawing/2014/main" val="2214889484"/>
                  </a:ext>
                </a:extLst>
              </a:tr>
              <a:tr h="1381070">
                <a:tc>
                  <a:txBody>
                    <a:bodyPr/>
                    <a:lstStyle/>
                    <a:p>
                      <a:r>
                        <a:rPr lang="en-AU" sz="2000" dirty="0" smtClean="0"/>
                        <a:t>I can use the formula for embedding quotes</a:t>
                      </a:r>
                      <a:endParaRPr lang="en-AU" sz="2000" dirty="0"/>
                    </a:p>
                  </a:txBody>
                  <a:tcPr>
                    <a:solidFill>
                      <a:srgbClr val="FFFF00"/>
                    </a:solidFill>
                  </a:tcPr>
                </a:tc>
                <a:extLst>
                  <a:ext uri="{0D108BD9-81ED-4DB2-BD59-A6C34878D82A}">
                    <a16:rowId xmlns:a16="http://schemas.microsoft.com/office/drawing/2014/main" val="2229975842"/>
                  </a:ext>
                </a:extLst>
              </a:tr>
              <a:tr h="1178066">
                <a:tc>
                  <a:txBody>
                    <a:bodyPr/>
                    <a:lstStyle/>
                    <a:p>
                      <a:r>
                        <a:rPr lang="en-AU" sz="2000" dirty="0"/>
                        <a:t>I can </a:t>
                      </a:r>
                      <a:r>
                        <a:rPr lang="en-AU" sz="2000" dirty="0" smtClean="0"/>
                        <a:t>embed a short quote into</a:t>
                      </a:r>
                      <a:r>
                        <a:rPr lang="en-AU" sz="2000" baseline="0" dirty="0" smtClean="0"/>
                        <a:t> a sentence</a:t>
                      </a:r>
                      <a:endParaRPr lang="en-AU" sz="2000" dirty="0"/>
                    </a:p>
                  </a:txBody>
                  <a:tcPr>
                    <a:solidFill>
                      <a:srgbClr val="92D050"/>
                    </a:solidFill>
                  </a:tcPr>
                </a:tc>
                <a:extLst>
                  <a:ext uri="{0D108BD9-81ED-4DB2-BD59-A6C34878D82A}">
                    <a16:rowId xmlns:a16="http://schemas.microsoft.com/office/drawing/2014/main" val="835583285"/>
                  </a:ext>
                </a:extLst>
              </a:tr>
              <a:tr h="1163426">
                <a:tc>
                  <a:txBody>
                    <a:bodyPr/>
                    <a:lstStyle/>
                    <a:p>
                      <a:r>
                        <a:rPr lang="en-AU" sz="2000" dirty="0"/>
                        <a:t>I can </a:t>
                      </a:r>
                      <a:r>
                        <a:rPr lang="en-AU" sz="2000" dirty="0" smtClean="0"/>
                        <a:t>analysis</a:t>
                      </a:r>
                      <a:r>
                        <a:rPr lang="en-AU" sz="2000" baseline="0" dirty="0" smtClean="0"/>
                        <a:t> the quote in the same sentence.</a:t>
                      </a:r>
                      <a:endParaRPr lang="en-AU" sz="2000" dirty="0"/>
                    </a:p>
                  </a:txBody>
                  <a:tcPr>
                    <a:solidFill>
                      <a:srgbClr val="92D050"/>
                    </a:solidFill>
                  </a:tcPr>
                </a:tc>
                <a:extLst>
                  <a:ext uri="{0D108BD9-81ED-4DB2-BD59-A6C34878D82A}">
                    <a16:rowId xmlns:a16="http://schemas.microsoft.com/office/drawing/2014/main" val="3081174515"/>
                  </a:ext>
                </a:extLst>
              </a:tr>
            </a:tbl>
          </a:graphicData>
        </a:graphic>
      </p:graphicFrame>
    </p:spTree>
    <p:extLst>
      <p:ext uri="{BB962C8B-B14F-4D97-AF65-F5344CB8AC3E}">
        <p14:creationId xmlns:p14="http://schemas.microsoft.com/office/powerpoint/2010/main" val="329689778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8056BC-B744-4648-AB3F-308DEE4EBD84}"/>
              </a:ext>
            </a:extLst>
          </p:cNvPr>
          <p:cNvSpPr>
            <a:spLocks noGrp="1"/>
          </p:cNvSpPr>
          <p:nvPr>
            <p:ph type="title"/>
          </p:nvPr>
        </p:nvSpPr>
        <p:spPr>
          <a:xfrm>
            <a:off x="2578223" y="555088"/>
            <a:ext cx="8505626" cy="999392"/>
          </a:xfrm>
        </p:spPr>
        <p:txBody>
          <a:bodyPr>
            <a:normAutofit/>
          </a:bodyPr>
          <a:lstStyle/>
          <a:p>
            <a:r>
              <a:rPr lang="en-AU" dirty="0" smtClean="0"/>
              <a:t>Embedding quotes into sentences</a:t>
            </a:r>
            <a:endParaRPr lang="en-AU" dirty="0"/>
          </a:p>
        </p:txBody>
      </p:sp>
      <p:sp>
        <p:nvSpPr>
          <p:cNvPr id="3" name="Content Placeholder 2">
            <a:extLst>
              <a:ext uri="{FF2B5EF4-FFF2-40B4-BE49-F238E27FC236}">
                <a16:creationId xmlns:a16="http://schemas.microsoft.com/office/drawing/2014/main" id="{9D578D22-A381-4859-86FF-72B31CF4A541}"/>
              </a:ext>
            </a:extLst>
          </p:cNvPr>
          <p:cNvSpPr>
            <a:spLocks noGrp="1"/>
          </p:cNvSpPr>
          <p:nvPr>
            <p:ph idx="1"/>
          </p:nvPr>
        </p:nvSpPr>
        <p:spPr>
          <a:xfrm>
            <a:off x="2212523" y="1516749"/>
            <a:ext cx="9213578" cy="816429"/>
          </a:xfrm>
        </p:spPr>
        <p:txBody>
          <a:bodyPr>
            <a:normAutofit/>
          </a:bodyPr>
          <a:lstStyle/>
          <a:p>
            <a:r>
              <a:rPr lang="en-AU" dirty="0" smtClean="0">
                <a:solidFill>
                  <a:schemeClr val="tx1"/>
                </a:solidFill>
              </a:rPr>
              <a:t>Extra information starters like “when” or “although” can start a sentence showing that there is more to come.</a:t>
            </a:r>
            <a:endParaRPr lang="en-AU" i="1" dirty="0">
              <a:solidFill>
                <a:schemeClr val="tx1"/>
              </a:solidFill>
            </a:endParaRPr>
          </a:p>
        </p:txBody>
      </p:sp>
      <p:graphicFrame>
        <p:nvGraphicFramePr>
          <p:cNvPr id="6" name="Table 5">
            <a:extLst>
              <a:ext uri="{FF2B5EF4-FFF2-40B4-BE49-F238E27FC236}">
                <a16:creationId xmlns:a16="http://schemas.microsoft.com/office/drawing/2014/main" id="{EAB08AA4-98F3-4569-B79D-96E000ABA983}"/>
              </a:ext>
            </a:extLst>
          </p:cNvPr>
          <p:cNvGraphicFramePr>
            <a:graphicFrameLocks noGrp="1"/>
          </p:cNvGraphicFramePr>
          <p:nvPr>
            <p:extLst/>
          </p:nvPr>
        </p:nvGraphicFramePr>
        <p:xfrm>
          <a:off x="0" y="0"/>
          <a:ext cx="1946031" cy="1554480"/>
        </p:xfrm>
        <a:graphic>
          <a:graphicData uri="http://schemas.openxmlformats.org/drawingml/2006/table">
            <a:tbl>
              <a:tblPr firstRow="1" bandRow="1">
                <a:tableStyleId>{5C22544A-7EE6-4342-B048-85BDC9FD1C3A}</a:tableStyleId>
              </a:tblPr>
              <a:tblGrid>
                <a:gridCol w="1946031">
                  <a:extLst>
                    <a:ext uri="{9D8B030D-6E8A-4147-A177-3AD203B41FA5}">
                      <a16:colId xmlns:a16="http://schemas.microsoft.com/office/drawing/2014/main" val="1529901115"/>
                    </a:ext>
                  </a:extLst>
                </a:gridCol>
              </a:tblGrid>
              <a:tr h="370840">
                <a:tc>
                  <a:txBody>
                    <a:bodyPr/>
                    <a:lstStyle/>
                    <a:p>
                      <a:r>
                        <a:rPr lang="en-AU" sz="1800" dirty="0"/>
                        <a:t>Learning Intention</a:t>
                      </a:r>
                    </a:p>
                  </a:txBody>
                  <a:tcPr>
                    <a:solidFill>
                      <a:srgbClr val="F77B15"/>
                    </a:solidFill>
                  </a:tcPr>
                </a:tc>
                <a:extLst>
                  <a:ext uri="{0D108BD9-81ED-4DB2-BD59-A6C34878D82A}">
                    <a16:rowId xmlns:a16="http://schemas.microsoft.com/office/drawing/2014/main" val="438604388"/>
                  </a:ext>
                </a:extLst>
              </a:tr>
              <a:tr h="370840">
                <a:tc>
                  <a:txBody>
                    <a:bodyPr/>
                    <a:lstStyle/>
                    <a:p>
                      <a:r>
                        <a:rPr lang="en-AU" sz="1800" dirty="0" smtClean="0"/>
                        <a:t>To be able to embed a quote in an</a:t>
                      </a:r>
                      <a:r>
                        <a:rPr lang="en-AU" sz="1800" baseline="0" dirty="0" smtClean="0"/>
                        <a:t> essay sentence</a:t>
                      </a:r>
                      <a:endParaRPr lang="en-AU" sz="1800" dirty="0"/>
                    </a:p>
                  </a:txBody>
                  <a:tcPr>
                    <a:solidFill>
                      <a:schemeClr val="accent3">
                        <a:lumMod val="40000"/>
                        <a:lumOff val="60000"/>
                      </a:schemeClr>
                    </a:solidFill>
                  </a:tcPr>
                </a:tc>
                <a:extLst>
                  <a:ext uri="{0D108BD9-81ED-4DB2-BD59-A6C34878D82A}">
                    <a16:rowId xmlns:a16="http://schemas.microsoft.com/office/drawing/2014/main" val="2214889484"/>
                  </a:ext>
                </a:extLst>
              </a:tr>
            </a:tbl>
          </a:graphicData>
        </a:graphic>
      </p:graphicFrame>
      <p:graphicFrame>
        <p:nvGraphicFramePr>
          <p:cNvPr id="12" name="Table 11"/>
          <p:cNvGraphicFramePr>
            <a:graphicFrameLocks noGrp="1"/>
          </p:cNvGraphicFramePr>
          <p:nvPr>
            <p:extLst>
              <p:ext uri="{D42A27DB-BD31-4B8C-83A1-F6EECF244321}">
                <p14:modId xmlns:p14="http://schemas.microsoft.com/office/powerpoint/2010/main" val="120046547"/>
              </p:ext>
            </p:extLst>
          </p:nvPr>
        </p:nvGraphicFramePr>
        <p:xfrm>
          <a:off x="2212523" y="3778605"/>
          <a:ext cx="9462484" cy="1188720"/>
        </p:xfrm>
        <a:graphic>
          <a:graphicData uri="http://schemas.openxmlformats.org/drawingml/2006/table">
            <a:tbl>
              <a:tblPr firstRow="1" bandRow="1">
                <a:tableStyleId>{21E4AEA4-8DFA-4A89-87EB-49C32662AFE0}</a:tableStyleId>
              </a:tblPr>
              <a:tblGrid>
                <a:gridCol w="9462484">
                  <a:extLst>
                    <a:ext uri="{9D8B030D-6E8A-4147-A177-3AD203B41FA5}">
                      <a16:colId xmlns:a16="http://schemas.microsoft.com/office/drawing/2014/main" val="3473204779"/>
                    </a:ext>
                  </a:extLst>
                </a:gridCol>
              </a:tblGrid>
              <a:tr h="1179864">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AU" sz="2400" dirty="0" smtClean="0"/>
                        <a:t>When Nick thinks</a:t>
                      </a:r>
                      <a:r>
                        <a:rPr lang="en-AU" sz="2400" baseline="0" dirty="0" smtClean="0"/>
                        <a:t> about his father’s “bitterness” and “rage” and describes his own “lifelong struggle to avoid becoming him”, he reveals his potential dark side to the reader.</a:t>
                      </a:r>
                      <a:endParaRPr lang="en-AU" sz="2400" dirty="0" smtClean="0">
                        <a:latin typeface="+mj-lt"/>
                      </a:endParaRPr>
                    </a:p>
                  </a:txBody>
                  <a:tcPr/>
                </a:tc>
                <a:extLst>
                  <a:ext uri="{0D108BD9-81ED-4DB2-BD59-A6C34878D82A}">
                    <a16:rowId xmlns:a16="http://schemas.microsoft.com/office/drawing/2014/main" val="1395438192"/>
                  </a:ext>
                </a:extLst>
              </a:tr>
            </a:tbl>
          </a:graphicData>
        </a:graphic>
      </p:graphicFrame>
      <p:graphicFrame>
        <p:nvGraphicFramePr>
          <p:cNvPr id="8" name="Table 7"/>
          <p:cNvGraphicFramePr>
            <a:graphicFrameLocks noGrp="1"/>
          </p:cNvGraphicFramePr>
          <p:nvPr>
            <p:extLst>
              <p:ext uri="{D42A27DB-BD31-4B8C-83A1-F6EECF244321}">
                <p14:modId xmlns:p14="http://schemas.microsoft.com/office/powerpoint/2010/main" val="2019762094"/>
              </p:ext>
            </p:extLst>
          </p:nvPr>
        </p:nvGraphicFramePr>
        <p:xfrm>
          <a:off x="2212523" y="5151663"/>
          <a:ext cx="9462484" cy="1188720"/>
        </p:xfrm>
        <a:graphic>
          <a:graphicData uri="http://schemas.openxmlformats.org/drawingml/2006/table">
            <a:tbl>
              <a:tblPr firstRow="1" bandRow="1">
                <a:tableStyleId>{21E4AEA4-8DFA-4A89-87EB-49C32662AFE0}</a:tableStyleId>
              </a:tblPr>
              <a:tblGrid>
                <a:gridCol w="9462484">
                  <a:extLst>
                    <a:ext uri="{9D8B030D-6E8A-4147-A177-3AD203B41FA5}">
                      <a16:colId xmlns:a16="http://schemas.microsoft.com/office/drawing/2014/main" val="3473204779"/>
                    </a:ext>
                  </a:extLst>
                </a:gridCol>
              </a:tblGrid>
              <a:tr h="1179864">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AU" sz="2400" dirty="0" smtClean="0"/>
                        <a:t>Although Nick thinks</a:t>
                      </a:r>
                      <a:r>
                        <a:rPr lang="en-AU" sz="2400" baseline="0" dirty="0" smtClean="0"/>
                        <a:t> about his father’s “bitterness” and “rage” and describes his own “lifelong struggle to avoid becoming him”, he portrays a likeable character that the reader can connect with.</a:t>
                      </a:r>
                      <a:endParaRPr lang="en-AU" sz="2400" dirty="0" smtClean="0">
                        <a:latin typeface="+mj-lt"/>
                      </a:endParaRPr>
                    </a:p>
                  </a:txBody>
                  <a:tcPr/>
                </a:tc>
                <a:extLst>
                  <a:ext uri="{0D108BD9-81ED-4DB2-BD59-A6C34878D82A}">
                    <a16:rowId xmlns:a16="http://schemas.microsoft.com/office/drawing/2014/main" val="1395438192"/>
                  </a:ext>
                </a:extLst>
              </a:tr>
            </a:tbl>
          </a:graphicData>
        </a:graphic>
      </p:graphicFrame>
      <p:graphicFrame>
        <p:nvGraphicFramePr>
          <p:cNvPr id="9" name="Table 8"/>
          <p:cNvGraphicFramePr>
            <a:graphicFrameLocks noGrp="1"/>
          </p:cNvGraphicFramePr>
          <p:nvPr>
            <p:extLst>
              <p:ext uri="{D42A27DB-BD31-4B8C-83A1-F6EECF244321}">
                <p14:modId xmlns:p14="http://schemas.microsoft.com/office/powerpoint/2010/main" val="1573693143"/>
              </p:ext>
            </p:extLst>
          </p:nvPr>
        </p:nvGraphicFramePr>
        <p:xfrm>
          <a:off x="2212523" y="2694142"/>
          <a:ext cx="9462483" cy="900125"/>
        </p:xfrm>
        <a:graphic>
          <a:graphicData uri="http://schemas.openxmlformats.org/drawingml/2006/table">
            <a:tbl>
              <a:tblPr firstRow="1" bandRow="1">
                <a:tableStyleId>{F5AB1C69-6EDB-4FF4-983F-18BD219EF322}</a:tableStyleId>
              </a:tblPr>
              <a:tblGrid>
                <a:gridCol w="4282986">
                  <a:extLst>
                    <a:ext uri="{9D8B030D-6E8A-4147-A177-3AD203B41FA5}">
                      <a16:colId xmlns:a16="http://schemas.microsoft.com/office/drawing/2014/main" val="2826232967"/>
                    </a:ext>
                  </a:extLst>
                </a:gridCol>
                <a:gridCol w="2660122">
                  <a:extLst>
                    <a:ext uri="{9D8B030D-6E8A-4147-A177-3AD203B41FA5}">
                      <a16:colId xmlns:a16="http://schemas.microsoft.com/office/drawing/2014/main" val="2306034818"/>
                    </a:ext>
                  </a:extLst>
                </a:gridCol>
                <a:gridCol w="2519375">
                  <a:extLst>
                    <a:ext uri="{9D8B030D-6E8A-4147-A177-3AD203B41FA5}">
                      <a16:colId xmlns:a16="http://schemas.microsoft.com/office/drawing/2014/main" val="1841043607"/>
                    </a:ext>
                  </a:extLst>
                </a:gridCol>
              </a:tblGrid>
              <a:tr h="900125">
                <a:tc>
                  <a:txBody>
                    <a:bodyPr/>
                    <a:lstStyle/>
                    <a:p>
                      <a:r>
                        <a:rPr lang="en-AU" sz="2400" dirty="0" smtClean="0"/>
                        <a:t>Extra information starter</a:t>
                      </a:r>
                      <a:r>
                        <a:rPr lang="en-AU" sz="2400" baseline="0" dirty="0" smtClean="0"/>
                        <a:t> + reporting verb</a:t>
                      </a:r>
                      <a:endParaRPr lang="en-AU" sz="2400" dirty="0"/>
                    </a:p>
                  </a:txBody>
                  <a:tcPr/>
                </a:tc>
                <a:tc>
                  <a:txBody>
                    <a:bodyPr/>
                    <a:lstStyle/>
                    <a:p>
                      <a:r>
                        <a:rPr lang="en-AU" sz="2400" dirty="0" smtClean="0"/>
                        <a:t>Quote</a:t>
                      </a:r>
                      <a:endParaRPr lang="en-AU" sz="2400" dirty="0"/>
                    </a:p>
                  </a:txBody>
                  <a:tcPr/>
                </a:tc>
                <a:tc>
                  <a:txBody>
                    <a:bodyPr/>
                    <a:lstStyle/>
                    <a:p>
                      <a:r>
                        <a:rPr lang="en-AU" sz="2400" dirty="0" smtClean="0"/>
                        <a:t>Analytic</a:t>
                      </a:r>
                      <a:r>
                        <a:rPr lang="en-AU" sz="2400" baseline="0" dirty="0" smtClean="0"/>
                        <a:t> verb</a:t>
                      </a:r>
                      <a:endParaRPr lang="en-AU" sz="2400" dirty="0"/>
                    </a:p>
                  </a:txBody>
                  <a:tcPr/>
                </a:tc>
                <a:extLst>
                  <a:ext uri="{0D108BD9-81ED-4DB2-BD59-A6C34878D82A}">
                    <a16:rowId xmlns:a16="http://schemas.microsoft.com/office/drawing/2014/main" val="3231000316"/>
                  </a:ext>
                </a:extLst>
              </a:tr>
            </a:tbl>
          </a:graphicData>
        </a:graphic>
      </p:graphicFrame>
      <p:graphicFrame>
        <p:nvGraphicFramePr>
          <p:cNvPr id="10" name="Table 9">
            <a:extLst>
              <a:ext uri="{FF2B5EF4-FFF2-40B4-BE49-F238E27FC236}">
                <a16:creationId xmlns:a16="http://schemas.microsoft.com/office/drawing/2014/main" id="{2170DDB3-4322-45B9-A426-838813124F89}"/>
              </a:ext>
            </a:extLst>
          </p:cNvPr>
          <p:cNvGraphicFramePr>
            <a:graphicFrameLocks noGrp="1"/>
          </p:cNvGraphicFramePr>
          <p:nvPr>
            <p:extLst>
              <p:ext uri="{D42A27DB-BD31-4B8C-83A1-F6EECF244321}">
                <p14:modId xmlns:p14="http://schemas.microsoft.com/office/powerpoint/2010/main" val="2275683551"/>
              </p:ext>
            </p:extLst>
          </p:nvPr>
        </p:nvGraphicFramePr>
        <p:xfrm>
          <a:off x="11723" y="1554480"/>
          <a:ext cx="1946032" cy="5303521"/>
        </p:xfrm>
        <a:graphic>
          <a:graphicData uri="http://schemas.openxmlformats.org/drawingml/2006/table">
            <a:tbl>
              <a:tblPr firstRow="1" bandRow="1">
                <a:tableStyleId>{5C22544A-7EE6-4342-B048-85BDC9FD1C3A}</a:tableStyleId>
              </a:tblPr>
              <a:tblGrid>
                <a:gridCol w="1946032">
                  <a:extLst>
                    <a:ext uri="{9D8B030D-6E8A-4147-A177-3AD203B41FA5}">
                      <a16:colId xmlns:a16="http://schemas.microsoft.com/office/drawing/2014/main" val="1529901115"/>
                    </a:ext>
                  </a:extLst>
                </a:gridCol>
              </a:tblGrid>
              <a:tr h="417533">
                <a:tc>
                  <a:txBody>
                    <a:bodyPr/>
                    <a:lstStyle/>
                    <a:p>
                      <a:r>
                        <a:rPr lang="en-AU" sz="2000" dirty="0"/>
                        <a:t>Success Criteria</a:t>
                      </a:r>
                    </a:p>
                  </a:txBody>
                  <a:tcPr>
                    <a:solidFill>
                      <a:srgbClr val="F77B15"/>
                    </a:solidFill>
                  </a:tcPr>
                </a:tc>
                <a:extLst>
                  <a:ext uri="{0D108BD9-81ED-4DB2-BD59-A6C34878D82A}">
                    <a16:rowId xmlns:a16="http://schemas.microsoft.com/office/drawing/2014/main" val="438604388"/>
                  </a:ext>
                </a:extLst>
              </a:tr>
              <a:tr h="1163426">
                <a:tc>
                  <a:txBody>
                    <a:bodyPr/>
                    <a:lstStyle/>
                    <a:p>
                      <a:r>
                        <a:rPr lang="en-AU" sz="2000" dirty="0"/>
                        <a:t>I </a:t>
                      </a:r>
                      <a:r>
                        <a:rPr lang="en-AU" sz="2000" dirty="0" smtClean="0"/>
                        <a:t>can</a:t>
                      </a:r>
                      <a:r>
                        <a:rPr lang="en-AU" sz="2000" baseline="0" dirty="0" smtClean="0"/>
                        <a:t> identify the most important part of my quote</a:t>
                      </a:r>
                      <a:endParaRPr lang="en-AU" sz="2000" dirty="0"/>
                    </a:p>
                  </a:txBody>
                  <a:tcPr>
                    <a:solidFill>
                      <a:srgbClr val="FFFF00"/>
                    </a:solidFill>
                  </a:tcPr>
                </a:tc>
                <a:extLst>
                  <a:ext uri="{0D108BD9-81ED-4DB2-BD59-A6C34878D82A}">
                    <a16:rowId xmlns:a16="http://schemas.microsoft.com/office/drawing/2014/main" val="2214889484"/>
                  </a:ext>
                </a:extLst>
              </a:tr>
              <a:tr h="1381070">
                <a:tc>
                  <a:txBody>
                    <a:bodyPr/>
                    <a:lstStyle/>
                    <a:p>
                      <a:r>
                        <a:rPr lang="en-AU" sz="2000" dirty="0" smtClean="0"/>
                        <a:t>I can use the formula for embedding quotes</a:t>
                      </a:r>
                      <a:endParaRPr lang="en-AU" sz="2000" dirty="0"/>
                    </a:p>
                  </a:txBody>
                  <a:tcPr>
                    <a:solidFill>
                      <a:srgbClr val="FFFF00"/>
                    </a:solidFill>
                  </a:tcPr>
                </a:tc>
                <a:extLst>
                  <a:ext uri="{0D108BD9-81ED-4DB2-BD59-A6C34878D82A}">
                    <a16:rowId xmlns:a16="http://schemas.microsoft.com/office/drawing/2014/main" val="2229975842"/>
                  </a:ext>
                </a:extLst>
              </a:tr>
              <a:tr h="1178066">
                <a:tc>
                  <a:txBody>
                    <a:bodyPr/>
                    <a:lstStyle/>
                    <a:p>
                      <a:r>
                        <a:rPr lang="en-AU" sz="2000" dirty="0"/>
                        <a:t>I can </a:t>
                      </a:r>
                      <a:r>
                        <a:rPr lang="en-AU" sz="2000" dirty="0" smtClean="0"/>
                        <a:t>embed a short quote into</a:t>
                      </a:r>
                      <a:r>
                        <a:rPr lang="en-AU" sz="2000" baseline="0" dirty="0" smtClean="0"/>
                        <a:t> a sentence</a:t>
                      </a:r>
                      <a:endParaRPr lang="en-AU" sz="2000" dirty="0"/>
                    </a:p>
                  </a:txBody>
                  <a:tcPr>
                    <a:solidFill>
                      <a:srgbClr val="92D050"/>
                    </a:solidFill>
                  </a:tcPr>
                </a:tc>
                <a:extLst>
                  <a:ext uri="{0D108BD9-81ED-4DB2-BD59-A6C34878D82A}">
                    <a16:rowId xmlns:a16="http://schemas.microsoft.com/office/drawing/2014/main" val="835583285"/>
                  </a:ext>
                </a:extLst>
              </a:tr>
              <a:tr h="1163426">
                <a:tc>
                  <a:txBody>
                    <a:bodyPr/>
                    <a:lstStyle/>
                    <a:p>
                      <a:r>
                        <a:rPr lang="en-AU" sz="2000" dirty="0"/>
                        <a:t>I can </a:t>
                      </a:r>
                      <a:r>
                        <a:rPr lang="en-AU" sz="2000" dirty="0" smtClean="0"/>
                        <a:t>analysis</a:t>
                      </a:r>
                      <a:r>
                        <a:rPr lang="en-AU" sz="2000" baseline="0" dirty="0" smtClean="0"/>
                        <a:t> the quote in the same sentence.</a:t>
                      </a:r>
                      <a:endParaRPr lang="en-AU" sz="2000" dirty="0"/>
                    </a:p>
                  </a:txBody>
                  <a:tcPr>
                    <a:solidFill>
                      <a:srgbClr val="92D050"/>
                    </a:solidFill>
                  </a:tcPr>
                </a:tc>
                <a:extLst>
                  <a:ext uri="{0D108BD9-81ED-4DB2-BD59-A6C34878D82A}">
                    <a16:rowId xmlns:a16="http://schemas.microsoft.com/office/drawing/2014/main" val="3081174515"/>
                  </a:ext>
                </a:extLst>
              </a:tr>
            </a:tbl>
          </a:graphicData>
        </a:graphic>
      </p:graphicFrame>
    </p:spTree>
    <p:extLst>
      <p:ext uri="{BB962C8B-B14F-4D97-AF65-F5344CB8AC3E}">
        <p14:creationId xmlns:p14="http://schemas.microsoft.com/office/powerpoint/2010/main" val="141515870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8056BC-B744-4648-AB3F-308DEE4EBD84}"/>
              </a:ext>
            </a:extLst>
          </p:cNvPr>
          <p:cNvSpPr>
            <a:spLocks noGrp="1"/>
          </p:cNvSpPr>
          <p:nvPr>
            <p:ph type="title"/>
          </p:nvPr>
        </p:nvSpPr>
        <p:spPr>
          <a:xfrm>
            <a:off x="2578223" y="555088"/>
            <a:ext cx="8505626" cy="999392"/>
          </a:xfrm>
        </p:spPr>
        <p:txBody>
          <a:bodyPr>
            <a:normAutofit/>
          </a:bodyPr>
          <a:lstStyle/>
          <a:p>
            <a:r>
              <a:rPr lang="en-AU" dirty="0" smtClean="0"/>
              <a:t>Useful vocabulary</a:t>
            </a:r>
            <a:endParaRPr lang="en-AU" dirty="0"/>
          </a:p>
        </p:txBody>
      </p:sp>
      <p:graphicFrame>
        <p:nvGraphicFramePr>
          <p:cNvPr id="6" name="Table 5">
            <a:extLst>
              <a:ext uri="{FF2B5EF4-FFF2-40B4-BE49-F238E27FC236}">
                <a16:creationId xmlns:a16="http://schemas.microsoft.com/office/drawing/2014/main" id="{EAB08AA4-98F3-4569-B79D-96E000ABA983}"/>
              </a:ext>
            </a:extLst>
          </p:cNvPr>
          <p:cNvGraphicFramePr>
            <a:graphicFrameLocks noGrp="1"/>
          </p:cNvGraphicFramePr>
          <p:nvPr>
            <p:extLst/>
          </p:nvPr>
        </p:nvGraphicFramePr>
        <p:xfrm>
          <a:off x="0" y="0"/>
          <a:ext cx="1946031" cy="1554480"/>
        </p:xfrm>
        <a:graphic>
          <a:graphicData uri="http://schemas.openxmlformats.org/drawingml/2006/table">
            <a:tbl>
              <a:tblPr firstRow="1" bandRow="1">
                <a:tableStyleId>{5C22544A-7EE6-4342-B048-85BDC9FD1C3A}</a:tableStyleId>
              </a:tblPr>
              <a:tblGrid>
                <a:gridCol w="1946031">
                  <a:extLst>
                    <a:ext uri="{9D8B030D-6E8A-4147-A177-3AD203B41FA5}">
                      <a16:colId xmlns:a16="http://schemas.microsoft.com/office/drawing/2014/main" val="1529901115"/>
                    </a:ext>
                  </a:extLst>
                </a:gridCol>
              </a:tblGrid>
              <a:tr h="370840">
                <a:tc>
                  <a:txBody>
                    <a:bodyPr/>
                    <a:lstStyle/>
                    <a:p>
                      <a:r>
                        <a:rPr lang="en-AU" sz="1800" dirty="0"/>
                        <a:t>Learning Intention</a:t>
                      </a:r>
                    </a:p>
                  </a:txBody>
                  <a:tcPr>
                    <a:solidFill>
                      <a:srgbClr val="F77B15"/>
                    </a:solidFill>
                  </a:tcPr>
                </a:tc>
                <a:extLst>
                  <a:ext uri="{0D108BD9-81ED-4DB2-BD59-A6C34878D82A}">
                    <a16:rowId xmlns:a16="http://schemas.microsoft.com/office/drawing/2014/main" val="438604388"/>
                  </a:ext>
                </a:extLst>
              </a:tr>
              <a:tr h="370840">
                <a:tc>
                  <a:txBody>
                    <a:bodyPr/>
                    <a:lstStyle/>
                    <a:p>
                      <a:r>
                        <a:rPr lang="en-AU" sz="1800" dirty="0" smtClean="0"/>
                        <a:t>To be able to embed a quote in an</a:t>
                      </a:r>
                      <a:r>
                        <a:rPr lang="en-AU" sz="1800" baseline="0" dirty="0" smtClean="0"/>
                        <a:t> essay sentence</a:t>
                      </a:r>
                      <a:endParaRPr lang="en-AU" sz="1800" dirty="0"/>
                    </a:p>
                  </a:txBody>
                  <a:tcPr>
                    <a:solidFill>
                      <a:schemeClr val="accent3">
                        <a:lumMod val="40000"/>
                        <a:lumOff val="60000"/>
                      </a:schemeClr>
                    </a:solidFill>
                  </a:tcPr>
                </a:tc>
                <a:extLst>
                  <a:ext uri="{0D108BD9-81ED-4DB2-BD59-A6C34878D82A}">
                    <a16:rowId xmlns:a16="http://schemas.microsoft.com/office/drawing/2014/main" val="2214889484"/>
                  </a:ext>
                </a:extLst>
              </a:tr>
            </a:tbl>
          </a:graphicData>
        </a:graphic>
      </p:graphicFrame>
      <p:graphicFrame>
        <p:nvGraphicFramePr>
          <p:cNvPr id="13" name="Table 12"/>
          <p:cNvGraphicFramePr>
            <a:graphicFrameLocks noGrp="1"/>
          </p:cNvGraphicFramePr>
          <p:nvPr>
            <p:extLst>
              <p:ext uri="{D42A27DB-BD31-4B8C-83A1-F6EECF244321}">
                <p14:modId xmlns:p14="http://schemas.microsoft.com/office/powerpoint/2010/main" val="3213628773"/>
              </p:ext>
            </p:extLst>
          </p:nvPr>
        </p:nvGraphicFramePr>
        <p:xfrm>
          <a:off x="2212523" y="1554480"/>
          <a:ext cx="9475064" cy="3840480"/>
        </p:xfrm>
        <a:graphic>
          <a:graphicData uri="http://schemas.openxmlformats.org/drawingml/2006/table">
            <a:tbl>
              <a:tblPr firstRow="1" bandRow="1">
                <a:tableStyleId>{F5AB1C69-6EDB-4FF4-983F-18BD219EF322}</a:tableStyleId>
              </a:tblPr>
              <a:tblGrid>
                <a:gridCol w="2179368">
                  <a:extLst>
                    <a:ext uri="{9D8B030D-6E8A-4147-A177-3AD203B41FA5}">
                      <a16:colId xmlns:a16="http://schemas.microsoft.com/office/drawing/2014/main" val="2826232967"/>
                    </a:ext>
                  </a:extLst>
                </a:gridCol>
                <a:gridCol w="2189018">
                  <a:extLst>
                    <a:ext uri="{9D8B030D-6E8A-4147-A177-3AD203B41FA5}">
                      <a16:colId xmlns:a16="http://schemas.microsoft.com/office/drawing/2014/main" val="3143072795"/>
                    </a:ext>
                  </a:extLst>
                </a:gridCol>
                <a:gridCol w="2161309">
                  <a:extLst>
                    <a:ext uri="{9D8B030D-6E8A-4147-A177-3AD203B41FA5}">
                      <a16:colId xmlns:a16="http://schemas.microsoft.com/office/drawing/2014/main" val="2306034818"/>
                    </a:ext>
                  </a:extLst>
                </a:gridCol>
                <a:gridCol w="2945369">
                  <a:extLst>
                    <a:ext uri="{9D8B030D-6E8A-4147-A177-3AD203B41FA5}">
                      <a16:colId xmlns:a16="http://schemas.microsoft.com/office/drawing/2014/main" val="1841043607"/>
                    </a:ext>
                  </a:extLst>
                </a:gridCol>
              </a:tblGrid>
              <a:tr h="370840">
                <a:tc>
                  <a:txBody>
                    <a:bodyPr/>
                    <a:lstStyle/>
                    <a:p>
                      <a:r>
                        <a:rPr lang="en-AU" sz="2400" dirty="0" smtClean="0"/>
                        <a:t>Reporting</a:t>
                      </a:r>
                      <a:r>
                        <a:rPr lang="en-AU" sz="2400" baseline="0" dirty="0" smtClean="0"/>
                        <a:t> verb</a:t>
                      </a:r>
                      <a:r>
                        <a:rPr lang="en-AU" sz="2400" dirty="0" smtClean="0"/>
                        <a:t> </a:t>
                      </a:r>
                      <a:endParaRPr lang="en-AU" sz="2400" dirty="0"/>
                    </a:p>
                  </a:txBody>
                  <a:tcPr/>
                </a:tc>
                <a:tc>
                  <a:txBody>
                    <a:bodyPr/>
                    <a:lstStyle/>
                    <a:p>
                      <a:r>
                        <a:rPr lang="en-AU" sz="2400" dirty="0" smtClean="0"/>
                        <a:t>Analytical</a:t>
                      </a:r>
                      <a:r>
                        <a:rPr lang="en-AU" sz="2400" baseline="0" dirty="0" smtClean="0"/>
                        <a:t> v</a:t>
                      </a:r>
                      <a:r>
                        <a:rPr lang="en-AU" sz="2400" dirty="0" smtClean="0"/>
                        <a:t>erb</a:t>
                      </a:r>
                      <a:endParaRPr lang="en-AU" sz="2400" dirty="0"/>
                    </a:p>
                  </a:txBody>
                  <a:tcPr/>
                </a:tc>
                <a:tc>
                  <a:txBody>
                    <a:bodyPr/>
                    <a:lstStyle/>
                    <a:p>
                      <a:r>
                        <a:rPr lang="en-AU" sz="2400" dirty="0" smtClean="0"/>
                        <a:t>Relative pronoun</a:t>
                      </a:r>
                      <a:endParaRPr lang="en-AU" sz="2400" dirty="0"/>
                    </a:p>
                  </a:txBody>
                  <a:tcPr/>
                </a:tc>
                <a:tc>
                  <a:txBody>
                    <a:bodyPr/>
                    <a:lstStyle/>
                    <a:p>
                      <a:r>
                        <a:rPr lang="en-AU" sz="2400" dirty="0" smtClean="0"/>
                        <a:t>Extra information</a:t>
                      </a:r>
                      <a:r>
                        <a:rPr lang="en-AU" sz="2400" baseline="0" dirty="0" smtClean="0"/>
                        <a:t> starters</a:t>
                      </a:r>
                      <a:endParaRPr lang="en-AU" sz="2400" dirty="0"/>
                    </a:p>
                  </a:txBody>
                  <a:tcPr/>
                </a:tc>
                <a:extLst>
                  <a:ext uri="{0D108BD9-81ED-4DB2-BD59-A6C34878D82A}">
                    <a16:rowId xmlns:a16="http://schemas.microsoft.com/office/drawing/2014/main" val="3231000316"/>
                  </a:ext>
                </a:extLst>
              </a:tr>
              <a:tr h="370840">
                <a:tc>
                  <a:txBody>
                    <a:bodyPr/>
                    <a:lstStyle/>
                    <a:p>
                      <a:r>
                        <a:rPr lang="en-AU" sz="2400" dirty="0" smtClean="0"/>
                        <a:t>Says</a:t>
                      </a:r>
                    </a:p>
                    <a:p>
                      <a:r>
                        <a:rPr lang="en-AU" sz="2400" dirty="0" smtClean="0"/>
                        <a:t>Claims</a:t>
                      </a:r>
                    </a:p>
                    <a:p>
                      <a:r>
                        <a:rPr lang="en-AU" sz="2400" dirty="0" smtClean="0"/>
                        <a:t>Thinks</a:t>
                      </a:r>
                    </a:p>
                    <a:p>
                      <a:r>
                        <a:rPr lang="en-AU" sz="2400" dirty="0" smtClean="0"/>
                        <a:t>Feels </a:t>
                      </a:r>
                    </a:p>
                    <a:p>
                      <a:r>
                        <a:rPr lang="en-AU" sz="2400" dirty="0" smtClean="0"/>
                        <a:t>Believes</a:t>
                      </a:r>
                    </a:p>
                    <a:p>
                      <a:r>
                        <a:rPr lang="en-AU" sz="2400" dirty="0" smtClean="0"/>
                        <a:t>Admits</a:t>
                      </a:r>
                    </a:p>
                    <a:p>
                      <a:r>
                        <a:rPr lang="en-AU" sz="2400" dirty="0" smtClean="0"/>
                        <a:t>Suggests</a:t>
                      </a:r>
                    </a:p>
                    <a:p>
                      <a:r>
                        <a:rPr lang="en-AU" sz="2400" dirty="0" smtClean="0"/>
                        <a:t>Observes</a:t>
                      </a:r>
                      <a:endParaRPr lang="en-AU" sz="2400" dirty="0"/>
                    </a:p>
                  </a:txBody>
                  <a:tcPr/>
                </a:tc>
                <a:tc>
                  <a:txBody>
                    <a:bodyPr/>
                    <a:lstStyle/>
                    <a:p>
                      <a:r>
                        <a:rPr lang="en-AU" sz="2400" dirty="0" smtClean="0"/>
                        <a:t>Demonstrates </a:t>
                      </a:r>
                    </a:p>
                    <a:p>
                      <a:r>
                        <a:rPr lang="en-AU" sz="2400" dirty="0" smtClean="0"/>
                        <a:t>Shows</a:t>
                      </a:r>
                    </a:p>
                    <a:p>
                      <a:r>
                        <a:rPr lang="en-AU" sz="2400" dirty="0" smtClean="0"/>
                        <a:t>Represents</a:t>
                      </a:r>
                      <a:r>
                        <a:rPr lang="en-AU" sz="2400" baseline="0" dirty="0" smtClean="0"/>
                        <a:t> </a:t>
                      </a:r>
                    </a:p>
                    <a:p>
                      <a:r>
                        <a:rPr lang="en-AU" sz="2400" baseline="0" dirty="0" smtClean="0"/>
                        <a:t>Describes</a:t>
                      </a:r>
                    </a:p>
                    <a:p>
                      <a:r>
                        <a:rPr lang="en-AU" sz="2400" baseline="0" dirty="0" smtClean="0"/>
                        <a:t>Characterises</a:t>
                      </a:r>
                    </a:p>
                    <a:p>
                      <a:r>
                        <a:rPr lang="en-AU" sz="2400" baseline="0" dirty="0" smtClean="0"/>
                        <a:t>Portrays</a:t>
                      </a:r>
                    </a:p>
                    <a:p>
                      <a:r>
                        <a:rPr lang="en-AU" sz="2400" baseline="0" dirty="0" smtClean="0"/>
                        <a:t>Reveals </a:t>
                      </a:r>
                    </a:p>
                    <a:p>
                      <a:r>
                        <a:rPr lang="en-AU" sz="2400" baseline="0" dirty="0" smtClean="0"/>
                        <a:t>Struggles </a:t>
                      </a:r>
                      <a:endParaRPr lang="en-AU" sz="2400" dirty="0"/>
                    </a:p>
                  </a:txBody>
                  <a:tcPr/>
                </a:tc>
                <a:tc>
                  <a:txBody>
                    <a:bodyPr/>
                    <a:lstStyle/>
                    <a:p>
                      <a:r>
                        <a:rPr lang="en-AU" sz="2400" dirty="0" smtClean="0"/>
                        <a:t>Which</a:t>
                      </a:r>
                    </a:p>
                    <a:p>
                      <a:r>
                        <a:rPr lang="en-AU" sz="2400" dirty="0" smtClean="0"/>
                        <a:t>Who </a:t>
                      </a:r>
                    </a:p>
                    <a:p>
                      <a:r>
                        <a:rPr lang="en-AU" sz="2400" dirty="0" smtClean="0"/>
                        <a:t>That</a:t>
                      </a:r>
                      <a:endParaRPr lang="en-AU" sz="2400" dirty="0"/>
                    </a:p>
                  </a:txBody>
                  <a:tcPr/>
                </a:tc>
                <a:tc>
                  <a:txBody>
                    <a:bodyPr/>
                    <a:lstStyle/>
                    <a:p>
                      <a:r>
                        <a:rPr lang="en-AU" sz="2400" dirty="0" smtClean="0"/>
                        <a:t>When</a:t>
                      </a:r>
                    </a:p>
                    <a:p>
                      <a:r>
                        <a:rPr lang="en-AU" sz="2400" dirty="0" smtClean="0"/>
                        <a:t>Although</a:t>
                      </a:r>
                    </a:p>
                    <a:p>
                      <a:r>
                        <a:rPr lang="en-AU" sz="2400" dirty="0" smtClean="0"/>
                        <a:t>Despite</a:t>
                      </a:r>
                    </a:p>
                    <a:p>
                      <a:r>
                        <a:rPr lang="en-AU" sz="2400" dirty="0" smtClean="0"/>
                        <a:t>Since</a:t>
                      </a:r>
                      <a:endParaRPr lang="en-AU" sz="2400" dirty="0"/>
                    </a:p>
                  </a:txBody>
                  <a:tcPr/>
                </a:tc>
                <a:extLst>
                  <a:ext uri="{0D108BD9-81ED-4DB2-BD59-A6C34878D82A}">
                    <a16:rowId xmlns:a16="http://schemas.microsoft.com/office/drawing/2014/main" val="1851393383"/>
                  </a:ext>
                </a:extLst>
              </a:tr>
            </a:tbl>
          </a:graphicData>
        </a:graphic>
      </p:graphicFrame>
      <p:graphicFrame>
        <p:nvGraphicFramePr>
          <p:cNvPr id="10" name="Table 9">
            <a:extLst>
              <a:ext uri="{FF2B5EF4-FFF2-40B4-BE49-F238E27FC236}">
                <a16:creationId xmlns:a16="http://schemas.microsoft.com/office/drawing/2014/main" id="{2170DDB3-4322-45B9-A426-838813124F89}"/>
              </a:ext>
            </a:extLst>
          </p:cNvPr>
          <p:cNvGraphicFramePr>
            <a:graphicFrameLocks noGrp="1"/>
          </p:cNvGraphicFramePr>
          <p:nvPr>
            <p:extLst>
              <p:ext uri="{D42A27DB-BD31-4B8C-83A1-F6EECF244321}">
                <p14:modId xmlns:p14="http://schemas.microsoft.com/office/powerpoint/2010/main" val="2275683551"/>
              </p:ext>
            </p:extLst>
          </p:nvPr>
        </p:nvGraphicFramePr>
        <p:xfrm>
          <a:off x="11723" y="1554480"/>
          <a:ext cx="1946032" cy="5303521"/>
        </p:xfrm>
        <a:graphic>
          <a:graphicData uri="http://schemas.openxmlformats.org/drawingml/2006/table">
            <a:tbl>
              <a:tblPr firstRow="1" bandRow="1">
                <a:tableStyleId>{5C22544A-7EE6-4342-B048-85BDC9FD1C3A}</a:tableStyleId>
              </a:tblPr>
              <a:tblGrid>
                <a:gridCol w="1946032">
                  <a:extLst>
                    <a:ext uri="{9D8B030D-6E8A-4147-A177-3AD203B41FA5}">
                      <a16:colId xmlns:a16="http://schemas.microsoft.com/office/drawing/2014/main" val="1529901115"/>
                    </a:ext>
                  </a:extLst>
                </a:gridCol>
              </a:tblGrid>
              <a:tr h="417533">
                <a:tc>
                  <a:txBody>
                    <a:bodyPr/>
                    <a:lstStyle/>
                    <a:p>
                      <a:r>
                        <a:rPr lang="en-AU" sz="2000" dirty="0"/>
                        <a:t>Success Criteria</a:t>
                      </a:r>
                    </a:p>
                  </a:txBody>
                  <a:tcPr>
                    <a:solidFill>
                      <a:srgbClr val="F77B15"/>
                    </a:solidFill>
                  </a:tcPr>
                </a:tc>
                <a:extLst>
                  <a:ext uri="{0D108BD9-81ED-4DB2-BD59-A6C34878D82A}">
                    <a16:rowId xmlns:a16="http://schemas.microsoft.com/office/drawing/2014/main" val="438604388"/>
                  </a:ext>
                </a:extLst>
              </a:tr>
              <a:tr h="1163426">
                <a:tc>
                  <a:txBody>
                    <a:bodyPr/>
                    <a:lstStyle/>
                    <a:p>
                      <a:r>
                        <a:rPr lang="en-AU" sz="2000" dirty="0"/>
                        <a:t>I </a:t>
                      </a:r>
                      <a:r>
                        <a:rPr lang="en-AU" sz="2000" dirty="0" smtClean="0"/>
                        <a:t>can</a:t>
                      </a:r>
                      <a:r>
                        <a:rPr lang="en-AU" sz="2000" baseline="0" dirty="0" smtClean="0"/>
                        <a:t> identify the most important part of my quote</a:t>
                      </a:r>
                      <a:endParaRPr lang="en-AU" sz="2000" dirty="0"/>
                    </a:p>
                  </a:txBody>
                  <a:tcPr>
                    <a:solidFill>
                      <a:srgbClr val="FFFF00"/>
                    </a:solidFill>
                  </a:tcPr>
                </a:tc>
                <a:extLst>
                  <a:ext uri="{0D108BD9-81ED-4DB2-BD59-A6C34878D82A}">
                    <a16:rowId xmlns:a16="http://schemas.microsoft.com/office/drawing/2014/main" val="2214889484"/>
                  </a:ext>
                </a:extLst>
              </a:tr>
              <a:tr h="1381070">
                <a:tc>
                  <a:txBody>
                    <a:bodyPr/>
                    <a:lstStyle/>
                    <a:p>
                      <a:r>
                        <a:rPr lang="en-AU" sz="2000" dirty="0" smtClean="0"/>
                        <a:t>I can use the formula for embedding quotes</a:t>
                      </a:r>
                      <a:endParaRPr lang="en-AU" sz="2000" dirty="0"/>
                    </a:p>
                  </a:txBody>
                  <a:tcPr>
                    <a:solidFill>
                      <a:srgbClr val="FFFF00"/>
                    </a:solidFill>
                  </a:tcPr>
                </a:tc>
                <a:extLst>
                  <a:ext uri="{0D108BD9-81ED-4DB2-BD59-A6C34878D82A}">
                    <a16:rowId xmlns:a16="http://schemas.microsoft.com/office/drawing/2014/main" val="2229975842"/>
                  </a:ext>
                </a:extLst>
              </a:tr>
              <a:tr h="1178066">
                <a:tc>
                  <a:txBody>
                    <a:bodyPr/>
                    <a:lstStyle/>
                    <a:p>
                      <a:r>
                        <a:rPr lang="en-AU" sz="2000" dirty="0"/>
                        <a:t>I can </a:t>
                      </a:r>
                      <a:r>
                        <a:rPr lang="en-AU" sz="2000" dirty="0" smtClean="0"/>
                        <a:t>embed a short quote into</a:t>
                      </a:r>
                      <a:r>
                        <a:rPr lang="en-AU" sz="2000" baseline="0" dirty="0" smtClean="0"/>
                        <a:t> a sentence</a:t>
                      </a:r>
                      <a:endParaRPr lang="en-AU" sz="2000" dirty="0"/>
                    </a:p>
                  </a:txBody>
                  <a:tcPr>
                    <a:solidFill>
                      <a:srgbClr val="92D050"/>
                    </a:solidFill>
                  </a:tcPr>
                </a:tc>
                <a:extLst>
                  <a:ext uri="{0D108BD9-81ED-4DB2-BD59-A6C34878D82A}">
                    <a16:rowId xmlns:a16="http://schemas.microsoft.com/office/drawing/2014/main" val="835583285"/>
                  </a:ext>
                </a:extLst>
              </a:tr>
              <a:tr h="1163426">
                <a:tc>
                  <a:txBody>
                    <a:bodyPr/>
                    <a:lstStyle/>
                    <a:p>
                      <a:r>
                        <a:rPr lang="en-AU" sz="2000" dirty="0"/>
                        <a:t>I can </a:t>
                      </a:r>
                      <a:r>
                        <a:rPr lang="en-AU" sz="2000" dirty="0" smtClean="0"/>
                        <a:t>analysis</a:t>
                      </a:r>
                      <a:r>
                        <a:rPr lang="en-AU" sz="2000" baseline="0" dirty="0" smtClean="0"/>
                        <a:t> the quote in the same sentence.</a:t>
                      </a:r>
                      <a:endParaRPr lang="en-AU" sz="2000" dirty="0"/>
                    </a:p>
                  </a:txBody>
                  <a:tcPr>
                    <a:solidFill>
                      <a:srgbClr val="92D050"/>
                    </a:solidFill>
                  </a:tcPr>
                </a:tc>
                <a:extLst>
                  <a:ext uri="{0D108BD9-81ED-4DB2-BD59-A6C34878D82A}">
                    <a16:rowId xmlns:a16="http://schemas.microsoft.com/office/drawing/2014/main" val="3081174515"/>
                  </a:ext>
                </a:extLst>
              </a:tr>
            </a:tbl>
          </a:graphicData>
        </a:graphic>
      </p:graphicFrame>
    </p:spTree>
    <p:extLst>
      <p:ext uri="{BB962C8B-B14F-4D97-AF65-F5344CB8AC3E}">
        <p14:creationId xmlns:p14="http://schemas.microsoft.com/office/powerpoint/2010/main" val="170158301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par>
    </p:tnLst>
  </p:timing>
</p:sld>
</file>

<file path=ppt/theme/theme1.xml><?xml version="1.0" encoding="utf-8"?>
<a:theme xmlns:a="http://schemas.openxmlformats.org/drawingml/2006/main" name="Basis">
  <a:themeElements>
    <a:clrScheme name="Basis">
      <a:dk1>
        <a:srgbClr val="000000"/>
      </a:dk1>
      <a:lt1>
        <a:srgbClr val="FFFFFF"/>
      </a:lt1>
      <a:dk2>
        <a:srgbClr val="565349"/>
      </a:dk2>
      <a:lt2>
        <a:srgbClr val="DDDDDD"/>
      </a:lt2>
      <a:accent1>
        <a:srgbClr val="A6B727"/>
      </a:accent1>
      <a:accent2>
        <a:srgbClr val="DF5327"/>
      </a:accent2>
      <a:accent3>
        <a:srgbClr val="FE9E00"/>
      </a:accent3>
      <a:accent4>
        <a:srgbClr val="418AB3"/>
      </a:accent4>
      <a:accent5>
        <a:srgbClr val="D7D447"/>
      </a:accent5>
      <a:accent6>
        <a:srgbClr val="818183"/>
      </a:accent6>
      <a:hlink>
        <a:srgbClr val="F59E00"/>
      </a:hlink>
      <a:folHlink>
        <a:srgbClr val="B2B2B2"/>
      </a:folHlink>
    </a:clrScheme>
    <a:fontScheme name="Basis">
      <a:majorFont>
        <a:latin typeface="Corbel" panose="020B0503020204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orbel" panose="020B0503020204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Basis">
      <a:fillStyleLst>
        <a:solidFill>
          <a:schemeClr val="phClr"/>
        </a:solidFill>
        <a:solidFill>
          <a:schemeClr val="phClr">
            <a:tint val="55000"/>
            <a:satMod val="130000"/>
          </a:schemeClr>
        </a:solidFill>
        <a:gradFill rotWithShape="1">
          <a:gsLst>
            <a:gs pos="0">
              <a:schemeClr val="phClr"/>
            </a:gs>
            <a:gs pos="90000">
              <a:schemeClr val="phClr">
                <a:shade val="100000"/>
                <a:satMod val="105000"/>
              </a:schemeClr>
            </a:gs>
            <a:gs pos="100000">
              <a:schemeClr val="phClr">
                <a:shade val="80000"/>
                <a:satMod val="120000"/>
              </a:schemeClr>
            </a:gs>
          </a:gsLst>
          <a:path path="circle">
            <a:fillToRect l="100000" t="100000" r="100000" b="100000"/>
          </a:path>
        </a:gradFill>
      </a:fillStyleLst>
      <a:lnStyleLst>
        <a:ln w="10000" cap="flat" cmpd="sng" algn="ctr">
          <a:solidFill>
            <a:schemeClr val="phClr"/>
          </a:solidFill>
          <a:prstDash val="solid"/>
        </a:ln>
        <a:ln w="19050" cap="flat" cmpd="sng" algn="ctr">
          <a:solidFill>
            <a:schemeClr val="phClr"/>
          </a:solidFill>
          <a:prstDash val="solid"/>
        </a:ln>
        <a:ln w="53975" cap="flat" cmpd="dbl"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38100" dist="25400" dir="5400000" rotWithShape="0">
              <a:srgbClr val="000000">
                <a:alpha val="45000"/>
              </a:srgbClr>
            </a:outerShdw>
          </a:effectLst>
          <a:scene3d>
            <a:camera prst="orthographicFront">
              <a:rot lat="0" lon="0" rev="0"/>
            </a:camera>
            <a:lightRig rig="brightRoom" dir="t"/>
          </a:scene3d>
          <a:sp3d extrusionH="12700" contourW="25400" prstMaterial="flat">
            <a:bevelT w="63500" h="152400" prst="angle"/>
            <a:contourClr>
              <a:schemeClr val="phClr">
                <a:shade val="27000"/>
                <a:satMod val="120000"/>
              </a:schemeClr>
            </a:contourClr>
          </a:sp3d>
        </a:effectStyle>
      </a:effectStyleLst>
      <a:bgFillStyleLst>
        <a:solidFill>
          <a:schemeClr val="phClr"/>
        </a:solidFill>
        <a:solidFill>
          <a:schemeClr val="phClr">
            <a:tint val="95000"/>
            <a:shade val="95000"/>
            <a:satMod val="140000"/>
          </a:schemeClr>
        </a:solidFill>
        <a:solidFill>
          <a:schemeClr val="phClr">
            <a:tint val="90000"/>
            <a:shade val="85000"/>
            <a:satMod val="160000"/>
            <a:lumMod val="110000"/>
          </a:schemeClr>
        </a:solidFill>
      </a:bgFillStyleLst>
    </a:fmtScheme>
  </a:themeElements>
  <a:objectDefaults/>
  <a:extraClrSchemeLst/>
  <a:extLst>
    <a:ext uri="{05A4C25C-085E-4340-85A3-A5531E510DB2}">
      <thm15:themeFamily xmlns:thm15="http://schemas.microsoft.com/office/thememl/2012/main" name="Basis" id="{5665723A-49BA-4B57-8411-A56F8F207965}" vid="{90E45F77-AEFC-46EF-A7C1-5B338C297B02}"/>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F6DD71352A75C946BB20F54B03F82ED8" ma:contentTypeVersion="0" ma:contentTypeDescription="Create a new document." ma:contentTypeScope="" ma:versionID="eceeccfb90892b5bada9b120beb2cbcc">
  <xsd:schema xmlns:xsd="http://www.w3.org/2001/XMLSchema" xmlns:xs="http://www.w3.org/2001/XMLSchema" xmlns:p="http://schemas.microsoft.com/office/2006/metadata/properties" targetNamespace="http://schemas.microsoft.com/office/2006/metadata/properties" ma:root="true" ma:fieldsID="500c6692915ba10984c0aabd49f31b22">
    <xsd:element name="properties">
      <xsd:complexType>
        <xsd:sequence>
          <xsd:element name="documentManagement">
            <xsd:complexType>
              <xsd:all/>
            </xsd:complexType>
          </xsd:element>
        </xsd:sequence>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66F65892-39E0-4F9E-8460-9674FB75458C}"/>
</file>

<file path=customXml/itemProps2.xml><?xml version="1.0" encoding="utf-8"?>
<ds:datastoreItem xmlns:ds="http://schemas.openxmlformats.org/officeDocument/2006/customXml" ds:itemID="{3421489B-8C98-4442-9BD4-19D100F2743C}">
  <ds:schemaRefs>
    <ds:schemaRef ds:uri="http://purl.org/dc/terms/"/>
    <ds:schemaRef ds:uri="http://schemas.openxmlformats.org/package/2006/metadata/core-properties"/>
    <ds:schemaRef ds:uri="http://schemas.microsoft.com/office/2006/documentManagement/types"/>
    <ds:schemaRef ds:uri="http://schemas.microsoft.com/office/infopath/2007/PartnerControls"/>
    <ds:schemaRef ds:uri="http://purl.org/dc/elements/1.1/"/>
    <ds:schemaRef ds:uri="http://schemas.microsoft.com/office/2006/metadata/properties"/>
    <ds:schemaRef ds:uri="88827a6a-d887-492d-bdad-cf33aa0eb1a2"/>
    <ds:schemaRef ds:uri="http://www.w3.org/XML/1998/namespace"/>
    <ds:schemaRef ds:uri="http://purl.org/dc/dcmitype/"/>
  </ds:schemaRefs>
</ds:datastoreItem>
</file>

<file path=customXml/itemProps3.xml><?xml version="1.0" encoding="utf-8"?>
<ds:datastoreItem xmlns:ds="http://schemas.openxmlformats.org/officeDocument/2006/customXml" ds:itemID="{BA0B5AE5-7932-49E1-994E-3F618990C874}">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Basis</Template>
  <TotalTime>6046</TotalTime>
  <Words>1870</Words>
  <Application>Microsoft Office PowerPoint</Application>
  <PresentationFormat>Widescreen</PresentationFormat>
  <Paragraphs>226</Paragraphs>
  <Slides>16</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16</vt:i4>
      </vt:variant>
    </vt:vector>
  </HeadingPairs>
  <TitlesOfParts>
    <vt:vector size="21" baseType="lpstr">
      <vt:lpstr>Avenir-Book</vt:lpstr>
      <vt:lpstr>Calibri</vt:lpstr>
      <vt:lpstr>Corbel</vt:lpstr>
      <vt:lpstr>Times New Roman</vt:lpstr>
      <vt:lpstr>Basis</vt:lpstr>
      <vt:lpstr>Embedding Quotes in Essays</vt:lpstr>
      <vt:lpstr>PowerPoint Presentation</vt:lpstr>
      <vt:lpstr>What is important?</vt:lpstr>
      <vt:lpstr>What is important?</vt:lpstr>
      <vt:lpstr>What is important?</vt:lpstr>
      <vt:lpstr>What is important?</vt:lpstr>
      <vt:lpstr>What is important?</vt:lpstr>
      <vt:lpstr>What is important?</vt:lpstr>
      <vt:lpstr>Now you try…</vt:lpstr>
      <vt:lpstr>Formula</vt:lpstr>
      <vt:lpstr>Formula</vt:lpstr>
      <vt:lpstr>Formula</vt:lpstr>
      <vt:lpstr>Embedding quotes into sentences</vt:lpstr>
      <vt:lpstr>Embedding quotes into sentences</vt:lpstr>
      <vt:lpstr>Embedding quotes into sentences</vt:lpstr>
      <vt:lpstr>Useful vocabulary</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Shooting down arguments</dc:title>
  <dc:creator>Egan, Abigail A</dc:creator>
  <cp:lastModifiedBy>Tess Legge</cp:lastModifiedBy>
  <cp:revision>56</cp:revision>
  <dcterms:created xsi:type="dcterms:W3CDTF">2019-07-29T04:42:37Z</dcterms:created>
  <dcterms:modified xsi:type="dcterms:W3CDTF">2019-08-27T11:32:42Z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0x010100F6DD71352A75C946BB20F54B03F82ED8</vt:lpwstr>
  </property>
</Properties>
</file>