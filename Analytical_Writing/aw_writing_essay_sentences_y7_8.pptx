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Override1.xml" ContentType="application/vnd.openxmlformats-officedocument.themeOverride+xml"/>
  <Override PartName="/ppt/theme/themeOverride2.xml" ContentType="application/vnd.openxmlformats-officedocument.themeOverr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sldIdLst>
    <p:sldId id="282" r:id="rId5"/>
    <p:sldId id="283" r:id="rId6"/>
    <p:sldId id="285" r:id="rId7"/>
    <p:sldId id="284" r:id="rId8"/>
    <p:sldId id="286" r:id="rId9"/>
    <p:sldId id="287" r:id="rId10"/>
    <p:sldId id="288" r:id="rId11"/>
    <p:sldId id="289" r:id="rId12"/>
    <p:sldId id="290" r:id="rId13"/>
    <p:sldId id="291" r:id="rId14"/>
    <p:sldId id="292" r:id="rId15"/>
    <p:sldId id="293" r:id="rId16"/>
    <p:sldId id="295" r:id="rId17"/>
    <p:sldId id="296" r:id="rId18"/>
    <p:sldId id="294" r:id="rId19"/>
    <p:sldId id="297" r:id="rId20"/>
    <p:sldId id="298" r:id="rId21"/>
    <p:sldId id="299" r:id="rId22"/>
    <p:sldId id="300" r:id="rId23"/>
    <p:sldId id="301" r:id="rId24"/>
    <p:sldId id="302" r:id="rId25"/>
    <p:sldId id="303" r:id="rId26"/>
    <p:sldId id="304" r:id="rId27"/>
    <p:sldId id="305" r:id="rId28"/>
    <p:sldId id="306" r:id="rId29"/>
    <p:sldId id="307" r:id="rId30"/>
    <p:sldId id="308" r:id="rId31"/>
    <p:sldId id="309" r:id="rId32"/>
    <p:sldId id="310" r:id="rId33"/>
    <p:sldId id="311"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96E517-F334-4AF5-8D5E-27C184DA425E}" v="4" dt="2021-07-14T23:45:42.25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002" autoAdjust="0"/>
    <p:restoredTop sz="94619" autoAdjust="0"/>
  </p:normalViewPr>
  <p:slideViewPr>
    <p:cSldViewPr snapToGrid="0">
      <p:cViewPr varScale="1">
        <p:scale>
          <a:sx n="66" d="100"/>
          <a:sy n="66" d="100"/>
        </p:scale>
        <p:origin x="636"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microsoft.com/office/2015/10/relationships/revisionInfo" Target="revisionInfo.xml"/><Relationship Id="rId21" Type="http://schemas.openxmlformats.org/officeDocument/2006/relationships/slide" Target="slides/slide17.xml"/><Relationship Id="rId34" Type="http://schemas.openxmlformats.org/officeDocument/2006/relationships/slide" Target="slides/slide30.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presProps" Target="presProps.xml"/><Relationship Id="rId8" Type="http://schemas.openxmlformats.org/officeDocument/2006/relationships/slide" Target="slides/slide4.xml"/><Relationship Id="rId3" Type="http://schemas.openxmlformats.org/officeDocument/2006/relationships/customXml" Target="../customXml/item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tx1">
                    <a:lumMod val="75000"/>
                    <a:lumOff val="2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5/30/2023</a:t>
            </a:fld>
            <a:endParaRPr lang="en-US" dirty="0"/>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6791332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2" y="702156"/>
            <a:ext cx="11029616" cy="118872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340864"/>
            <a:ext cx="11029615" cy="363448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5/30/2023</a:t>
            </a:fld>
            <a:endParaRPr lang="en-US" dirty="0"/>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0651169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2393950"/>
            <a:ext cx="11029615" cy="2147467"/>
          </a:xfrm>
        </p:spPr>
        <p:txBody>
          <a:bodyPr anchor="b">
            <a:normAutofit/>
          </a:bodyPr>
          <a:lstStyle>
            <a:lvl1pPr algn="l">
              <a:defRPr sz="3600" b="0" cap="all">
                <a:solidFill>
                  <a:schemeClr val="tx1">
                    <a:lumMod val="75000"/>
                    <a:lumOff val="2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5/30/2023</a:t>
            </a:fld>
            <a:endParaRPr lang="en-US" dirty="0"/>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9193861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194767"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6039" y="2228003"/>
            <a:ext cx="5194769"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BFFD690-9426-415D-8B65-26881E07B2D4}" type="datetime1">
              <a:rPr lang="en-US" smtClean="0"/>
              <a:t>5/30/2023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6459939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581191" y="2250891"/>
            <a:ext cx="5194769" cy="557784"/>
          </a:xfrm>
        </p:spPr>
        <p:txBody>
          <a:bodyPr anchor="ctr">
            <a:noAutofit/>
          </a:bodyPr>
          <a:lstStyle>
            <a:lvl1pPr marL="0" indent="0">
              <a:buNone/>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194766"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6039" y="2250892"/>
            <a:ext cx="5194770" cy="553373"/>
          </a:xfrm>
        </p:spPr>
        <p:txBody>
          <a:bodyPr anchor="ctr">
            <a:noAutofit/>
          </a:bodyPr>
          <a:lstStyle>
            <a:lvl1pPr marL="0" marR="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6416037" y="2926052"/>
            <a:ext cx="5194771"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4C4989A-474C-40DE-95B9-011C28B71673}" type="datetime1">
              <a:rPr lang="en-US" smtClean="0"/>
              <a:t>5/30/2023</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8071746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DB4ED54-5B5E-4A04-93D3-5772E3CE3818}" type="datetime1">
              <a:rPr lang="en-US" smtClean="0"/>
              <a:t>5/30/2023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9581431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5/30/2023</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6478172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601200"/>
            <a:ext cx="3682723" cy="581547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767857" y="933450"/>
            <a:ext cx="3031852" cy="1722419"/>
          </a:xfrm>
        </p:spPr>
        <p:txBody>
          <a:bodyPr anchor="b">
            <a:normAutofit/>
          </a:bodyPr>
          <a:lstStyle>
            <a:lvl1pPr algn="l">
              <a:defRPr sz="24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900928" y="1179829"/>
            <a:ext cx="6650991" cy="4658216"/>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67857" y="2836654"/>
            <a:ext cx="3031852" cy="3001392"/>
          </a:xfrm>
        </p:spPr>
        <p:txBody>
          <a:bodyPr anchor="t">
            <a:normAutofit/>
          </a:bodyPr>
          <a:lstStyle>
            <a:lvl1pPr marL="0" indent="0" algn="l">
              <a:buNone/>
              <a:defRPr sz="1600">
                <a:solidFill>
                  <a:srgbClr val="FFFFFF"/>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7605951" y="6456916"/>
            <a:ext cx="2844799" cy="365125"/>
          </a:xfrm>
        </p:spPr>
        <p:txBody>
          <a:bodyPr/>
          <a:lstStyle/>
          <a:p>
            <a:fld id="{D82884F1-FFEA-405F-9602-3DCA865EDA4E}" type="datetime1">
              <a:rPr lang="en-US" smtClean="0"/>
              <a:t>5/30/2023</a:t>
            </a:fld>
            <a:endParaRPr lang="en-US" dirty="0"/>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581192" y="6452590"/>
            <a:ext cx="6917210" cy="365125"/>
          </a:xfrm>
        </p:spPr>
        <p:txBody>
          <a:bodyPr/>
          <a:lstStyle/>
          <a:p>
            <a:endParaRPr lang="en-US" dirty="0"/>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10558300" y="6456916"/>
            <a:ext cx="1052510" cy="365125"/>
          </a:xfrm>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19288557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tx1">
                    <a:lumMod val="75000"/>
                    <a:lumOff val="25000"/>
                  </a:schemeClr>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641350"/>
            <a:ext cx="11290859" cy="3651249"/>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998148"/>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5/30/2023</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8191465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CED4963-E985-44C4-B8C4-FDD613B7C2F8}" type="datetime1">
              <a:rPr lang="en-US" smtClean="0"/>
              <a:t>5/30/2023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7739777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058151" y="599725"/>
            <a:ext cx="3687316" cy="581695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204200" y="863600"/>
            <a:ext cx="3124200" cy="4807326"/>
          </a:xfrm>
        </p:spPr>
        <p:txBody>
          <a:bodyPr vert="eaVert" anchor="ctr"/>
          <a:lstStyle>
            <a:lvl1pPr>
              <a:defRPr>
                <a:solidFill>
                  <a:srgbClr val="FFFF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774923" y="863600"/>
            <a:ext cx="7161625" cy="4807326"/>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446534" y="457200"/>
            <a:ext cx="3703320" cy="94997"/>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8042147" y="453643"/>
            <a:ext cx="3703320" cy="98554"/>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5/30/2023</a:t>
            </a:fld>
            <a:endParaRPr lang="en-US" dirty="0"/>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dirty="0"/>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0636802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2"/>
            <a:ext cx="11029616" cy="3652047"/>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6423914"/>
            <a:ext cx="2844799"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ED291B17-9318-49DB-B28B-6E5994AE9581}" type="datetime1">
              <a:rPr lang="en-US" smtClean="0"/>
              <a:t>5/30/2023</a:t>
            </a:fld>
            <a:endParaRPr lang="en-US" dirty="0"/>
          </a:p>
        </p:txBody>
      </p:sp>
      <p:sp>
        <p:nvSpPr>
          <p:cNvPr id="5" name="Footer Placeholder 4"/>
          <p:cNvSpPr>
            <a:spLocks noGrp="1"/>
          </p:cNvSpPr>
          <p:nvPr>
            <p:ph type="ftr" sz="quarter" idx="3"/>
          </p:nvPr>
        </p:nvSpPr>
        <p:spPr>
          <a:xfrm>
            <a:off x="581192" y="6423914"/>
            <a:ext cx="6917210" cy="365125"/>
          </a:xfrm>
          <a:prstGeom prst="rect">
            <a:avLst/>
          </a:prstGeom>
        </p:spPr>
        <p:txBody>
          <a:bodyPr vert="horz" lIns="91440" tIns="45720" rIns="91440" bIns="45720" rtlCol="0" anchor="ctr"/>
          <a:lstStyle>
            <a:lvl1pPr algn="l">
              <a:defRPr sz="900" cap="all">
                <a:solidFill>
                  <a:schemeClr val="tx1">
                    <a:lumMod val="75000"/>
                    <a:lumOff val="25000"/>
                  </a:schemeClr>
                </a:solidFill>
              </a:defRPr>
            </a:lvl1pPr>
          </a:lstStyle>
          <a:p>
            <a:endParaRPr lang="en-US" dirty="0"/>
          </a:p>
        </p:txBody>
      </p:sp>
      <p:sp>
        <p:nvSpPr>
          <p:cNvPr id="6" name="Slide Number Placeholder 5"/>
          <p:cNvSpPr>
            <a:spLocks noGrp="1"/>
          </p:cNvSpPr>
          <p:nvPr>
            <p:ph type="sldNum" sz="quarter" idx="4"/>
          </p:nvPr>
        </p:nvSpPr>
        <p:spPr>
          <a:xfrm>
            <a:off x="10558300" y="6423914"/>
            <a:ext cx="1052510"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3A98EE3D-8CD1-4C3F-BD1C-C98C9596463C}" type="slidenum">
              <a:rPr lang="en-US" smtClean="0"/>
              <a:t>‹#›</a:t>
            </a:fld>
            <a:endParaRPr lang="en-US" dirty="0"/>
          </a:p>
        </p:txBody>
      </p:sp>
      <p:sp>
        <p:nvSpPr>
          <p:cNvPr id="9" name="Rectangle 8"/>
          <p:cNvSpPr/>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389789078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hemeOverride" Target="../theme/themeOverride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hemeOverride" Target="../theme/themeOverr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E08D4B6A-8113-4DFB-B82E-B60CAC8E0A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Gill Sans MT" panose="020B0502020104020203"/>
              <a:ea typeface="+mn-ea"/>
              <a:cs typeface="+mn-cs"/>
            </a:endParaRPr>
          </a:p>
        </p:txBody>
      </p:sp>
      <p:sp>
        <p:nvSpPr>
          <p:cNvPr id="30" name="Rectangle 29">
            <a:extLst>
              <a:ext uri="{FF2B5EF4-FFF2-40B4-BE49-F238E27FC236}">
                <a16:creationId xmlns:a16="http://schemas.microsoft.com/office/drawing/2014/main" id="{9822E561-F97C-4CBB-A9A6-A6BF6317BC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lumMod val="85000"/>
              <a:lumOff val="1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 name="Title 1">
            <a:extLst>
              <a:ext uri="{FF2B5EF4-FFF2-40B4-BE49-F238E27FC236}">
                <a16:creationId xmlns:a16="http://schemas.microsoft.com/office/drawing/2014/main" id="{E1FC5398-C628-478A-822A-BE6CBC51559B}"/>
              </a:ext>
            </a:extLst>
          </p:cNvPr>
          <p:cNvSpPr>
            <a:spLocks noGrp="1"/>
          </p:cNvSpPr>
          <p:nvPr>
            <p:ph type="ctrTitle"/>
          </p:nvPr>
        </p:nvSpPr>
        <p:spPr>
          <a:xfrm>
            <a:off x="8109235" y="863695"/>
            <a:ext cx="3511233" cy="3779995"/>
          </a:xfrm>
        </p:spPr>
        <p:txBody>
          <a:bodyPr anchor="ctr">
            <a:normAutofit/>
          </a:bodyPr>
          <a:lstStyle/>
          <a:p>
            <a:r>
              <a:rPr lang="en-US" dirty="0">
                <a:solidFill>
                  <a:schemeClr val="tx1"/>
                </a:solidFill>
              </a:rPr>
              <a:t>Writing essay sentences</a:t>
            </a:r>
          </a:p>
        </p:txBody>
      </p:sp>
      <p:sp>
        <p:nvSpPr>
          <p:cNvPr id="3" name="Subtitle 2">
            <a:extLst>
              <a:ext uri="{FF2B5EF4-FFF2-40B4-BE49-F238E27FC236}">
                <a16:creationId xmlns:a16="http://schemas.microsoft.com/office/drawing/2014/main" id="{07730D41-D3A4-4CFC-91DC-62E6A5AE503B}"/>
              </a:ext>
            </a:extLst>
          </p:cNvPr>
          <p:cNvSpPr>
            <a:spLocks noGrp="1"/>
          </p:cNvSpPr>
          <p:nvPr>
            <p:ph type="subTitle" idx="1"/>
          </p:nvPr>
        </p:nvSpPr>
        <p:spPr>
          <a:xfrm>
            <a:off x="8109236" y="4739780"/>
            <a:ext cx="3511233" cy="1147054"/>
          </a:xfrm>
        </p:spPr>
        <p:txBody>
          <a:bodyPr anchor="t">
            <a:normAutofit/>
          </a:bodyPr>
          <a:lstStyle/>
          <a:p>
            <a:r>
              <a:rPr lang="en-US" sz="2000" dirty="0"/>
              <a:t>Year 7 English</a:t>
            </a:r>
          </a:p>
        </p:txBody>
      </p:sp>
      <p:sp>
        <p:nvSpPr>
          <p:cNvPr id="32" name="Rectangle 31">
            <a:extLst>
              <a:ext uri="{FF2B5EF4-FFF2-40B4-BE49-F238E27FC236}">
                <a16:creationId xmlns:a16="http://schemas.microsoft.com/office/drawing/2014/main" id="{B01B0E58-A5C8-4CDA-A2E0-35DF94E59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09235" y="457200"/>
            <a:ext cx="3511233" cy="91439"/>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674873628"/>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150EC9-7E7D-4648-AC38-2A7BCBFB2EF6}"/>
              </a:ext>
            </a:extLst>
          </p:cNvPr>
          <p:cNvSpPr>
            <a:spLocks noGrp="1"/>
          </p:cNvSpPr>
          <p:nvPr>
            <p:ph type="title"/>
          </p:nvPr>
        </p:nvSpPr>
        <p:spPr/>
        <p:txBody>
          <a:bodyPr>
            <a:normAutofit/>
          </a:bodyPr>
          <a:lstStyle/>
          <a:p>
            <a:r>
              <a:rPr lang="en-US" dirty="0">
                <a:solidFill>
                  <a:schemeClr val="tx1">
                    <a:lumMod val="85000"/>
                    <a:lumOff val="15000"/>
                  </a:schemeClr>
                </a:solidFill>
              </a:rPr>
              <a:t>Learning outcomes</a:t>
            </a:r>
          </a:p>
        </p:txBody>
      </p:sp>
      <p:sp>
        <p:nvSpPr>
          <p:cNvPr id="3" name="Text Placeholder 2">
            <a:extLst>
              <a:ext uri="{FF2B5EF4-FFF2-40B4-BE49-F238E27FC236}">
                <a16:creationId xmlns:a16="http://schemas.microsoft.com/office/drawing/2014/main" id="{87411CE0-1F99-4810-8187-C12E752F6350}"/>
              </a:ext>
            </a:extLst>
          </p:cNvPr>
          <p:cNvSpPr>
            <a:spLocks noGrp="1"/>
          </p:cNvSpPr>
          <p:nvPr>
            <p:ph type="body" idx="1"/>
          </p:nvPr>
        </p:nvSpPr>
        <p:spPr/>
        <p:txBody>
          <a:bodyPr/>
          <a:lstStyle/>
          <a:p>
            <a:r>
              <a:rPr lang="en-AU" b="1" dirty="0"/>
              <a:t>Learning intentions</a:t>
            </a:r>
          </a:p>
        </p:txBody>
      </p:sp>
      <p:sp>
        <p:nvSpPr>
          <p:cNvPr id="4" name="Content Placeholder 3">
            <a:extLst>
              <a:ext uri="{FF2B5EF4-FFF2-40B4-BE49-F238E27FC236}">
                <a16:creationId xmlns:a16="http://schemas.microsoft.com/office/drawing/2014/main" id="{560FB370-0187-45D0-B762-2ED51F403D5A}"/>
              </a:ext>
            </a:extLst>
          </p:cNvPr>
          <p:cNvSpPr>
            <a:spLocks noGrp="1"/>
          </p:cNvSpPr>
          <p:nvPr>
            <p:ph sz="half" idx="2"/>
          </p:nvPr>
        </p:nvSpPr>
        <p:spPr/>
        <p:txBody>
          <a:bodyPr/>
          <a:lstStyle/>
          <a:p>
            <a:r>
              <a:rPr lang="en-AU" dirty="0"/>
              <a:t>You will learn how to write about text, character and language</a:t>
            </a:r>
          </a:p>
          <a:p>
            <a:r>
              <a:rPr lang="en-AU" dirty="0"/>
              <a:t>You will be able to add detail to your sentences</a:t>
            </a:r>
          </a:p>
          <a:p>
            <a:r>
              <a:rPr lang="en-AU" dirty="0"/>
              <a:t>You will learn how to use powerful verbs</a:t>
            </a:r>
          </a:p>
          <a:p>
            <a:r>
              <a:rPr lang="en-AU" dirty="0"/>
              <a:t>You will learn about prepositional phrases</a:t>
            </a:r>
          </a:p>
        </p:txBody>
      </p:sp>
      <p:sp>
        <p:nvSpPr>
          <p:cNvPr id="5" name="Text Placeholder 4">
            <a:extLst>
              <a:ext uri="{FF2B5EF4-FFF2-40B4-BE49-F238E27FC236}">
                <a16:creationId xmlns:a16="http://schemas.microsoft.com/office/drawing/2014/main" id="{DF1DD6BB-1079-4418-B26C-F38C46BAC852}"/>
              </a:ext>
            </a:extLst>
          </p:cNvPr>
          <p:cNvSpPr>
            <a:spLocks noGrp="1"/>
          </p:cNvSpPr>
          <p:nvPr>
            <p:ph type="body" sz="quarter" idx="3"/>
          </p:nvPr>
        </p:nvSpPr>
        <p:spPr/>
        <p:txBody>
          <a:bodyPr/>
          <a:lstStyle/>
          <a:p>
            <a:r>
              <a:rPr lang="en-AU" b="1" dirty="0"/>
              <a:t>You will be successful when</a:t>
            </a:r>
          </a:p>
        </p:txBody>
      </p:sp>
      <p:sp>
        <p:nvSpPr>
          <p:cNvPr id="6" name="Content Placeholder 5">
            <a:extLst>
              <a:ext uri="{FF2B5EF4-FFF2-40B4-BE49-F238E27FC236}">
                <a16:creationId xmlns:a16="http://schemas.microsoft.com/office/drawing/2014/main" id="{430F015B-FD7F-45BD-9C95-06DCB840CA38}"/>
              </a:ext>
            </a:extLst>
          </p:cNvPr>
          <p:cNvSpPr>
            <a:spLocks noGrp="1"/>
          </p:cNvSpPr>
          <p:nvPr>
            <p:ph sz="quarter" idx="4"/>
          </p:nvPr>
        </p:nvSpPr>
        <p:spPr/>
        <p:txBody>
          <a:bodyPr/>
          <a:lstStyle/>
          <a:p>
            <a:r>
              <a:rPr lang="en-AU" dirty="0"/>
              <a:t>You can describe:</a:t>
            </a:r>
          </a:p>
          <a:p>
            <a:pPr lvl="1"/>
            <a:r>
              <a:rPr lang="en-AU" dirty="0"/>
              <a:t>Nominal groups</a:t>
            </a:r>
          </a:p>
          <a:p>
            <a:pPr lvl="1"/>
            <a:r>
              <a:rPr lang="en-AU" dirty="0"/>
              <a:t>Prepositional phrases</a:t>
            </a:r>
          </a:p>
          <a:p>
            <a:r>
              <a:rPr lang="en-AU" dirty="0"/>
              <a:t>You have written fifteen new sentences</a:t>
            </a:r>
          </a:p>
          <a:p>
            <a:r>
              <a:rPr lang="en-AU" dirty="0"/>
              <a:t>You have added detail to your sentences</a:t>
            </a:r>
          </a:p>
        </p:txBody>
      </p:sp>
    </p:spTree>
    <p:extLst>
      <p:ext uri="{BB962C8B-B14F-4D97-AF65-F5344CB8AC3E}">
        <p14:creationId xmlns:p14="http://schemas.microsoft.com/office/powerpoint/2010/main" val="38979486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EF271B-37B3-4FB2-8C5C-D39069F49B7F}"/>
              </a:ext>
            </a:extLst>
          </p:cNvPr>
          <p:cNvSpPr>
            <a:spLocks noGrp="1"/>
          </p:cNvSpPr>
          <p:nvPr>
            <p:ph type="title"/>
          </p:nvPr>
        </p:nvSpPr>
        <p:spPr/>
        <p:txBody>
          <a:bodyPr/>
          <a:lstStyle/>
          <a:p>
            <a:r>
              <a:rPr lang="en-AU" dirty="0"/>
              <a:t>Nominal groups (also known as noun groups)</a:t>
            </a:r>
          </a:p>
        </p:txBody>
      </p:sp>
      <p:sp>
        <p:nvSpPr>
          <p:cNvPr id="3" name="Content Placeholder 2">
            <a:extLst>
              <a:ext uri="{FF2B5EF4-FFF2-40B4-BE49-F238E27FC236}">
                <a16:creationId xmlns:a16="http://schemas.microsoft.com/office/drawing/2014/main" id="{28A78846-5EB0-469B-BEA1-3785AA386C0A}"/>
              </a:ext>
            </a:extLst>
          </p:cNvPr>
          <p:cNvSpPr>
            <a:spLocks noGrp="1"/>
          </p:cNvSpPr>
          <p:nvPr>
            <p:ph idx="1"/>
          </p:nvPr>
        </p:nvSpPr>
        <p:spPr/>
        <p:txBody>
          <a:bodyPr>
            <a:normAutofit/>
          </a:bodyPr>
          <a:lstStyle/>
          <a:p>
            <a:pPr marL="0" indent="0">
              <a:lnSpc>
                <a:spcPct val="107000"/>
              </a:lnSpc>
              <a:spcAft>
                <a:spcPts val="800"/>
              </a:spcAft>
              <a:buNone/>
            </a:pPr>
            <a:r>
              <a:rPr lang="en-AU" sz="2400" dirty="0">
                <a:effectLst/>
                <a:latin typeface="Calibri" panose="020F0502020204030204" pitchFamily="34" charset="0"/>
                <a:ea typeface="Calibri" panose="020F0502020204030204" pitchFamily="34" charset="0"/>
                <a:cs typeface="Times New Roman" panose="02020603050405020304" pitchFamily="18" charset="0"/>
              </a:rPr>
              <a:t>In term one, we learned that the </a:t>
            </a:r>
            <a:r>
              <a:rPr lang="en-AU" sz="24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subject </a:t>
            </a:r>
            <a:r>
              <a:rPr lang="en-AU" sz="2400" dirty="0">
                <a:effectLst/>
                <a:latin typeface="Calibri" panose="020F0502020204030204" pitchFamily="34" charset="0"/>
                <a:ea typeface="Calibri" panose="020F0502020204030204" pitchFamily="34" charset="0"/>
                <a:cs typeface="Times New Roman" panose="02020603050405020304" pitchFamily="18" charset="0"/>
              </a:rPr>
              <a:t>of the sentence is who or what is responsible for the </a:t>
            </a:r>
            <a:r>
              <a:rPr lang="en-AU" sz="2400" dirty="0">
                <a:solidFill>
                  <a:srgbClr val="00B050"/>
                </a:solidFill>
                <a:effectLst/>
                <a:latin typeface="Calibri" panose="020F0502020204030204" pitchFamily="34" charset="0"/>
                <a:ea typeface="Calibri" panose="020F0502020204030204" pitchFamily="34" charset="0"/>
                <a:cs typeface="Times New Roman" panose="02020603050405020304" pitchFamily="18" charset="0"/>
              </a:rPr>
              <a:t>verb</a:t>
            </a:r>
            <a:r>
              <a:rPr lang="en-AU" sz="2400" dirty="0">
                <a:solidFill>
                  <a:srgbClr val="538135"/>
                </a:solidFill>
                <a:effectLst/>
                <a:latin typeface="Calibri" panose="020F0502020204030204" pitchFamily="34" charset="0"/>
                <a:ea typeface="Calibri" panose="020F0502020204030204" pitchFamily="34" charset="0"/>
                <a:cs typeface="Times New Roman" panose="02020603050405020304" pitchFamily="18" charset="0"/>
              </a:rPr>
              <a:t> </a:t>
            </a:r>
            <a:r>
              <a:rPr lang="en-AU" sz="2400" dirty="0">
                <a:effectLst/>
                <a:latin typeface="Calibri" panose="020F0502020204030204" pitchFamily="34" charset="0"/>
                <a:ea typeface="Calibri" panose="020F0502020204030204" pitchFamily="34" charset="0"/>
                <a:cs typeface="Times New Roman" panose="02020603050405020304" pitchFamily="18" charset="0"/>
              </a:rPr>
              <a:t>taking place.</a:t>
            </a:r>
          </a:p>
          <a:p>
            <a:pPr marL="0" indent="0" algn="ctr">
              <a:lnSpc>
                <a:spcPct val="107000"/>
              </a:lnSpc>
              <a:spcAft>
                <a:spcPts val="800"/>
              </a:spcAft>
              <a:buNone/>
            </a:pPr>
            <a:r>
              <a:rPr lang="en-AU" sz="2400" dirty="0">
                <a:effectLst/>
                <a:latin typeface="Calibri" panose="020F0502020204030204" pitchFamily="34" charset="0"/>
                <a:ea typeface="Calibri" panose="020F0502020204030204" pitchFamily="34" charset="0"/>
                <a:cs typeface="Times New Roman" panose="02020603050405020304" pitchFamily="18" charset="0"/>
              </a:rPr>
              <a:t>The </a:t>
            </a:r>
            <a:r>
              <a:rPr lang="en-AU" sz="24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subject</a:t>
            </a:r>
            <a:r>
              <a:rPr lang="en-AU" sz="2400" dirty="0">
                <a:effectLst/>
                <a:latin typeface="Calibri" panose="020F0502020204030204" pitchFamily="34" charset="0"/>
                <a:ea typeface="Calibri" panose="020F0502020204030204" pitchFamily="34" charset="0"/>
                <a:cs typeface="Times New Roman" panose="02020603050405020304" pitchFamily="18" charset="0"/>
              </a:rPr>
              <a:t> makes the </a:t>
            </a:r>
            <a:r>
              <a:rPr lang="en-AU" sz="2400" dirty="0">
                <a:solidFill>
                  <a:srgbClr val="00B050"/>
                </a:solidFill>
                <a:effectLst/>
                <a:latin typeface="Calibri" panose="020F0502020204030204" pitchFamily="34" charset="0"/>
                <a:ea typeface="Calibri" panose="020F0502020204030204" pitchFamily="34" charset="0"/>
                <a:cs typeface="Times New Roman" panose="02020603050405020304" pitchFamily="18" charset="0"/>
              </a:rPr>
              <a:t>verb</a:t>
            </a:r>
            <a:r>
              <a:rPr lang="en-AU" sz="2400" dirty="0">
                <a:effectLst/>
                <a:latin typeface="Calibri" panose="020F0502020204030204" pitchFamily="34" charset="0"/>
                <a:ea typeface="Calibri" panose="020F0502020204030204" pitchFamily="34" charset="0"/>
                <a:cs typeface="Times New Roman" panose="02020603050405020304" pitchFamily="18" charset="0"/>
              </a:rPr>
              <a:t> happen.</a:t>
            </a:r>
          </a:p>
          <a:p>
            <a:pPr marL="0" indent="0">
              <a:lnSpc>
                <a:spcPct val="107000"/>
              </a:lnSpc>
              <a:spcAft>
                <a:spcPts val="800"/>
              </a:spcAft>
              <a:buNone/>
            </a:pPr>
            <a:r>
              <a:rPr lang="en-AU" sz="2400" dirty="0">
                <a:latin typeface="Calibri"/>
                <a:ea typeface="Calibri" panose="020F0502020204030204" pitchFamily="34" charset="0"/>
                <a:cs typeface="Times New Roman"/>
              </a:rPr>
              <a:t>When the</a:t>
            </a:r>
            <a:r>
              <a:rPr lang="en-AU" sz="2400" dirty="0">
                <a:effectLst/>
                <a:latin typeface="Calibri"/>
                <a:ea typeface="Calibri" panose="020F0502020204030204" pitchFamily="34" charset="0"/>
                <a:cs typeface="Times New Roman"/>
              </a:rPr>
              <a:t> </a:t>
            </a:r>
            <a:r>
              <a:rPr lang="en-AU" sz="2400" dirty="0">
                <a:solidFill>
                  <a:srgbClr val="FF0000"/>
                </a:solidFill>
                <a:latin typeface="Calibri"/>
                <a:ea typeface="Calibri" panose="020F0502020204030204" pitchFamily="34" charset="0"/>
                <a:cs typeface="Times New Roman"/>
              </a:rPr>
              <a:t>subject </a:t>
            </a:r>
            <a:r>
              <a:rPr lang="en-AU" sz="2400" dirty="0">
                <a:latin typeface="Calibri"/>
                <a:ea typeface="Calibri" panose="020F0502020204030204" pitchFamily="34" charset="0"/>
                <a:cs typeface="Times New Roman"/>
              </a:rPr>
              <a:t>is made up of a group of words, we call it a </a:t>
            </a:r>
            <a:r>
              <a:rPr lang="en-AU" sz="2400" b="1" dirty="0">
                <a:solidFill>
                  <a:srgbClr val="FF0000"/>
                </a:solidFill>
                <a:latin typeface="Calibri"/>
                <a:ea typeface="Calibri" panose="020F0502020204030204" pitchFamily="34" charset="0"/>
                <a:cs typeface="Times New Roman"/>
              </a:rPr>
              <a:t>nominal</a:t>
            </a:r>
            <a:r>
              <a:rPr lang="en-AU" sz="2400" b="1" dirty="0">
                <a:solidFill>
                  <a:srgbClr val="FF0000"/>
                </a:solidFill>
                <a:effectLst/>
                <a:latin typeface="Calibri"/>
                <a:ea typeface="Calibri" panose="020F0502020204030204" pitchFamily="34" charset="0"/>
                <a:cs typeface="Times New Roman"/>
              </a:rPr>
              <a:t> group</a:t>
            </a:r>
            <a:r>
              <a:rPr lang="en-AU" sz="2400" b="1" dirty="0">
                <a:solidFill>
                  <a:srgbClr val="FF0000"/>
                </a:solidFill>
                <a:latin typeface="Calibri"/>
                <a:ea typeface="Calibri" panose="020F0502020204030204" pitchFamily="34" charset="0"/>
                <a:cs typeface="Times New Roman"/>
              </a:rPr>
              <a:t>.</a:t>
            </a:r>
            <a:endParaRPr lang="en-AU" sz="2400" dirty="0">
              <a:solidFill>
                <a:srgbClr val="FF0000"/>
              </a:solidFill>
              <a:effectLst/>
              <a:latin typeface="Calibri"/>
              <a:ea typeface="Calibri" panose="020F0502020204030204" pitchFamily="34" charset="0"/>
              <a:cs typeface="Times New Roman"/>
            </a:endParaRPr>
          </a:p>
          <a:p>
            <a:pPr marL="0" indent="0" algn="ctr">
              <a:lnSpc>
                <a:spcPct val="107000"/>
              </a:lnSpc>
              <a:spcAft>
                <a:spcPts val="800"/>
              </a:spcAft>
              <a:buNone/>
            </a:pPr>
            <a:r>
              <a:rPr lang="en-AU" sz="2400" dirty="0">
                <a:effectLst/>
                <a:latin typeface="Calibri" panose="020F0502020204030204" pitchFamily="34" charset="0"/>
                <a:ea typeface="Calibri" panose="020F0502020204030204" pitchFamily="34" charset="0"/>
                <a:cs typeface="Times New Roman" panose="02020603050405020304" pitchFamily="18" charset="0"/>
              </a:rPr>
              <a:t>Today, we are going to see what happens when we change the words in the </a:t>
            </a:r>
            <a:r>
              <a:rPr lang="en-AU" sz="2400" b="1"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nominal group.</a:t>
            </a:r>
          </a:p>
        </p:txBody>
      </p:sp>
    </p:spTree>
    <p:extLst>
      <p:ext uri="{BB962C8B-B14F-4D97-AF65-F5344CB8AC3E}">
        <p14:creationId xmlns:p14="http://schemas.microsoft.com/office/powerpoint/2010/main" val="18030422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EF271B-37B3-4FB2-8C5C-D39069F49B7F}"/>
              </a:ext>
            </a:extLst>
          </p:cNvPr>
          <p:cNvSpPr>
            <a:spLocks noGrp="1"/>
          </p:cNvSpPr>
          <p:nvPr>
            <p:ph type="title"/>
          </p:nvPr>
        </p:nvSpPr>
        <p:spPr/>
        <p:txBody>
          <a:bodyPr/>
          <a:lstStyle/>
          <a:p>
            <a:r>
              <a:rPr lang="en-AU" dirty="0"/>
              <a:t>Nominal groups (also known as noun groups)</a:t>
            </a:r>
          </a:p>
        </p:txBody>
      </p:sp>
      <p:sp>
        <p:nvSpPr>
          <p:cNvPr id="3" name="Content Placeholder 2">
            <a:extLst>
              <a:ext uri="{FF2B5EF4-FFF2-40B4-BE49-F238E27FC236}">
                <a16:creationId xmlns:a16="http://schemas.microsoft.com/office/drawing/2014/main" id="{28A78846-5EB0-469B-BEA1-3785AA386C0A}"/>
              </a:ext>
            </a:extLst>
          </p:cNvPr>
          <p:cNvSpPr>
            <a:spLocks noGrp="1"/>
          </p:cNvSpPr>
          <p:nvPr>
            <p:ph idx="1"/>
          </p:nvPr>
        </p:nvSpPr>
        <p:spPr/>
        <p:txBody>
          <a:bodyPr>
            <a:normAutofit/>
          </a:bodyPr>
          <a:lstStyle/>
          <a:p>
            <a:pPr marL="0" indent="0">
              <a:lnSpc>
                <a:spcPct val="107000"/>
              </a:lnSpc>
              <a:spcAft>
                <a:spcPts val="800"/>
              </a:spcAft>
              <a:buNone/>
            </a:pPr>
            <a:r>
              <a:rPr lang="en-AU" sz="2000" dirty="0">
                <a:effectLst/>
                <a:latin typeface="Calibri" panose="020F0502020204030204" pitchFamily="34" charset="0"/>
                <a:ea typeface="Calibri" panose="020F0502020204030204" pitchFamily="34" charset="0"/>
                <a:cs typeface="Times New Roman" panose="02020603050405020304" pitchFamily="18" charset="0"/>
              </a:rPr>
              <a:t>What’s different about these sentences?</a:t>
            </a:r>
          </a:p>
          <a:p>
            <a:pPr marL="594000" lvl="2" indent="0">
              <a:lnSpc>
                <a:spcPct val="107000"/>
              </a:lnSpc>
              <a:buNone/>
            </a:pPr>
            <a:r>
              <a:rPr lang="en-AU" sz="2000" dirty="0">
                <a:solidFill>
                  <a:srgbClr val="C00000"/>
                </a:solidFill>
                <a:effectLst/>
                <a:latin typeface="Calibri" panose="020F0502020204030204" pitchFamily="34" charset="0"/>
                <a:ea typeface="Calibri" panose="020F0502020204030204" pitchFamily="34" charset="0"/>
                <a:cs typeface="Times New Roman" panose="02020603050405020304" pitchFamily="18" charset="0"/>
              </a:rPr>
              <a:t>Daisy</a:t>
            </a:r>
            <a:r>
              <a:rPr lang="en-AU" sz="2000" i="1" dirty="0">
                <a:solidFill>
                  <a:srgbClr val="C00000"/>
                </a:solidFill>
                <a:effectLst/>
                <a:latin typeface="Calibri" panose="020F0502020204030204" pitchFamily="34" charset="0"/>
                <a:ea typeface="Calibri" panose="020F0502020204030204" pitchFamily="34" charset="0"/>
                <a:cs typeface="Times New Roman" panose="02020603050405020304" pitchFamily="18" charset="0"/>
              </a:rPr>
              <a:t> </a:t>
            </a:r>
            <a:r>
              <a:rPr lang="en-AU" sz="2000" dirty="0">
                <a:solidFill>
                  <a:srgbClr val="385623"/>
                </a:solidFill>
                <a:effectLst/>
                <a:latin typeface="Calibri" panose="020F0502020204030204" pitchFamily="34" charset="0"/>
                <a:ea typeface="Calibri" panose="020F0502020204030204" pitchFamily="34" charset="0"/>
                <a:cs typeface="Times New Roman" panose="02020603050405020304" pitchFamily="18" charset="0"/>
              </a:rPr>
              <a:t>is </a:t>
            </a:r>
            <a:r>
              <a:rPr lang="en-AU" sz="2000" dirty="0">
                <a:effectLst/>
                <a:latin typeface="Calibri" panose="020F0502020204030204" pitchFamily="34" charset="0"/>
                <a:ea typeface="Calibri" panose="020F0502020204030204" pitchFamily="34" charset="0"/>
                <a:cs typeface="Times New Roman" panose="02020603050405020304" pitchFamily="18" charset="0"/>
              </a:rPr>
              <a:t>the younger sister of Molly.</a:t>
            </a:r>
          </a:p>
          <a:p>
            <a:pPr marL="594000" lvl="2" indent="0">
              <a:lnSpc>
                <a:spcPct val="107000"/>
              </a:lnSpc>
              <a:buNone/>
            </a:pPr>
            <a:r>
              <a:rPr lang="en-AU" sz="2000" i="1" dirty="0">
                <a:solidFill>
                  <a:srgbClr val="C00000"/>
                </a:solidFill>
                <a:effectLst/>
                <a:latin typeface="Calibri" panose="020F0502020204030204" pitchFamily="34" charset="0"/>
                <a:ea typeface="Calibri" panose="020F0502020204030204" pitchFamily="34" charset="0"/>
                <a:cs typeface="Times New Roman" panose="02020603050405020304" pitchFamily="18" charset="0"/>
              </a:rPr>
              <a:t>Rabbit Proof Fence</a:t>
            </a:r>
            <a:r>
              <a:rPr lang="en-AU" sz="2000" dirty="0">
                <a:solidFill>
                  <a:srgbClr val="C00000"/>
                </a:solidFill>
                <a:effectLst/>
                <a:latin typeface="Calibri" panose="020F0502020204030204" pitchFamily="34" charset="0"/>
                <a:ea typeface="Calibri" panose="020F0502020204030204" pitchFamily="34" charset="0"/>
                <a:cs typeface="Times New Roman" panose="02020603050405020304" pitchFamily="18" charset="0"/>
              </a:rPr>
              <a:t> </a:t>
            </a:r>
            <a:r>
              <a:rPr lang="en-AU" sz="2000" dirty="0">
                <a:solidFill>
                  <a:srgbClr val="00B050"/>
                </a:solidFill>
                <a:effectLst/>
                <a:latin typeface="Calibri" panose="020F0502020204030204" pitchFamily="34" charset="0"/>
                <a:ea typeface="Calibri" panose="020F0502020204030204" pitchFamily="34" charset="0"/>
                <a:cs typeface="Times New Roman" panose="02020603050405020304" pitchFamily="18" charset="0"/>
              </a:rPr>
              <a:t>tells</a:t>
            </a:r>
            <a:r>
              <a:rPr lang="en-AU" sz="2000" dirty="0">
                <a:solidFill>
                  <a:srgbClr val="385623"/>
                </a:solidFill>
                <a:effectLst/>
                <a:latin typeface="Calibri" panose="020F0502020204030204" pitchFamily="34" charset="0"/>
                <a:ea typeface="Calibri" panose="020F0502020204030204" pitchFamily="34" charset="0"/>
                <a:cs typeface="Times New Roman" panose="02020603050405020304" pitchFamily="18" charset="0"/>
              </a:rPr>
              <a:t> </a:t>
            </a:r>
            <a:r>
              <a:rPr lang="en-AU" sz="2000" dirty="0">
                <a:effectLst/>
                <a:latin typeface="Calibri" panose="020F0502020204030204" pitchFamily="34" charset="0"/>
                <a:ea typeface="Calibri" panose="020F0502020204030204" pitchFamily="34" charset="0"/>
                <a:cs typeface="Times New Roman" panose="02020603050405020304" pitchFamily="18" charset="0"/>
              </a:rPr>
              <a:t>the story of three young indigenous girls that were taken from their family.</a:t>
            </a:r>
          </a:p>
          <a:p>
            <a:pPr marL="594000" lvl="2" indent="0">
              <a:lnSpc>
                <a:spcPct val="107000"/>
              </a:lnSpc>
              <a:spcAft>
                <a:spcPts val="800"/>
              </a:spcAft>
              <a:buNone/>
            </a:pPr>
            <a:r>
              <a:rPr lang="en-AU" sz="2000" dirty="0">
                <a:solidFill>
                  <a:srgbClr val="C00000"/>
                </a:solidFill>
                <a:effectLst/>
                <a:latin typeface="Calibri" panose="020F0502020204030204" pitchFamily="34" charset="0"/>
                <a:ea typeface="Calibri" panose="020F0502020204030204" pitchFamily="34" charset="0"/>
                <a:cs typeface="Times New Roman" panose="02020603050405020304" pitchFamily="18" charset="0"/>
              </a:rPr>
              <a:t>The depiction of the stolen generations shown in the film </a:t>
            </a:r>
            <a:r>
              <a:rPr lang="en-AU" sz="2000" i="1" dirty="0">
                <a:solidFill>
                  <a:srgbClr val="C00000"/>
                </a:solidFill>
                <a:effectLst/>
                <a:latin typeface="Calibri" panose="020F0502020204030204" pitchFamily="34" charset="0"/>
                <a:ea typeface="Calibri" panose="020F0502020204030204" pitchFamily="34" charset="0"/>
                <a:cs typeface="Times New Roman" panose="02020603050405020304" pitchFamily="18" charset="0"/>
              </a:rPr>
              <a:t>Rabbit Proof Fence</a:t>
            </a:r>
            <a:r>
              <a:rPr lang="en-AU" sz="2000" dirty="0">
                <a:solidFill>
                  <a:srgbClr val="C00000"/>
                </a:solidFill>
                <a:effectLst/>
                <a:latin typeface="Calibri" panose="020F0502020204030204" pitchFamily="34" charset="0"/>
                <a:ea typeface="Calibri" panose="020F0502020204030204" pitchFamily="34" charset="0"/>
                <a:cs typeface="Times New Roman" panose="02020603050405020304" pitchFamily="18" charset="0"/>
              </a:rPr>
              <a:t> </a:t>
            </a:r>
            <a:r>
              <a:rPr lang="en-AU" sz="2000" dirty="0">
                <a:solidFill>
                  <a:srgbClr val="00B050"/>
                </a:solidFill>
                <a:effectLst/>
                <a:latin typeface="Calibri" panose="020F0502020204030204" pitchFamily="34" charset="0"/>
                <a:ea typeface="Calibri" panose="020F0502020204030204" pitchFamily="34" charset="0"/>
                <a:cs typeface="Times New Roman" panose="02020603050405020304" pitchFamily="18" charset="0"/>
              </a:rPr>
              <a:t>helps us to understand</a:t>
            </a:r>
            <a:r>
              <a:rPr lang="en-AU" sz="2000" dirty="0">
                <a:solidFill>
                  <a:srgbClr val="385623"/>
                </a:solidFill>
                <a:effectLst/>
                <a:latin typeface="Calibri" panose="020F0502020204030204" pitchFamily="34" charset="0"/>
                <a:ea typeface="Calibri" panose="020F0502020204030204" pitchFamily="34" charset="0"/>
                <a:cs typeface="Times New Roman" panose="02020603050405020304" pitchFamily="18" charset="0"/>
              </a:rPr>
              <a:t> </a:t>
            </a:r>
            <a:r>
              <a:rPr lang="en-AU" sz="2000" dirty="0">
                <a:effectLst/>
                <a:latin typeface="Calibri" panose="020F0502020204030204" pitchFamily="34" charset="0"/>
                <a:ea typeface="Calibri" panose="020F0502020204030204" pitchFamily="34" charset="0"/>
                <a:cs typeface="Times New Roman" panose="02020603050405020304" pitchFamily="18" charset="0"/>
              </a:rPr>
              <a:t>the trauma felt by many indigenous families.</a:t>
            </a:r>
          </a:p>
          <a:p>
            <a:pPr>
              <a:lnSpc>
                <a:spcPct val="107000"/>
              </a:lnSpc>
              <a:spcAft>
                <a:spcPts val="800"/>
              </a:spcAft>
            </a:pPr>
            <a:r>
              <a:rPr lang="en-AU" sz="2000" dirty="0">
                <a:effectLst/>
                <a:latin typeface="Calibri" panose="020F0502020204030204" pitchFamily="34" charset="0"/>
                <a:ea typeface="Calibri" panose="020F0502020204030204" pitchFamily="34" charset="0"/>
                <a:cs typeface="Times New Roman" panose="02020603050405020304" pitchFamily="18" charset="0"/>
              </a:rPr>
              <a:t>How long is each </a:t>
            </a:r>
            <a:r>
              <a:rPr lang="en-AU" sz="2000" dirty="0">
                <a:solidFill>
                  <a:srgbClr val="C00000"/>
                </a:solidFill>
                <a:effectLst/>
                <a:latin typeface="Calibri" panose="020F0502020204030204" pitchFamily="34" charset="0"/>
                <a:ea typeface="Calibri" panose="020F0502020204030204" pitchFamily="34" charset="0"/>
                <a:cs typeface="Times New Roman" panose="02020603050405020304" pitchFamily="18" charset="0"/>
              </a:rPr>
              <a:t>nominal group</a:t>
            </a:r>
            <a:r>
              <a:rPr lang="en-AU" sz="2000" dirty="0">
                <a:effectLst/>
                <a:latin typeface="Calibri" panose="020F0502020204030204" pitchFamily="34" charset="0"/>
                <a:ea typeface="Calibri" panose="020F0502020204030204" pitchFamily="34" charset="0"/>
                <a:cs typeface="Times New Roman" panose="02020603050405020304" pitchFamily="18" charset="0"/>
              </a:rPr>
              <a:t>?</a:t>
            </a:r>
          </a:p>
          <a:p>
            <a:pPr>
              <a:lnSpc>
                <a:spcPct val="107000"/>
              </a:lnSpc>
              <a:spcAft>
                <a:spcPts val="800"/>
              </a:spcAft>
            </a:pPr>
            <a:r>
              <a:rPr lang="en-AU" sz="2000" dirty="0">
                <a:effectLst/>
                <a:latin typeface="Calibri" panose="020F0502020204030204" pitchFamily="34" charset="0"/>
                <a:ea typeface="Calibri" panose="020F0502020204030204" pitchFamily="34" charset="0"/>
                <a:cs typeface="Times New Roman" panose="02020603050405020304" pitchFamily="18" charset="0"/>
              </a:rPr>
              <a:t>What does each </a:t>
            </a:r>
            <a:r>
              <a:rPr lang="en-AU" sz="2000" dirty="0">
                <a:solidFill>
                  <a:srgbClr val="C00000"/>
                </a:solidFill>
                <a:effectLst/>
                <a:latin typeface="Calibri" panose="020F0502020204030204" pitchFamily="34" charset="0"/>
                <a:ea typeface="Calibri" panose="020F0502020204030204" pitchFamily="34" charset="0"/>
                <a:cs typeface="Times New Roman" panose="02020603050405020304" pitchFamily="18" charset="0"/>
              </a:rPr>
              <a:t>nominal group </a:t>
            </a:r>
            <a:r>
              <a:rPr lang="en-AU" sz="2000" dirty="0">
                <a:effectLst/>
                <a:latin typeface="Calibri" panose="020F0502020204030204" pitchFamily="34" charset="0"/>
                <a:ea typeface="Calibri" panose="020F0502020204030204" pitchFamily="34" charset="0"/>
                <a:cs typeface="Times New Roman" panose="02020603050405020304" pitchFamily="18" charset="0"/>
              </a:rPr>
              <a:t>describe? (What is each sentence </a:t>
            </a:r>
            <a:r>
              <a:rPr lang="en-AU" sz="2000" i="1" dirty="0">
                <a:effectLst/>
                <a:latin typeface="Calibri" panose="020F0502020204030204" pitchFamily="34" charset="0"/>
                <a:ea typeface="Calibri" panose="020F0502020204030204" pitchFamily="34" charset="0"/>
                <a:cs typeface="Times New Roman" panose="02020603050405020304" pitchFamily="18" charset="0"/>
              </a:rPr>
              <a:t>about</a:t>
            </a:r>
            <a:r>
              <a:rPr lang="en-AU" sz="2000" dirty="0">
                <a:effectLst/>
                <a:latin typeface="Calibri" panose="020F0502020204030204" pitchFamily="34" charset="0"/>
                <a:ea typeface="Calibri" panose="020F0502020204030204" pitchFamily="34" charset="0"/>
                <a:cs typeface="Times New Roman" panose="02020603050405020304" pitchFamily="18" charset="0"/>
              </a:rPr>
              <a:t>?)</a:t>
            </a:r>
          </a:p>
          <a:p>
            <a:pPr>
              <a:lnSpc>
                <a:spcPct val="107000"/>
              </a:lnSpc>
              <a:spcAft>
                <a:spcPts val="800"/>
              </a:spcAft>
            </a:pPr>
            <a:r>
              <a:rPr lang="en-AU" sz="2000" dirty="0">
                <a:effectLst/>
                <a:latin typeface="Calibri" panose="020F0502020204030204" pitchFamily="34" charset="0"/>
                <a:ea typeface="Calibri" panose="020F0502020204030204" pitchFamily="34" charset="0"/>
                <a:cs typeface="Times New Roman" panose="02020603050405020304" pitchFamily="18" charset="0"/>
              </a:rPr>
              <a:t>What types of </a:t>
            </a:r>
            <a:r>
              <a:rPr lang="en-AU" sz="2000" dirty="0">
                <a:solidFill>
                  <a:srgbClr val="00B050"/>
                </a:solidFill>
                <a:effectLst/>
                <a:latin typeface="Calibri" panose="020F0502020204030204" pitchFamily="34" charset="0"/>
                <a:ea typeface="Calibri" panose="020F0502020204030204" pitchFamily="34" charset="0"/>
                <a:cs typeface="Times New Roman" panose="02020603050405020304" pitchFamily="18" charset="0"/>
              </a:rPr>
              <a:t>verbs</a:t>
            </a:r>
            <a:r>
              <a:rPr lang="en-AU" sz="2000" dirty="0">
                <a:solidFill>
                  <a:srgbClr val="385623"/>
                </a:solidFill>
                <a:effectLst/>
                <a:latin typeface="Calibri" panose="020F0502020204030204" pitchFamily="34" charset="0"/>
                <a:ea typeface="Calibri" panose="020F0502020204030204" pitchFamily="34" charset="0"/>
                <a:cs typeface="Times New Roman" panose="02020603050405020304" pitchFamily="18" charset="0"/>
              </a:rPr>
              <a:t> </a:t>
            </a:r>
            <a:r>
              <a:rPr lang="en-AU" sz="2000" dirty="0">
                <a:effectLst/>
                <a:latin typeface="Calibri" panose="020F0502020204030204" pitchFamily="34" charset="0"/>
                <a:ea typeface="Calibri" panose="020F0502020204030204" pitchFamily="34" charset="0"/>
                <a:cs typeface="Times New Roman" panose="02020603050405020304" pitchFamily="18" charset="0"/>
              </a:rPr>
              <a:t>are used in each?</a:t>
            </a:r>
          </a:p>
        </p:txBody>
      </p:sp>
    </p:spTree>
    <p:extLst>
      <p:ext uri="{BB962C8B-B14F-4D97-AF65-F5344CB8AC3E}">
        <p14:creationId xmlns:p14="http://schemas.microsoft.com/office/powerpoint/2010/main" val="1170852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1CFFB4-E45C-42B0-B399-C534A43C828E}"/>
              </a:ext>
            </a:extLst>
          </p:cNvPr>
          <p:cNvSpPr>
            <a:spLocks noGrp="1"/>
          </p:cNvSpPr>
          <p:nvPr>
            <p:ph type="title"/>
          </p:nvPr>
        </p:nvSpPr>
        <p:spPr/>
        <p:txBody>
          <a:bodyPr/>
          <a:lstStyle/>
          <a:p>
            <a:r>
              <a:rPr lang="en-AU" dirty="0"/>
              <a:t>Choosing a focus for your sentence</a:t>
            </a:r>
          </a:p>
        </p:txBody>
      </p:sp>
      <p:sp>
        <p:nvSpPr>
          <p:cNvPr id="3" name="Content Placeholder 2">
            <a:extLst>
              <a:ext uri="{FF2B5EF4-FFF2-40B4-BE49-F238E27FC236}">
                <a16:creationId xmlns:a16="http://schemas.microsoft.com/office/drawing/2014/main" id="{9ADE4893-1FAB-4077-8B11-15DD67A799C1}"/>
              </a:ext>
            </a:extLst>
          </p:cNvPr>
          <p:cNvSpPr>
            <a:spLocks noGrp="1"/>
          </p:cNvSpPr>
          <p:nvPr>
            <p:ph idx="1"/>
          </p:nvPr>
        </p:nvSpPr>
        <p:spPr/>
        <p:txBody>
          <a:bodyPr>
            <a:normAutofit/>
          </a:bodyPr>
          <a:lstStyle/>
          <a:p>
            <a:pPr marL="0" indent="0">
              <a:lnSpc>
                <a:spcPct val="107000"/>
              </a:lnSpc>
              <a:spcAft>
                <a:spcPts val="800"/>
              </a:spcAft>
              <a:buNone/>
            </a:pPr>
            <a:r>
              <a:rPr lang="en-AU" sz="2400" dirty="0">
                <a:effectLst/>
                <a:latin typeface="Calibri"/>
                <a:ea typeface="Calibri" panose="020F0502020204030204" pitchFamily="34" charset="0"/>
                <a:cs typeface="Times New Roman"/>
              </a:rPr>
              <a:t>When writing a text response, each sentence could be about one of </a:t>
            </a:r>
            <a:r>
              <a:rPr lang="en-AU" sz="2400" dirty="0">
                <a:latin typeface="Calibri"/>
                <a:ea typeface="Calibri" panose="020F0502020204030204" pitchFamily="34" charset="0"/>
                <a:cs typeface="Times New Roman"/>
              </a:rPr>
              <a:t>three</a:t>
            </a:r>
            <a:r>
              <a:rPr lang="en-AU" sz="2400" dirty="0">
                <a:effectLst/>
                <a:latin typeface="Calibri"/>
                <a:ea typeface="Calibri" panose="020F0502020204030204" pitchFamily="34" charset="0"/>
                <a:cs typeface="Times New Roman"/>
              </a:rPr>
              <a:t> things:</a:t>
            </a:r>
          </a:p>
          <a:p>
            <a:pPr marL="629920" lvl="1" indent="-305435">
              <a:lnSpc>
                <a:spcPct val="107000"/>
              </a:lnSpc>
            </a:pPr>
            <a:r>
              <a:rPr lang="en-AU" sz="2400" dirty="0">
                <a:effectLst/>
                <a:latin typeface="Calibri" panose="020F0502020204030204" pitchFamily="34" charset="0"/>
                <a:ea typeface="Calibri" panose="020F0502020204030204" pitchFamily="34" charset="0"/>
                <a:cs typeface="Times New Roman" panose="02020603050405020304" pitchFamily="18" charset="0"/>
              </a:rPr>
              <a:t>text</a:t>
            </a:r>
          </a:p>
          <a:p>
            <a:pPr marL="629920" lvl="1" indent="-305435">
              <a:lnSpc>
                <a:spcPct val="107000"/>
              </a:lnSpc>
            </a:pPr>
            <a:r>
              <a:rPr lang="en-AU" sz="2400" dirty="0">
                <a:effectLst/>
                <a:latin typeface="Calibri" panose="020F0502020204030204" pitchFamily="34" charset="0"/>
                <a:ea typeface="Calibri" panose="020F0502020204030204" pitchFamily="34" charset="0"/>
                <a:cs typeface="Times New Roman" panose="02020603050405020304" pitchFamily="18" charset="0"/>
              </a:rPr>
              <a:t>character</a:t>
            </a:r>
          </a:p>
          <a:p>
            <a:pPr marL="629920" lvl="1" indent="-305435">
              <a:lnSpc>
                <a:spcPct val="107000"/>
              </a:lnSpc>
            </a:pPr>
            <a:r>
              <a:rPr lang="en-AU" sz="2400" dirty="0">
                <a:effectLst/>
                <a:latin typeface="Calibri" panose="020F0502020204030204" pitchFamily="34" charset="0"/>
                <a:ea typeface="Calibri" panose="020F0502020204030204" pitchFamily="34" charset="0"/>
                <a:cs typeface="Times New Roman" panose="02020603050405020304" pitchFamily="18" charset="0"/>
              </a:rPr>
              <a:t>language</a:t>
            </a:r>
          </a:p>
          <a:p>
            <a:pPr marL="0" indent="0">
              <a:lnSpc>
                <a:spcPct val="107000"/>
              </a:lnSpc>
              <a:spcAft>
                <a:spcPts val="800"/>
              </a:spcAft>
              <a:buNone/>
            </a:pPr>
            <a:r>
              <a:rPr lang="en-AU" sz="2400" dirty="0">
                <a:effectLst/>
                <a:latin typeface="Calibri" panose="020F0502020204030204" pitchFamily="34" charset="0"/>
                <a:ea typeface="Calibri" panose="020F0502020204030204" pitchFamily="34" charset="0"/>
                <a:cs typeface="Times New Roman" panose="02020603050405020304" pitchFamily="18" charset="0"/>
              </a:rPr>
              <a:t>As a writer, you can make a choice of what you focus on for each sentence that you write.</a:t>
            </a:r>
          </a:p>
          <a:p>
            <a:pPr marL="0" indent="0">
              <a:lnSpc>
                <a:spcPct val="107000"/>
              </a:lnSpc>
              <a:spcAft>
                <a:spcPts val="800"/>
              </a:spcAft>
              <a:buNone/>
            </a:pPr>
            <a:r>
              <a:rPr lang="en-AU" sz="2400" dirty="0">
                <a:effectLst/>
                <a:latin typeface="Calibri" panose="020F0502020204030204" pitchFamily="34" charset="0"/>
                <a:ea typeface="Calibri" panose="020F0502020204030204" pitchFamily="34" charset="0"/>
                <a:cs typeface="Times New Roman" panose="02020603050405020304" pitchFamily="18" charset="0"/>
              </a:rPr>
              <a:t>We’re going to see what happens when we write about each different thing.</a:t>
            </a:r>
            <a:endParaRPr lang="en-AU" sz="2400" dirty="0"/>
          </a:p>
        </p:txBody>
      </p:sp>
    </p:spTree>
    <p:extLst>
      <p:ext uri="{BB962C8B-B14F-4D97-AF65-F5344CB8AC3E}">
        <p14:creationId xmlns:p14="http://schemas.microsoft.com/office/powerpoint/2010/main" val="7879351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2C34B4-3931-4744-A818-ECACC8E69978}"/>
              </a:ext>
            </a:extLst>
          </p:cNvPr>
          <p:cNvSpPr>
            <a:spLocks noGrp="1"/>
          </p:cNvSpPr>
          <p:nvPr>
            <p:ph type="title"/>
          </p:nvPr>
        </p:nvSpPr>
        <p:spPr/>
        <p:txBody>
          <a:bodyPr/>
          <a:lstStyle/>
          <a:p>
            <a:r>
              <a:rPr lang="en-AU" dirty="0"/>
              <a:t>Lesson 1: focusing on text</a:t>
            </a:r>
          </a:p>
        </p:txBody>
      </p:sp>
      <p:sp>
        <p:nvSpPr>
          <p:cNvPr id="3" name="Text Placeholder 2">
            <a:extLst>
              <a:ext uri="{FF2B5EF4-FFF2-40B4-BE49-F238E27FC236}">
                <a16:creationId xmlns:a16="http://schemas.microsoft.com/office/drawing/2014/main" id="{62D153D1-A752-437A-87DD-B2968599B983}"/>
              </a:ext>
            </a:extLst>
          </p:cNvPr>
          <p:cNvSpPr>
            <a:spLocks noGrp="1"/>
          </p:cNvSpPr>
          <p:nvPr>
            <p:ph type="body" idx="1"/>
          </p:nvPr>
        </p:nvSpPr>
        <p:spPr/>
        <p:txBody>
          <a:bodyPr>
            <a:normAutofit fontScale="92500" lnSpcReduction="20000"/>
          </a:bodyPr>
          <a:lstStyle/>
          <a:p>
            <a:r>
              <a:rPr lang="en-AU" dirty="0"/>
              <a:t>Writing sentences about the text</a:t>
            </a:r>
            <a:br>
              <a:rPr lang="en-AU" dirty="0"/>
            </a:br>
            <a:r>
              <a:rPr lang="en-AU" dirty="0"/>
              <a:t>adding detail</a:t>
            </a:r>
          </a:p>
        </p:txBody>
      </p:sp>
    </p:spTree>
    <p:extLst>
      <p:ext uri="{BB962C8B-B14F-4D97-AF65-F5344CB8AC3E}">
        <p14:creationId xmlns:p14="http://schemas.microsoft.com/office/powerpoint/2010/main" val="12969206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FBD757-3742-440E-AE2D-2CD9067684D4}"/>
              </a:ext>
            </a:extLst>
          </p:cNvPr>
          <p:cNvSpPr>
            <a:spLocks noGrp="1"/>
          </p:cNvSpPr>
          <p:nvPr>
            <p:ph type="title"/>
          </p:nvPr>
        </p:nvSpPr>
        <p:spPr/>
        <p:txBody>
          <a:bodyPr/>
          <a:lstStyle/>
          <a:p>
            <a:r>
              <a:rPr lang="en-AU" sz="1800" b="1" dirty="0">
                <a:effectLst/>
                <a:latin typeface="Calibri" panose="020F0502020204030204" pitchFamily="34" charset="0"/>
                <a:ea typeface="Calibri" panose="020F0502020204030204" pitchFamily="34" charset="0"/>
                <a:cs typeface="Times New Roman" panose="02020603050405020304" pitchFamily="18" charset="0"/>
              </a:rPr>
              <a:t>Lesson 1: focusing on text</a:t>
            </a:r>
            <a:endParaRPr lang="en-AU" dirty="0"/>
          </a:p>
        </p:txBody>
      </p:sp>
      <p:sp>
        <p:nvSpPr>
          <p:cNvPr id="3" name="Content Placeholder 2">
            <a:extLst>
              <a:ext uri="{FF2B5EF4-FFF2-40B4-BE49-F238E27FC236}">
                <a16:creationId xmlns:a16="http://schemas.microsoft.com/office/drawing/2014/main" id="{2ED0C459-27B7-4C01-BB02-D912069DFFBD}"/>
              </a:ext>
            </a:extLst>
          </p:cNvPr>
          <p:cNvSpPr>
            <a:spLocks noGrp="1"/>
          </p:cNvSpPr>
          <p:nvPr>
            <p:ph idx="1"/>
          </p:nvPr>
        </p:nvSpPr>
        <p:spPr/>
        <p:txBody>
          <a:bodyPr>
            <a:normAutofit fontScale="92500"/>
          </a:bodyPr>
          <a:lstStyle/>
          <a:p>
            <a:pPr marL="0" indent="0">
              <a:lnSpc>
                <a:spcPct val="107000"/>
              </a:lnSpc>
              <a:spcAft>
                <a:spcPts val="800"/>
              </a:spcAft>
              <a:buNone/>
            </a:pPr>
            <a:r>
              <a:rPr lang="en-AU" sz="2400" dirty="0">
                <a:effectLst/>
                <a:latin typeface="Calibri" panose="020F0502020204030204" pitchFamily="34" charset="0"/>
                <a:ea typeface="Calibri" panose="020F0502020204030204" pitchFamily="34" charset="0"/>
                <a:cs typeface="Times New Roman" panose="02020603050405020304" pitchFamily="18" charset="0"/>
              </a:rPr>
              <a:t>Writing about the text itself, either as a whole text or writing about a chapter or scene, allows you to describe what the text says or teaches us.</a:t>
            </a:r>
          </a:p>
          <a:p>
            <a:pPr marL="0" indent="0">
              <a:lnSpc>
                <a:spcPct val="107000"/>
              </a:lnSpc>
              <a:spcAft>
                <a:spcPts val="800"/>
              </a:spcAft>
              <a:buNone/>
            </a:pPr>
            <a:r>
              <a:rPr lang="en-AU" sz="2400" dirty="0">
                <a:effectLst/>
                <a:latin typeface="Calibri" panose="020F0502020204030204" pitchFamily="34" charset="0"/>
                <a:ea typeface="Calibri" panose="020F0502020204030204" pitchFamily="34" charset="0"/>
                <a:cs typeface="Times New Roman" panose="02020603050405020304" pitchFamily="18" charset="0"/>
              </a:rPr>
              <a:t>This kind of statement is most often used in your introduction, or at the beginning of an argument.</a:t>
            </a:r>
          </a:p>
          <a:p>
            <a:pPr marL="442913" indent="0">
              <a:lnSpc>
                <a:spcPct val="107000"/>
              </a:lnSpc>
              <a:spcAft>
                <a:spcPts val="800"/>
              </a:spcAft>
              <a:buNone/>
            </a:pPr>
            <a:r>
              <a:rPr lang="en-AU" sz="2400" i="1" dirty="0">
                <a:solidFill>
                  <a:srgbClr val="C00000"/>
                </a:solidFill>
                <a:effectLst/>
                <a:latin typeface="Calibri" panose="020F0502020204030204" pitchFamily="34" charset="0"/>
                <a:ea typeface="Calibri" panose="020F0502020204030204" pitchFamily="34" charset="0"/>
                <a:cs typeface="Times New Roman" panose="02020603050405020304" pitchFamily="18" charset="0"/>
              </a:rPr>
              <a:t>Rabbit Proof Fence </a:t>
            </a:r>
            <a:r>
              <a:rPr lang="en-AU" sz="2400" dirty="0">
                <a:solidFill>
                  <a:srgbClr val="00B050"/>
                </a:solidFill>
                <a:effectLst/>
                <a:latin typeface="Calibri" panose="020F0502020204030204" pitchFamily="34" charset="0"/>
                <a:ea typeface="Calibri" panose="020F0502020204030204" pitchFamily="34" charset="0"/>
                <a:cs typeface="Times New Roman" panose="02020603050405020304" pitchFamily="18" charset="0"/>
              </a:rPr>
              <a:t>shows</a:t>
            </a:r>
            <a:r>
              <a:rPr lang="en-AU" sz="2400" dirty="0">
                <a:solidFill>
                  <a:srgbClr val="385623"/>
                </a:solidFill>
                <a:effectLst/>
                <a:latin typeface="Calibri" panose="020F0502020204030204" pitchFamily="34" charset="0"/>
                <a:ea typeface="Calibri" panose="020F0502020204030204" pitchFamily="34" charset="0"/>
                <a:cs typeface="Times New Roman" panose="02020603050405020304" pitchFamily="18" charset="0"/>
              </a:rPr>
              <a:t> </a:t>
            </a:r>
            <a:r>
              <a:rPr lang="en-AU" sz="2400" dirty="0">
                <a:effectLst/>
                <a:latin typeface="Calibri" panose="020F0502020204030204" pitchFamily="34" charset="0"/>
                <a:ea typeface="Calibri" panose="020F0502020204030204" pitchFamily="34" charset="0"/>
                <a:cs typeface="Times New Roman" panose="02020603050405020304" pitchFamily="18" charset="0"/>
              </a:rPr>
              <a:t>the audience the pain experienced by families of the stolen generations.</a:t>
            </a:r>
          </a:p>
          <a:p>
            <a:pPr marL="442913" indent="0">
              <a:lnSpc>
                <a:spcPct val="107000"/>
              </a:lnSpc>
              <a:spcAft>
                <a:spcPts val="800"/>
              </a:spcAft>
              <a:buNone/>
            </a:pPr>
            <a:r>
              <a:rPr lang="en-AU" sz="2400" dirty="0">
                <a:solidFill>
                  <a:srgbClr val="C00000"/>
                </a:solidFill>
                <a:effectLst/>
                <a:latin typeface="Calibri" panose="020F0502020204030204" pitchFamily="34" charset="0"/>
                <a:ea typeface="Calibri" panose="020F0502020204030204" pitchFamily="34" charset="0"/>
                <a:cs typeface="Times New Roman" panose="02020603050405020304" pitchFamily="18" charset="0"/>
              </a:rPr>
              <a:t>The scene </a:t>
            </a:r>
            <a:r>
              <a:rPr lang="en-AU" sz="2400" dirty="0">
                <a:solidFill>
                  <a:srgbClr val="00B050"/>
                </a:solidFill>
                <a:effectLst/>
                <a:latin typeface="Calibri" panose="020F0502020204030204" pitchFamily="34" charset="0"/>
                <a:ea typeface="Calibri" panose="020F0502020204030204" pitchFamily="34" charset="0"/>
                <a:cs typeface="Times New Roman" panose="02020603050405020304" pitchFamily="18" charset="0"/>
              </a:rPr>
              <a:t>depicts</a:t>
            </a:r>
            <a:r>
              <a:rPr lang="en-AU" sz="2400" dirty="0">
                <a:solidFill>
                  <a:srgbClr val="385623"/>
                </a:solidFill>
                <a:effectLst/>
                <a:latin typeface="Calibri" panose="020F0502020204030204" pitchFamily="34" charset="0"/>
                <a:ea typeface="Calibri" panose="020F0502020204030204" pitchFamily="34" charset="0"/>
                <a:cs typeface="Times New Roman" panose="02020603050405020304" pitchFamily="18" charset="0"/>
              </a:rPr>
              <a:t> </a:t>
            </a:r>
            <a:r>
              <a:rPr lang="en-AU" sz="2400" dirty="0">
                <a:effectLst/>
                <a:latin typeface="Calibri" panose="020F0502020204030204" pitchFamily="34" charset="0"/>
                <a:ea typeface="Calibri" panose="020F0502020204030204" pitchFamily="34" charset="0"/>
                <a:cs typeface="Times New Roman" panose="02020603050405020304" pitchFamily="18" charset="0"/>
              </a:rPr>
              <a:t>how many white Australians wanted to help indigenous Australians.</a:t>
            </a:r>
          </a:p>
          <a:p>
            <a:pPr marL="442913" indent="0">
              <a:lnSpc>
                <a:spcPct val="107000"/>
              </a:lnSpc>
              <a:spcAft>
                <a:spcPts val="800"/>
              </a:spcAft>
              <a:buNone/>
            </a:pPr>
            <a:r>
              <a:rPr lang="en-AU" sz="2400" dirty="0">
                <a:solidFill>
                  <a:srgbClr val="C00000"/>
                </a:solidFill>
                <a:effectLst/>
                <a:latin typeface="Calibri" panose="020F0502020204030204" pitchFamily="34" charset="0"/>
                <a:ea typeface="Calibri" panose="020F0502020204030204" pitchFamily="34" charset="0"/>
                <a:cs typeface="Times New Roman" panose="02020603050405020304" pitchFamily="18" charset="0"/>
              </a:rPr>
              <a:t>Phillip Noyce </a:t>
            </a:r>
            <a:r>
              <a:rPr lang="en-AU" sz="2400" dirty="0">
                <a:solidFill>
                  <a:srgbClr val="00B050"/>
                </a:solidFill>
                <a:effectLst/>
                <a:latin typeface="Calibri" panose="020F0502020204030204" pitchFamily="34" charset="0"/>
                <a:ea typeface="Calibri" panose="020F0502020204030204" pitchFamily="34" charset="0"/>
                <a:cs typeface="Times New Roman" panose="02020603050405020304" pitchFamily="18" charset="0"/>
              </a:rPr>
              <a:t>tells a story of </a:t>
            </a:r>
            <a:r>
              <a:rPr lang="en-AU" sz="2400" dirty="0">
                <a:effectLst/>
                <a:latin typeface="Calibri" panose="020F0502020204030204" pitchFamily="34" charset="0"/>
                <a:ea typeface="Calibri" panose="020F0502020204030204" pitchFamily="34" charset="0"/>
                <a:cs typeface="Times New Roman" panose="02020603050405020304" pitchFamily="18" charset="0"/>
              </a:rPr>
              <a:t>persistence and courage in the face of a great tragedy.</a:t>
            </a:r>
            <a:endParaRPr lang="en-AU" sz="2000" dirty="0"/>
          </a:p>
        </p:txBody>
      </p:sp>
    </p:spTree>
    <p:extLst>
      <p:ext uri="{BB962C8B-B14F-4D97-AF65-F5344CB8AC3E}">
        <p14:creationId xmlns:p14="http://schemas.microsoft.com/office/powerpoint/2010/main" val="29718135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FBD757-3742-440E-AE2D-2CD9067684D4}"/>
              </a:ext>
            </a:extLst>
          </p:cNvPr>
          <p:cNvSpPr>
            <a:spLocks noGrp="1"/>
          </p:cNvSpPr>
          <p:nvPr>
            <p:ph type="title"/>
          </p:nvPr>
        </p:nvSpPr>
        <p:spPr/>
        <p:txBody>
          <a:bodyPr/>
          <a:lstStyle/>
          <a:p>
            <a:r>
              <a:rPr lang="en-AU" sz="1800" b="1" dirty="0">
                <a:effectLst/>
                <a:latin typeface="Calibri" panose="020F0502020204030204" pitchFamily="34" charset="0"/>
                <a:ea typeface="Calibri" panose="020F0502020204030204" pitchFamily="34" charset="0"/>
                <a:cs typeface="Times New Roman" panose="02020603050405020304" pitchFamily="18" charset="0"/>
              </a:rPr>
              <a:t>Lesson 1: focusing on text</a:t>
            </a:r>
            <a:endParaRPr lang="en-AU" dirty="0"/>
          </a:p>
        </p:txBody>
      </p:sp>
      <p:sp>
        <p:nvSpPr>
          <p:cNvPr id="3" name="Content Placeholder 2">
            <a:extLst>
              <a:ext uri="{FF2B5EF4-FFF2-40B4-BE49-F238E27FC236}">
                <a16:creationId xmlns:a16="http://schemas.microsoft.com/office/drawing/2014/main" id="{2ED0C459-27B7-4C01-BB02-D912069DFFBD}"/>
              </a:ext>
            </a:extLst>
          </p:cNvPr>
          <p:cNvSpPr>
            <a:spLocks noGrp="1"/>
          </p:cNvSpPr>
          <p:nvPr>
            <p:ph idx="1"/>
          </p:nvPr>
        </p:nvSpPr>
        <p:spPr/>
        <p:txBody>
          <a:bodyPr>
            <a:normAutofit fontScale="85000" lnSpcReduction="20000"/>
          </a:bodyPr>
          <a:lstStyle/>
          <a:p>
            <a:pPr marL="0" indent="0">
              <a:lnSpc>
                <a:spcPct val="107000"/>
              </a:lnSpc>
              <a:spcAft>
                <a:spcPts val="800"/>
              </a:spcAft>
              <a:buNone/>
            </a:pPr>
            <a:r>
              <a:rPr lang="en-AU" sz="2400" b="1" i="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Exercise</a:t>
            </a:r>
          </a:p>
          <a:p>
            <a:pPr marL="0" indent="0">
              <a:lnSpc>
                <a:spcPct val="107000"/>
              </a:lnSpc>
              <a:spcAft>
                <a:spcPts val="800"/>
              </a:spcAft>
              <a:buNone/>
            </a:pPr>
            <a:r>
              <a:rPr lang="en-AU" sz="2400" dirty="0">
                <a:effectLst/>
                <a:latin typeface="Calibri" panose="020F0502020204030204" pitchFamily="34" charset="0"/>
                <a:ea typeface="Calibri" panose="020F0502020204030204" pitchFamily="34" charset="0"/>
                <a:cs typeface="Times New Roman" panose="02020603050405020304" pitchFamily="18" charset="0"/>
              </a:rPr>
              <a:t>Using the ideas from your film analysis CAT, see if you can create five different sentences that focus on the film, the filmmaker, or a particular scene.</a:t>
            </a:r>
          </a:p>
          <a:p>
            <a:pPr marL="0" indent="0">
              <a:lnSpc>
                <a:spcPct val="107000"/>
              </a:lnSpc>
              <a:spcAft>
                <a:spcPts val="800"/>
              </a:spcAft>
              <a:buNone/>
            </a:pPr>
            <a:r>
              <a:rPr lang="en-AU" sz="2400" i="1" dirty="0">
                <a:effectLst/>
                <a:latin typeface="Calibri" panose="020F0502020204030204" pitchFamily="34" charset="0"/>
                <a:ea typeface="Calibri" panose="020F0502020204030204" pitchFamily="34" charset="0"/>
                <a:cs typeface="Times New Roman" panose="02020603050405020304" pitchFamily="18" charset="0"/>
              </a:rPr>
              <a:t>Write these sentences in your notebook.</a:t>
            </a:r>
          </a:p>
          <a:p>
            <a:pPr marL="895350" indent="0">
              <a:lnSpc>
                <a:spcPct val="107000"/>
              </a:lnSpc>
              <a:spcAft>
                <a:spcPts val="800"/>
              </a:spcAft>
              <a:buNone/>
            </a:pPr>
            <a:r>
              <a:rPr lang="en-AU" sz="2400" dirty="0">
                <a:effectLst/>
                <a:latin typeface="Calibri" panose="020F0502020204030204" pitchFamily="34" charset="0"/>
                <a:ea typeface="Calibri" panose="020F0502020204030204" pitchFamily="34" charset="0"/>
                <a:cs typeface="Times New Roman" panose="02020603050405020304" pitchFamily="18" charset="0"/>
              </a:rPr>
              <a:t>1.	 </a:t>
            </a:r>
          </a:p>
          <a:p>
            <a:pPr marL="895350" indent="0">
              <a:lnSpc>
                <a:spcPct val="107000"/>
              </a:lnSpc>
              <a:spcAft>
                <a:spcPts val="800"/>
              </a:spcAft>
              <a:buNone/>
            </a:pPr>
            <a:r>
              <a:rPr lang="en-AU" sz="2400" dirty="0">
                <a:effectLst/>
                <a:latin typeface="Calibri" panose="020F0502020204030204" pitchFamily="34" charset="0"/>
                <a:ea typeface="Calibri" panose="020F0502020204030204" pitchFamily="34" charset="0"/>
                <a:cs typeface="Times New Roman" panose="02020603050405020304" pitchFamily="18" charset="0"/>
              </a:rPr>
              <a:t>2.	 </a:t>
            </a:r>
          </a:p>
          <a:p>
            <a:pPr marL="895350" indent="0">
              <a:lnSpc>
                <a:spcPct val="107000"/>
              </a:lnSpc>
              <a:spcAft>
                <a:spcPts val="800"/>
              </a:spcAft>
              <a:buNone/>
            </a:pPr>
            <a:r>
              <a:rPr lang="en-AU" sz="2400" dirty="0">
                <a:effectLst/>
                <a:latin typeface="Calibri" panose="020F0502020204030204" pitchFamily="34" charset="0"/>
                <a:ea typeface="Calibri" panose="020F0502020204030204" pitchFamily="34" charset="0"/>
                <a:cs typeface="Times New Roman" panose="02020603050405020304" pitchFamily="18" charset="0"/>
              </a:rPr>
              <a:t>3.	 </a:t>
            </a:r>
          </a:p>
          <a:p>
            <a:pPr marL="895350" indent="0">
              <a:lnSpc>
                <a:spcPct val="107000"/>
              </a:lnSpc>
              <a:spcAft>
                <a:spcPts val="800"/>
              </a:spcAft>
              <a:buNone/>
            </a:pPr>
            <a:r>
              <a:rPr lang="en-AU" sz="2400" dirty="0">
                <a:effectLst/>
                <a:latin typeface="Calibri" panose="020F0502020204030204" pitchFamily="34" charset="0"/>
                <a:ea typeface="Calibri" panose="020F0502020204030204" pitchFamily="34" charset="0"/>
                <a:cs typeface="Times New Roman" panose="02020603050405020304" pitchFamily="18" charset="0"/>
              </a:rPr>
              <a:t>4.	 </a:t>
            </a:r>
          </a:p>
          <a:p>
            <a:pPr marL="895350" indent="0">
              <a:lnSpc>
                <a:spcPct val="107000"/>
              </a:lnSpc>
              <a:spcAft>
                <a:spcPts val="800"/>
              </a:spcAft>
              <a:buNone/>
            </a:pPr>
            <a:r>
              <a:rPr lang="en-AU" sz="2400" dirty="0">
                <a:effectLst/>
                <a:latin typeface="Calibri" panose="020F0502020204030204" pitchFamily="34" charset="0"/>
                <a:ea typeface="Calibri" panose="020F0502020204030204" pitchFamily="34" charset="0"/>
                <a:cs typeface="Times New Roman" panose="02020603050405020304" pitchFamily="18" charset="0"/>
              </a:rPr>
              <a:t>5.	 </a:t>
            </a:r>
          </a:p>
        </p:txBody>
      </p:sp>
    </p:spTree>
    <p:extLst>
      <p:ext uri="{BB962C8B-B14F-4D97-AF65-F5344CB8AC3E}">
        <p14:creationId xmlns:p14="http://schemas.microsoft.com/office/powerpoint/2010/main" val="15149981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FBD757-3742-440E-AE2D-2CD9067684D4}"/>
              </a:ext>
            </a:extLst>
          </p:cNvPr>
          <p:cNvSpPr>
            <a:spLocks noGrp="1"/>
          </p:cNvSpPr>
          <p:nvPr>
            <p:ph type="title"/>
          </p:nvPr>
        </p:nvSpPr>
        <p:spPr/>
        <p:txBody>
          <a:bodyPr/>
          <a:lstStyle/>
          <a:p>
            <a:r>
              <a:rPr lang="en-AU" sz="1800" b="1" dirty="0">
                <a:effectLst/>
                <a:latin typeface="Calibri" panose="020F0502020204030204" pitchFamily="34" charset="0"/>
                <a:ea typeface="Calibri" panose="020F0502020204030204" pitchFamily="34" charset="0"/>
                <a:cs typeface="Times New Roman" panose="02020603050405020304" pitchFamily="18" charset="0"/>
              </a:rPr>
              <a:t>Lesson 1: Adding detail</a:t>
            </a:r>
            <a:endParaRPr lang="en-AU" dirty="0"/>
          </a:p>
        </p:txBody>
      </p:sp>
      <p:sp>
        <p:nvSpPr>
          <p:cNvPr id="3" name="Content Placeholder 2">
            <a:extLst>
              <a:ext uri="{FF2B5EF4-FFF2-40B4-BE49-F238E27FC236}">
                <a16:creationId xmlns:a16="http://schemas.microsoft.com/office/drawing/2014/main" id="{2ED0C459-27B7-4C01-BB02-D912069DFFBD}"/>
              </a:ext>
            </a:extLst>
          </p:cNvPr>
          <p:cNvSpPr>
            <a:spLocks noGrp="1"/>
          </p:cNvSpPr>
          <p:nvPr>
            <p:ph idx="1"/>
          </p:nvPr>
        </p:nvSpPr>
        <p:spPr/>
        <p:txBody>
          <a:bodyPr>
            <a:noAutofit/>
          </a:bodyPr>
          <a:lstStyle/>
          <a:p>
            <a:pPr marL="0" indent="0">
              <a:lnSpc>
                <a:spcPct val="107000"/>
              </a:lnSpc>
              <a:spcAft>
                <a:spcPts val="800"/>
              </a:spcAft>
              <a:buNone/>
            </a:pPr>
            <a:r>
              <a:rPr lang="en-AU" sz="2200" dirty="0">
                <a:solidFill>
                  <a:schemeClr val="tx2"/>
                </a:solidFill>
                <a:effectLst/>
                <a:latin typeface="Calibri" panose="020F0502020204030204" pitchFamily="34" charset="0"/>
                <a:ea typeface="Calibri" panose="020F0502020204030204" pitchFamily="34" charset="0"/>
                <a:cs typeface="Times New Roman" panose="02020603050405020304" pitchFamily="18" charset="0"/>
              </a:rPr>
              <a:t>One way that we can develop our writing is by adding detail.</a:t>
            </a:r>
          </a:p>
          <a:p>
            <a:pPr marL="0" indent="0">
              <a:lnSpc>
                <a:spcPct val="107000"/>
              </a:lnSpc>
              <a:spcAft>
                <a:spcPts val="800"/>
              </a:spcAft>
              <a:buNone/>
            </a:pPr>
            <a:r>
              <a:rPr lang="en-AU" sz="2200" dirty="0">
                <a:solidFill>
                  <a:schemeClr val="tx2"/>
                </a:solidFill>
                <a:effectLst/>
                <a:latin typeface="Calibri" panose="020F0502020204030204" pitchFamily="34" charset="0"/>
                <a:ea typeface="Calibri" panose="020F0502020204030204" pitchFamily="34" charset="0"/>
                <a:cs typeface="Times New Roman" panose="02020603050405020304" pitchFamily="18" charset="0"/>
              </a:rPr>
              <a:t>We can add detail by including more information to the noun group:</a:t>
            </a:r>
          </a:p>
          <a:p>
            <a:pPr marL="442913" indent="0">
              <a:lnSpc>
                <a:spcPct val="107000"/>
              </a:lnSpc>
              <a:spcAft>
                <a:spcPts val="800"/>
              </a:spcAft>
              <a:buNone/>
            </a:pPr>
            <a:r>
              <a:rPr lang="en-AU" sz="2200" dirty="0">
                <a:solidFill>
                  <a:srgbClr val="C00000"/>
                </a:solidFill>
                <a:effectLst/>
                <a:latin typeface="Calibri" panose="020F0502020204030204" pitchFamily="34" charset="0"/>
                <a:ea typeface="Calibri" panose="020F0502020204030204" pitchFamily="34" charset="0"/>
                <a:cs typeface="Times New Roman" panose="02020603050405020304" pitchFamily="18" charset="0"/>
              </a:rPr>
              <a:t>The 2002 film</a:t>
            </a:r>
            <a:r>
              <a:rPr lang="en-AU" sz="2200" i="1" dirty="0">
                <a:solidFill>
                  <a:srgbClr val="C00000"/>
                </a:solidFill>
                <a:effectLst/>
                <a:latin typeface="Calibri" panose="020F0502020204030204" pitchFamily="34" charset="0"/>
                <a:ea typeface="Calibri" panose="020F0502020204030204" pitchFamily="34" charset="0"/>
                <a:cs typeface="Times New Roman" panose="02020603050405020304" pitchFamily="18" charset="0"/>
              </a:rPr>
              <a:t> Rabbit Proof Fence </a:t>
            </a:r>
            <a:r>
              <a:rPr lang="en-AU" sz="2200" dirty="0">
                <a:solidFill>
                  <a:srgbClr val="00B050"/>
                </a:solidFill>
                <a:effectLst/>
                <a:latin typeface="Calibri" panose="020F0502020204030204" pitchFamily="34" charset="0"/>
                <a:ea typeface="Calibri" panose="020F0502020204030204" pitchFamily="34" charset="0"/>
                <a:cs typeface="Times New Roman" panose="02020603050405020304" pitchFamily="18" charset="0"/>
              </a:rPr>
              <a:t>shows</a:t>
            </a:r>
            <a:r>
              <a:rPr lang="en-AU" sz="2200" dirty="0">
                <a:solidFill>
                  <a:srgbClr val="385623"/>
                </a:solidFill>
                <a:effectLst/>
                <a:latin typeface="Calibri" panose="020F0502020204030204" pitchFamily="34" charset="0"/>
                <a:ea typeface="Calibri" panose="020F0502020204030204" pitchFamily="34" charset="0"/>
                <a:cs typeface="Times New Roman" panose="02020603050405020304" pitchFamily="18" charset="0"/>
              </a:rPr>
              <a:t> </a:t>
            </a:r>
            <a:r>
              <a:rPr lang="en-AU" sz="2200" dirty="0">
                <a:effectLst/>
                <a:latin typeface="Calibri" panose="020F0502020204030204" pitchFamily="34" charset="0"/>
                <a:ea typeface="Calibri" panose="020F0502020204030204" pitchFamily="34" charset="0"/>
                <a:cs typeface="Times New Roman" panose="02020603050405020304" pitchFamily="18" charset="0"/>
              </a:rPr>
              <a:t>the audience the pain experienced by families of the stolen generations.</a:t>
            </a:r>
          </a:p>
          <a:p>
            <a:pPr marL="442913" indent="0">
              <a:lnSpc>
                <a:spcPct val="107000"/>
              </a:lnSpc>
              <a:spcAft>
                <a:spcPts val="800"/>
              </a:spcAft>
              <a:buNone/>
            </a:pPr>
            <a:r>
              <a:rPr lang="en-AU" sz="2200" dirty="0">
                <a:solidFill>
                  <a:srgbClr val="C00000"/>
                </a:solidFill>
                <a:effectLst/>
                <a:latin typeface="Calibri" panose="020F0502020204030204" pitchFamily="34" charset="0"/>
                <a:ea typeface="Calibri" panose="020F0502020204030204" pitchFamily="34" charset="0"/>
                <a:cs typeface="Times New Roman" panose="02020603050405020304" pitchFamily="18" charset="0"/>
              </a:rPr>
              <a:t>The scene at the first farmhouse </a:t>
            </a:r>
            <a:r>
              <a:rPr lang="en-AU" sz="2200" dirty="0">
                <a:solidFill>
                  <a:srgbClr val="00B050"/>
                </a:solidFill>
                <a:effectLst/>
                <a:latin typeface="Calibri" panose="020F0502020204030204" pitchFamily="34" charset="0"/>
                <a:ea typeface="Calibri" panose="020F0502020204030204" pitchFamily="34" charset="0"/>
                <a:cs typeface="Times New Roman" panose="02020603050405020304" pitchFamily="18" charset="0"/>
              </a:rPr>
              <a:t>depicts</a:t>
            </a:r>
            <a:r>
              <a:rPr lang="en-AU" sz="2200" dirty="0">
                <a:solidFill>
                  <a:srgbClr val="385623"/>
                </a:solidFill>
                <a:effectLst/>
                <a:latin typeface="Calibri" panose="020F0502020204030204" pitchFamily="34" charset="0"/>
                <a:ea typeface="Calibri" panose="020F0502020204030204" pitchFamily="34" charset="0"/>
                <a:cs typeface="Times New Roman" panose="02020603050405020304" pitchFamily="18" charset="0"/>
              </a:rPr>
              <a:t> </a:t>
            </a:r>
            <a:r>
              <a:rPr lang="en-AU" sz="2200" dirty="0">
                <a:effectLst/>
                <a:latin typeface="Calibri" panose="020F0502020204030204" pitchFamily="34" charset="0"/>
                <a:ea typeface="Calibri" panose="020F0502020204030204" pitchFamily="34" charset="0"/>
                <a:cs typeface="Times New Roman" panose="02020603050405020304" pitchFamily="18" charset="0"/>
              </a:rPr>
              <a:t>how many white Australians wanted to help indigenous Australians.</a:t>
            </a:r>
          </a:p>
          <a:p>
            <a:pPr marL="442913" indent="0">
              <a:lnSpc>
                <a:spcPct val="107000"/>
              </a:lnSpc>
              <a:spcAft>
                <a:spcPts val="800"/>
              </a:spcAft>
              <a:buNone/>
            </a:pPr>
            <a:r>
              <a:rPr lang="en-AU" sz="2200" dirty="0">
                <a:solidFill>
                  <a:srgbClr val="C00000"/>
                </a:solidFill>
                <a:effectLst/>
                <a:latin typeface="Calibri" panose="020F0502020204030204" pitchFamily="34" charset="0"/>
                <a:ea typeface="Calibri" panose="020F0502020204030204" pitchFamily="34" charset="0"/>
                <a:cs typeface="Times New Roman" panose="02020603050405020304" pitchFamily="18" charset="0"/>
              </a:rPr>
              <a:t>Australian filmmaker Phillip Noyce </a:t>
            </a:r>
            <a:r>
              <a:rPr lang="en-AU" sz="2200" dirty="0">
                <a:solidFill>
                  <a:srgbClr val="00B050"/>
                </a:solidFill>
                <a:effectLst/>
                <a:latin typeface="Calibri" panose="020F0502020204030204" pitchFamily="34" charset="0"/>
                <a:ea typeface="Calibri" panose="020F0502020204030204" pitchFamily="34" charset="0"/>
                <a:cs typeface="Times New Roman" panose="02020603050405020304" pitchFamily="18" charset="0"/>
              </a:rPr>
              <a:t>tells a story of </a:t>
            </a:r>
            <a:r>
              <a:rPr lang="en-AU" sz="2200" dirty="0">
                <a:effectLst/>
                <a:latin typeface="Calibri" panose="020F0502020204030204" pitchFamily="34" charset="0"/>
                <a:ea typeface="Calibri" panose="020F0502020204030204" pitchFamily="34" charset="0"/>
                <a:cs typeface="Times New Roman" panose="02020603050405020304" pitchFamily="18" charset="0"/>
              </a:rPr>
              <a:t>persistence and courage in the face of a great tragedy.</a:t>
            </a:r>
            <a:endParaRPr lang="en-AU" sz="2200" dirty="0">
              <a:solidFill>
                <a:schemeClr val="tx2"/>
              </a:solidFill>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1571574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FBD757-3742-440E-AE2D-2CD9067684D4}"/>
              </a:ext>
            </a:extLst>
          </p:cNvPr>
          <p:cNvSpPr>
            <a:spLocks noGrp="1"/>
          </p:cNvSpPr>
          <p:nvPr>
            <p:ph type="title"/>
          </p:nvPr>
        </p:nvSpPr>
        <p:spPr/>
        <p:txBody>
          <a:bodyPr/>
          <a:lstStyle/>
          <a:p>
            <a:r>
              <a:rPr lang="en-AU" sz="1800" b="1" dirty="0">
                <a:effectLst/>
                <a:latin typeface="Calibri" panose="020F0502020204030204" pitchFamily="34" charset="0"/>
                <a:ea typeface="Calibri" panose="020F0502020204030204" pitchFamily="34" charset="0"/>
                <a:cs typeface="Times New Roman" panose="02020603050405020304" pitchFamily="18" charset="0"/>
              </a:rPr>
              <a:t>Lesson 1: adding detail</a:t>
            </a:r>
            <a:endParaRPr lang="en-AU" dirty="0"/>
          </a:p>
        </p:txBody>
      </p:sp>
      <p:sp>
        <p:nvSpPr>
          <p:cNvPr id="3" name="Content Placeholder 2">
            <a:extLst>
              <a:ext uri="{FF2B5EF4-FFF2-40B4-BE49-F238E27FC236}">
                <a16:creationId xmlns:a16="http://schemas.microsoft.com/office/drawing/2014/main" id="{2ED0C459-27B7-4C01-BB02-D912069DFFBD}"/>
              </a:ext>
            </a:extLst>
          </p:cNvPr>
          <p:cNvSpPr>
            <a:spLocks noGrp="1"/>
          </p:cNvSpPr>
          <p:nvPr>
            <p:ph idx="1"/>
          </p:nvPr>
        </p:nvSpPr>
        <p:spPr/>
        <p:txBody>
          <a:bodyPr>
            <a:normAutofit fontScale="92500" lnSpcReduction="20000"/>
          </a:bodyPr>
          <a:lstStyle/>
          <a:p>
            <a:pPr marL="0" indent="0">
              <a:lnSpc>
                <a:spcPct val="107000"/>
              </a:lnSpc>
              <a:spcAft>
                <a:spcPts val="800"/>
              </a:spcAft>
              <a:buNone/>
            </a:pPr>
            <a:r>
              <a:rPr lang="en-AU" sz="2400" b="1" i="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Your turn:</a:t>
            </a:r>
          </a:p>
          <a:p>
            <a:pPr marL="0" indent="0">
              <a:lnSpc>
                <a:spcPct val="107000"/>
              </a:lnSpc>
              <a:spcAft>
                <a:spcPts val="800"/>
              </a:spcAft>
              <a:buNone/>
            </a:pPr>
            <a:r>
              <a:rPr lang="en-AU" sz="2400" dirty="0">
                <a:effectLst/>
                <a:latin typeface="Calibri" panose="020F0502020204030204" pitchFamily="34" charset="0"/>
                <a:ea typeface="Calibri" panose="020F0502020204030204" pitchFamily="34" charset="0"/>
                <a:cs typeface="Times New Roman" panose="02020603050405020304" pitchFamily="18" charset="0"/>
              </a:rPr>
              <a:t>Copy your first five sentences, this time adding detail to the nominal group:</a:t>
            </a:r>
          </a:p>
          <a:p>
            <a:pPr marL="0" indent="0">
              <a:lnSpc>
                <a:spcPct val="107000"/>
              </a:lnSpc>
              <a:spcAft>
                <a:spcPts val="800"/>
              </a:spcAft>
              <a:buNone/>
            </a:pPr>
            <a:r>
              <a:rPr lang="en-AU" sz="2400" i="1" dirty="0">
                <a:effectLst/>
                <a:latin typeface="Calibri" panose="020F0502020204030204" pitchFamily="34" charset="0"/>
                <a:ea typeface="Calibri" panose="020F0502020204030204" pitchFamily="34" charset="0"/>
                <a:cs typeface="Times New Roman" panose="02020603050405020304" pitchFamily="18" charset="0"/>
              </a:rPr>
              <a:t>Write these sentences in your notebook.</a:t>
            </a:r>
          </a:p>
          <a:p>
            <a:pPr marL="895350" indent="0">
              <a:lnSpc>
                <a:spcPct val="107000"/>
              </a:lnSpc>
              <a:spcAft>
                <a:spcPts val="800"/>
              </a:spcAft>
              <a:buNone/>
            </a:pPr>
            <a:r>
              <a:rPr lang="en-AU" sz="2400" dirty="0">
                <a:effectLst/>
                <a:latin typeface="Calibri" panose="020F0502020204030204" pitchFamily="34" charset="0"/>
                <a:ea typeface="Calibri" panose="020F0502020204030204" pitchFamily="34" charset="0"/>
                <a:cs typeface="Times New Roman" panose="02020603050405020304" pitchFamily="18" charset="0"/>
              </a:rPr>
              <a:t>1.	 </a:t>
            </a:r>
          </a:p>
          <a:p>
            <a:pPr marL="895350" indent="0">
              <a:lnSpc>
                <a:spcPct val="107000"/>
              </a:lnSpc>
              <a:spcAft>
                <a:spcPts val="800"/>
              </a:spcAft>
              <a:buNone/>
            </a:pPr>
            <a:r>
              <a:rPr lang="en-AU" sz="2400" dirty="0">
                <a:effectLst/>
                <a:latin typeface="Calibri" panose="020F0502020204030204" pitchFamily="34" charset="0"/>
                <a:ea typeface="Calibri" panose="020F0502020204030204" pitchFamily="34" charset="0"/>
                <a:cs typeface="Times New Roman" panose="02020603050405020304" pitchFamily="18" charset="0"/>
              </a:rPr>
              <a:t>2.	 </a:t>
            </a:r>
          </a:p>
          <a:p>
            <a:pPr marL="895350" indent="0">
              <a:lnSpc>
                <a:spcPct val="107000"/>
              </a:lnSpc>
              <a:spcAft>
                <a:spcPts val="800"/>
              </a:spcAft>
              <a:buNone/>
            </a:pPr>
            <a:r>
              <a:rPr lang="en-AU" sz="2400" dirty="0">
                <a:effectLst/>
                <a:latin typeface="Calibri" panose="020F0502020204030204" pitchFamily="34" charset="0"/>
                <a:ea typeface="Calibri" panose="020F0502020204030204" pitchFamily="34" charset="0"/>
                <a:cs typeface="Times New Roman" panose="02020603050405020304" pitchFamily="18" charset="0"/>
              </a:rPr>
              <a:t>3.	 </a:t>
            </a:r>
          </a:p>
          <a:p>
            <a:pPr marL="895350" indent="0">
              <a:lnSpc>
                <a:spcPct val="107000"/>
              </a:lnSpc>
              <a:spcAft>
                <a:spcPts val="800"/>
              </a:spcAft>
              <a:buNone/>
            </a:pPr>
            <a:r>
              <a:rPr lang="en-AU" sz="2400" dirty="0">
                <a:effectLst/>
                <a:latin typeface="Calibri" panose="020F0502020204030204" pitchFamily="34" charset="0"/>
                <a:ea typeface="Calibri" panose="020F0502020204030204" pitchFamily="34" charset="0"/>
                <a:cs typeface="Times New Roman" panose="02020603050405020304" pitchFamily="18" charset="0"/>
              </a:rPr>
              <a:t>4.	 </a:t>
            </a:r>
          </a:p>
          <a:p>
            <a:pPr marL="895350" indent="0">
              <a:lnSpc>
                <a:spcPct val="107000"/>
              </a:lnSpc>
              <a:spcAft>
                <a:spcPts val="800"/>
              </a:spcAft>
              <a:buNone/>
            </a:pPr>
            <a:r>
              <a:rPr lang="en-AU" sz="2400" dirty="0">
                <a:effectLst/>
                <a:latin typeface="Calibri" panose="020F0502020204030204" pitchFamily="34" charset="0"/>
                <a:ea typeface="Calibri" panose="020F0502020204030204" pitchFamily="34" charset="0"/>
                <a:cs typeface="Times New Roman" panose="02020603050405020304" pitchFamily="18" charset="0"/>
              </a:rPr>
              <a:t>5.	 </a:t>
            </a:r>
          </a:p>
        </p:txBody>
      </p:sp>
    </p:spTree>
    <p:extLst>
      <p:ext uri="{BB962C8B-B14F-4D97-AF65-F5344CB8AC3E}">
        <p14:creationId xmlns:p14="http://schemas.microsoft.com/office/powerpoint/2010/main" val="28645192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71E3A2-7E7B-45EA-97B3-33C12C12AAD6}"/>
              </a:ext>
            </a:extLst>
          </p:cNvPr>
          <p:cNvSpPr>
            <a:spLocks noGrp="1"/>
          </p:cNvSpPr>
          <p:nvPr>
            <p:ph type="title"/>
          </p:nvPr>
        </p:nvSpPr>
        <p:spPr/>
        <p:txBody>
          <a:bodyPr/>
          <a:lstStyle/>
          <a:p>
            <a:r>
              <a:rPr lang="en-AU" dirty="0"/>
              <a:t>Lesson 2: focusing on character</a:t>
            </a:r>
          </a:p>
        </p:txBody>
      </p:sp>
      <p:sp>
        <p:nvSpPr>
          <p:cNvPr id="3" name="Text Placeholder 2">
            <a:extLst>
              <a:ext uri="{FF2B5EF4-FFF2-40B4-BE49-F238E27FC236}">
                <a16:creationId xmlns:a16="http://schemas.microsoft.com/office/drawing/2014/main" id="{9DDD1BF2-86CB-4D50-BF4B-EBB36CE16DDB}"/>
              </a:ext>
            </a:extLst>
          </p:cNvPr>
          <p:cNvSpPr>
            <a:spLocks noGrp="1"/>
          </p:cNvSpPr>
          <p:nvPr>
            <p:ph type="body" idx="1"/>
          </p:nvPr>
        </p:nvSpPr>
        <p:spPr/>
        <p:txBody>
          <a:bodyPr>
            <a:normAutofit fontScale="92500" lnSpcReduction="20000"/>
          </a:bodyPr>
          <a:lstStyle/>
          <a:p>
            <a:r>
              <a:rPr lang="en-AU" dirty="0"/>
              <a:t>Choosing powerful verbs</a:t>
            </a:r>
            <a:br>
              <a:rPr lang="en-AU" dirty="0"/>
            </a:br>
            <a:r>
              <a:rPr lang="en-AU" dirty="0"/>
              <a:t>Prepositional phrases</a:t>
            </a:r>
          </a:p>
        </p:txBody>
      </p:sp>
    </p:spTree>
    <p:extLst>
      <p:ext uri="{BB962C8B-B14F-4D97-AF65-F5344CB8AC3E}">
        <p14:creationId xmlns:p14="http://schemas.microsoft.com/office/powerpoint/2010/main" val="13585341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0B450D-8C1B-4290-AE96-A79D4B179A0F}"/>
              </a:ext>
            </a:extLst>
          </p:cNvPr>
          <p:cNvSpPr>
            <a:spLocks noGrp="1"/>
          </p:cNvSpPr>
          <p:nvPr>
            <p:ph type="title"/>
          </p:nvPr>
        </p:nvSpPr>
        <p:spPr/>
        <p:txBody>
          <a:bodyPr/>
          <a:lstStyle/>
          <a:p>
            <a:r>
              <a:rPr lang="en-AU" sz="1800" b="1" dirty="0">
                <a:effectLst/>
                <a:latin typeface="Calibri" panose="020F0502020204030204" pitchFamily="34" charset="0"/>
                <a:ea typeface="Calibri" panose="020F0502020204030204" pitchFamily="34" charset="0"/>
                <a:cs typeface="Times New Roman" panose="02020603050405020304" pitchFamily="18" charset="0"/>
              </a:rPr>
              <a:t>Lesson 2: Focusing on character</a:t>
            </a:r>
            <a:endParaRPr lang="en-AU" dirty="0"/>
          </a:p>
        </p:txBody>
      </p:sp>
      <p:sp>
        <p:nvSpPr>
          <p:cNvPr id="3" name="Content Placeholder 2">
            <a:extLst>
              <a:ext uri="{FF2B5EF4-FFF2-40B4-BE49-F238E27FC236}">
                <a16:creationId xmlns:a16="http://schemas.microsoft.com/office/drawing/2014/main" id="{8816A617-451A-41DC-8728-4018A0BC4C17}"/>
              </a:ext>
            </a:extLst>
          </p:cNvPr>
          <p:cNvSpPr>
            <a:spLocks noGrp="1"/>
          </p:cNvSpPr>
          <p:nvPr>
            <p:ph idx="1"/>
          </p:nvPr>
        </p:nvSpPr>
        <p:spPr/>
        <p:txBody>
          <a:bodyPr>
            <a:normAutofit/>
          </a:bodyPr>
          <a:lstStyle/>
          <a:p>
            <a:pPr marL="0" indent="0">
              <a:lnSpc>
                <a:spcPct val="107000"/>
              </a:lnSpc>
              <a:spcAft>
                <a:spcPts val="800"/>
              </a:spcAft>
              <a:buNone/>
            </a:pPr>
            <a:r>
              <a:rPr lang="en-AU" sz="2200" dirty="0">
                <a:effectLst/>
                <a:latin typeface="Calibri" panose="020F0502020204030204" pitchFamily="34" charset="0"/>
                <a:ea typeface="Calibri" panose="020F0502020204030204" pitchFamily="34" charset="0"/>
                <a:cs typeface="Times New Roman" panose="02020603050405020304" pitchFamily="18" charset="0"/>
              </a:rPr>
              <a:t>Rather than writing about the text itself, you might focus on a character in the story.</a:t>
            </a:r>
          </a:p>
          <a:p>
            <a:pPr marL="0" indent="0">
              <a:lnSpc>
                <a:spcPct val="107000"/>
              </a:lnSpc>
              <a:spcAft>
                <a:spcPts val="800"/>
              </a:spcAft>
              <a:buNone/>
            </a:pPr>
            <a:r>
              <a:rPr lang="en-AU" sz="2200" dirty="0">
                <a:effectLst/>
                <a:latin typeface="Calibri" panose="020F0502020204030204" pitchFamily="34" charset="0"/>
                <a:ea typeface="Calibri" panose="020F0502020204030204" pitchFamily="34" charset="0"/>
                <a:cs typeface="Times New Roman" panose="02020603050405020304" pitchFamily="18" charset="0"/>
              </a:rPr>
              <a:t>This allows you to describe what kind of person they are, what they experienced, or what they might teach the audience.</a:t>
            </a:r>
          </a:p>
          <a:p>
            <a:pPr marL="360363" indent="0">
              <a:lnSpc>
                <a:spcPct val="107000"/>
              </a:lnSpc>
              <a:spcAft>
                <a:spcPts val="800"/>
              </a:spcAft>
              <a:buNone/>
            </a:pPr>
            <a:r>
              <a:rPr lang="en-AU" sz="2200" dirty="0">
                <a:solidFill>
                  <a:srgbClr val="C00000"/>
                </a:solidFill>
                <a:effectLst/>
                <a:latin typeface="Calibri" panose="020F0502020204030204" pitchFamily="34" charset="0"/>
                <a:ea typeface="Calibri" panose="020F0502020204030204" pitchFamily="34" charset="0"/>
                <a:cs typeface="Times New Roman" panose="02020603050405020304" pitchFamily="18" charset="0"/>
              </a:rPr>
              <a:t>Molly </a:t>
            </a:r>
            <a:r>
              <a:rPr lang="en-AU" sz="2200" dirty="0">
                <a:solidFill>
                  <a:srgbClr val="00B050"/>
                </a:solidFill>
                <a:effectLst/>
                <a:latin typeface="Calibri" panose="020F0502020204030204" pitchFamily="34" charset="0"/>
                <a:ea typeface="Calibri" panose="020F0502020204030204" pitchFamily="34" charset="0"/>
                <a:cs typeface="Times New Roman" panose="02020603050405020304" pitchFamily="18" charset="0"/>
              </a:rPr>
              <a:t>persuades</a:t>
            </a:r>
            <a:r>
              <a:rPr lang="en-AU" sz="2200" dirty="0">
                <a:solidFill>
                  <a:srgbClr val="385623"/>
                </a:solidFill>
                <a:effectLst/>
                <a:latin typeface="Calibri" panose="020F0502020204030204" pitchFamily="34" charset="0"/>
                <a:ea typeface="Calibri" panose="020F0502020204030204" pitchFamily="34" charset="0"/>
                <a:cs typeface="Times New Roman" panose="02020603050405020304" pitchFamily="18" charset="0"/>
              </a:rPr>
              <a:t> </a:t>
            </a:r>
            <a:r>
              <a:rPr lang="en-AU" sz="2200" dirty="0">
                <a:effectLst/>
                <a:latin typeface="Calibri" panose="020F0502020204030204" pitchFamily="34" charset="0"/>
                <a:ea typeface="Calibri" panose="020F0502020204030204" pitchFamily="34" charset="0"/>
                <a:cs typeface="Times New Roman" panose="02020603050405020304" pitchFamily="18" charset="0"/>
              </a:rPr>
              <a:t>the other two girls to escape from the Moore River settlement.</a:t>
            </a:r>
          </a:p>
          <a:p>
            <a:pPr marL="360363" indent="0">
              <a:lnSpc>
                <a:spcPct val="107000"/>
              </a:lnSpc>
              <a:spcAft>
                <a:spcPts val="800"/>
              </a:spcAft>
              <a:buNone/>
            </a:pPr>
            <a:r>
              <a:rPr lang="en-AU" sz="2200" dirty="0">
                <a:solidFill>
                  <a:srgbClr val="C00000"/>
                </a:solidFill>
                <a:effectLst/>
                <a:latin typeface="Calibri" panose="020F0502020204030204" pitchFamily="34" charset="0"/>
                <a:ea typeface="Calibri" panose="020F0502020204030204" pitchFamily="34" charset="0"/>
                <a:cs typeface="Times New Roman" panose="02020603050405020304" pitchFamily="18" charset="0"/>
              </a:rPr>
              <a:t>Daisy </a:t>
            </a:r>
            <a:r>
              <a:rPr lang="en-AU" sz="2200" dirty="0">
                <a:solidFill>
                  <a:srgbClr val="00B050"/>
                </a:solidFill>
                <a:effectLst/>
                <a:latin typeface="Calibri" panose="020F0502020204030204" pitchFamily="34" charset="0"/>
                <a:ea typeface="Calibri" panose="020F0502020204030204" pitchFamily="34" charset="0"/>
                <a:cs typeface="Times New Roman" panose="02020603050405020304" pitchFamily="18" charset="0"/>
              </a:rPr>
              <a:t>shows</a:t>
            </a:r>
            <a:r>
              <a:rPr lang="en-AU" sz="2200" dirty="0">
                <a:solidFill>
                  <a:srgbClr val="385623"/>
                </a:solidFill>
                <a:effectLst/>
                <a:latin typeface="Calibri" panose="020F0502020204030204" pitchFamily="34" charset="0"/>
                <a:ea typeface="Calibri" panose="020F0502020204030204" pitchFamily="34" charset="0"/>
                <a:cs typeface="Times New Roman" panose="02020603050405020304" pitchFamily="18" charset="0"/>
              </a:rPr>
              <a:t> </a:t>
            </a:r>
            <a:r>
              <a:rPr lang="en-AU" sz="2200" dirty="0">
                <a:effectLst/>
                <a:latin typeface="Calibri" panose="020F0502020204030204" pitchFamily="34" charset="0"/>
                <a:ea typeface="Calibri" panose="020F0502020204030204" pitchFamily="34" charset="0"/>
                <a:cs typeface="Times New Roman" panose="02020603050405020304" pitchFamily="18" charset="0"/>
              </a:rPr>
              <a:t>great courage when she joins her sister in leaving.</a:t>
            </a:r>
          </a:p>
          <a:p>
            <a:pPr marL="360363" indent="0">
              <a:lnSpc>
                <a:spcPct val="107000"/>
              </a:lnSpc>
              <a:spcAft>
                <a:spcPts val="800"/>
              </a:spcAft>
              <a:buNone/>
            </a:pPr>
            <a:r>
              <a:rPr lang="en-AU" sz="2200" dirty="0">
                <a:solidFill>
                  <a:srgbClr val="C00000"/>
                </a:solidFill>
                <a:effectLst/>
                <a:latin typeface="Calibri" panose="020F0502020204030204" pitchFamily="34" charset="0"/>
                <a:ea typeface="Calibri" panose="020F0502020204030204" pitchFamily="34" charset="0"/>
                <a:cs typeface="Times New Roman" panose="02020603050405020304" pitchFamily="18" charset="0"/>
              </a:rPr>
              <a:t>Mr Neville </a:t>
            </a:r>
            <a:r>
              <a:rPr lang="en-AU" sz="2200" dirty="0">
                <a:solidFill>
                  <a:srgbClr val="00B050"/>
                </a:solidFill>
                <a:effectLst/>
                <a:latin typeface="Calibri" panose="020F0502020204030204" pitchFamily="34" charset="0"/>
                <a:ea typeface="Calibri" panose="020F0502020204030204" pitchFamily="34" charset="0"/>
                <a:cs typeface="Times New Roman" panose="02020603050405020304" pitchFamily="18" charset="0"/>
              </a:rPr>
              <a:t>will stop at nothing </a:t>
            </a:r>
            <a:r>
              <a:rPr lang="en-AU" sz="2200" dirty="0">
                <a:effectLst/>
                <a:latin typeface="Calibri" panose="020F0502020204030204" pitchFamily="34" charset="0"/>
                <a:ea typeface="Calibri" panose="020F0502020204030204" pitchFamily="34" charset="0"/>
                <a:cs typeface="Times New Roman" panose="02020603050405020304" pitchFamily="18" charset="0"/>
              </a:rPr>
              <a:t>to make sure that the girls are returned to the mission.</a:t>
            </a:r>
            <a:endParaRPr lang="en-AU" sz="2200" dirty="0"/>
          </a:p>
        </p:txBody>
      </p:sp>
    </p:spTree>
    <p:extLst>
      <p:ext uri="{BB962C8B-B14F-4D97-AF65-F5344CB8AC3E}">
        <p14:creationId xmlns:p14="http://schemas.microsoft.com/office/powerpoint/2010/main" val="2663066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FBD757-3742-440E-AE2D-2CD9067684D4}"/>
              </a:ext>
            </a:extLst>
          </p:cNvPr>
          <p:cNvSpPr>
            <a:spLocks noGrp="1"/>
          </p:cNvSpPr>
          <p:nvPr>
            <p:ph type="title"/>
          </p:nvPr>
        </p:nvSpPr>
        <p:spPr/>
        <p:txBody>
          <a:bodyPr/>
          <a:lstStyle/>
          <a:p>
            <a:r>
              <a:rPr lang="en-AU" sz="1800" b="1" dirty="0">
                <a:effectLst/>
                <a:latin typeface="Calibri" panose="020F0502020204030204" pitchFamily="34" charset="0"/>
                <a:ea typeface="Calibri" panose="020F0502020204030204" pitchFamily="34" charset="0"/>
                <a:cs typeface="Times New Roman" panose="02020603050405020304" pitchFamily="18" charset="0"/>
              </a:rPr>
              <a:t>Lesson 2: Focusing on character</a:t>
            </a:r>
            <a:endParaRPr lang="en-AU" dirty="0"/>
          </a:p>
        </p:txBody>
      </p:sp>
      <p:sp>
        <p:nvSpPr>
          <p:cNvPr id="3" name="Content Placeholder 2">
            <a:extLst>
              <a:ext uri="{FF2B5EF4-FFF2-40B4-BE49-F238E27FC236}">
                <a16:creationId xmlns:a16="http://schemas.microsoft.com/office/drawing/2014/main" id="{2ED0C459-27B7-4C01-BB02-D912069DFFBD}"/>
              </a:ext>
            </a:extLst>
          </p:cNvPr>
          <p:cNvSpPr>
            <a:spLocks noGrp="1"/>
          </p:cNvSpPr>
          <p:nvPr>
            <p:ph idx="1"/>
          </p:nvPr>
        </p:nvSpPr>
        <p:spPr/>
        <p:txBody>
          <a:bodyPr>
            <a:normAutofit fontScale="85000" lnSpcReduction="20000"/>
          </a:bodyPr>
          <a:lstStyle/>
          <a:p>
            <a:pPr marL="0" indent="0">
              <a:lnSpc>
                <a:spcPct val="107000"/>
              </a:lnSpc>
              <a:spcAft>
                <a:spcPts val="800"/>
              </a:spcAft>
              <a:buNone/>
            </a:pPr>
            <a:r>
              <a:rPr lang="en-AU" sz="2400" b="1" i="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Exercise</a:t>
            </a:r>
          </a:p>
          <a:p>
            <a:pPr marL="0" indent="0">
              <a:lnSpc>
                <a:spcPct val="107000"/>
              </a:lnSpc>
              <a:spcAft>
                <a:spcPts val="800"/>
              </a:spcAft>
              <a:buNone/>
            </a:pPr>
            <a:r>
              <a:rPr lang="en-AU" sz="2400" dirty="0">
                <a:effectLst/>
                <a:latin typeface="Calibri" panose="020F0502020204030204" pitchFamily="34" charset="0"/>
                <a:ea typeface="Calibri" panose="020F0502020204030204" pitchFamily="34" charset="0"/>
                <a:cs typeface="Times New Roman" panose="02020603050405020304" pitchFamily="18" charset="0"/>
              </a:rPr>
              <a:t>Using your ideas from the film analysis CAT, create five new sentences that tell the reader about different characters. </a:t>
            </a:r>
          </a:p>
          <a:p>
            <a:pPr marL="0" indent="0">
              <a:lnSpc>
                <a:spcPct val="107000"/>
              </a:lnSpc>
              <a:spcAft>
                <a:spcPts val="800"/>
              </a:spcAft>
              <a:buNone/>
            </a:pPr>
            <a:r>
              <a:rPr lang="en-AU" sz="2400" i="1" dirty="0">
                <a:effectLst/>
                <a:latin typeface="Calibri" panose="020F0502020204030204" pitchFamily="34" charset="0"/>
                <a:ea typeface="Calibri" panose="020F0502020204030204" pitchFamily="34" charset="0"/>
                <a:cs typeface="Times New Roman" panose="02020603050405020304" pitchFamily="18" charset="0"/>
              </a:rPr>
              <a:t>Write these sentences in your notebook.</a:t>
            </a:r>
          </a:p>
          <a:p>
            <a:pPr marL="895350" indent="0">
              <a:lnSpc>
                <a:spcPct val="107000"/>
              </a:lnSpc>
              <a:spcAft>
                <a:spcPts val="800"/>
              </a:spcAft>
              <a:buNone/>
            </a:pPr>
            <a:r>
              <a:rPr lang="en-AU" sz="2400" dirty="0">
                <a:effectLst/>
                <a:latin typeface="Calibri" panose="020F0502020204030204" pitchFamily="34" charset="0"/>
                <a:ea typeface="Calibri" panose="020F0502020204030204" pitchFamily="34" charset="0"/>
                <a:cs typeface="Times New Roman" panose="02020603050405020304" pitchFamily="18" charset="0"/>
              </a:rPr>
              <a:t>1.	 </a:t>
            </a:r>
          </a:p>
          <a:p>
            <a:pPr marL="895350" indent="0">
              <a:lnSpc>
                <a:spcPct val="107000"/>
              </a:lnSpc>
              <a:spcAft>
                <a:spcPts val="800"/>
              </a:spcAft>
              <a:buNone/>
            </a:pPr>
            <a:r>
              <a:rPr lang="en-AU" sz="2400" dirty="0">
                <a:effectLst/>
                <a:latin typeface="Calibri" panose="020F0502020204030204" pitchFamily="34" charset="0"/>
                <a:ea typeface="Calibri" panose="020F0502020204030204" pitchFamily="34" charset="0"/>
                <a:cs typeface="Times New Roman" panose="02020603050405020304" pitchFamily="18" charset="0"/>
              </a:rPr>
              <a:t>2.	 </a:t>
            </a:r>
          </a:p>
          <a:p>
            <a:pPr marL="895350" indent="0">
              <a:lnSpc>
                <a:spcPct val="107000"/>
              </a:lnSpc>
              <a:spcAft>
                <a:spcPts val="800"/>
              </a:spcAft>
              <a:buNone/>
            </a:pPr>
            <a:r>
              <a:rPr lang="en-AU" sz="2400" dirty="0">
                <a:effectLst/>
                <a:latin typeface="Calibri" panose="020F0502020204030204" pitchFamily="34" charset="0"/>
                <a:ea typeface="Calibri" panose="020F0502020204030204" pitchFamily="34" charset="0"/>
                <a:cs typeface="Times New Roman" panose="02020603050405020304" pitchFamily="18" charset="0"/>
              </a:rPr>
              <a:t>3.	 </a:t>
            </a:r>
          </a:p>
          <a:p>
            <a:pPr marL="895350" indent="0">
              <a:lnSpc>
                <a:spcPct val="107000"/>
              </a:lnSpc>
              <a:spcAft>
                <a:spcPts val="800"/>
              </a:spcAft>
              <a:buNone/>
            </a:pPr>
            <a:r>
              <a:rPr lang="en-AU" sz="2400" dirty="0">
                <a:effectLst/>
                <a:latin typeface="Calibri" panose="020F0502020204030204" pitchFamily="34" charset="0"/>
                <a:ea typeface="Calibri" panose="020F0502020204030204" pitchFamily="34" charset="0"/>
                <a:cs typeface="Times New Roman" panose="02020603050405020304" pitchFamily="18" charset="0"/>
              </a:rPr>
              <a:t>4.	 </a:t>
            </a:r>
          </a:p>
          <a:p>
            <a:pPr marL="895350" indent="0">
              <a:lnSpc>
                <a:spcPct val="107000"/>
              </a:lnSpc>
              <a:spcAft>
                <a:spcPts val="800"/>
              </a:spcAft>
              <a:buNone/>
            </a:pPr>
            <a:r>
              <a:rPr lang="en-AU" sz="2400" dirty="0">
                <a:effectLst/>
                <a:latin typeface="Calibri" panose="020F0502020204030204" pitchFamily="34" charset="0"/>
                <a:ea typeface="Calibri" panose="020F0502020204030204" pitchFamily="34" charset="0"/>
                <a:cs typeface="Times New Roman" panose="02020603050405020304" pitchFamily="18" charset="0"/>
              </a:rPr>
              <a:t>5.	 </a:t>
            </a:r>
          </a:p>
        </p:txBody>
      </p:sp>
    </p:spTree>
    <p:extLst>
      <p:ext uri="{BB962C8B-B14F-4D97-AF65-F5344CB8AC3E}">
        <p14:creationId xmlns:p14="http://schemas.microsoft.com/office/powerpoint/2010/main" val="35479947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0B450D-8C1B-4290-AE96-A79D4B179A0F}"/>
              </a:ext>
            </a:extLst>
          </p:cNvPr>
          <p:cNvSpPr>
            <a:spLocks noGrp="1"/>
          </p:cNvSpPr>
          <p:nvPr>
            <p:ph type="title"/>
          </p:nvPr>
        </p:nvSpPr>
        <p:spPr>
          <a:xfrm>
            <a:off x="581192" y="755165"/>
            <a:ext cx="11029616" cy="1188720"/>
          </a:xfrm>
        </p:spPr>
        <p:txBody>
          <a:bodyPr/>
          <a:lstStyle/>
          <a:p>
            <a:pPr>
              <a:lnSpc>
                <a:spcPct val="107000"/>
              </a:lnSpc>
              <a:spcAft>
                <a:spcPts val="800"/>
              </a:spcAft>
            </a:pPr>
            <a:r>
              <a:rPr lang="en-AU" sz="1800" b="1" dirty="0">
                <a:effectLst/>
                <a:latin typeface="Calibri" panose="020F0502020204030204" pitchFamily="34" charset="0"/>
                <a:ea typeface="Calibri" panose="020F0502020204030204" pitchFamily="34" charset="0"/>
                <a:cs typeface="Times New Roman" panose="02020603050405020304" pitchFamily="18" charset="0"/>
              </a:rPr>
              <a:t>Stretch goal: Choosing powerful </a:t>
            </a:r>
            <a:r>
              <a:rPr lang="en-AU" sz="1800" b="1" dirty="0" err="1">
                <a:effectLst/>
                <a:latin typeface="Calibri" panose="020F0502020204030204" pitchFamily="34" charset="0"/>
                <a:ea typeface="Calibri" panose="020F0502020204030204" pitchFamily="34" charset="0"/>
                <a:cs typeface="Times New Roman" panose="02020603050405020304" pitchFamily="18" charset="0"/>
              </a:rPr>
              <a:t>verbS</a:t>
            </a:r>
            <a:endParaRPr lang="en-AU" sz="1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816A617-451A-41DC-8728-4018A0BC4C17}"/>
              </a:ext>
            </a:extLst>
          </p:cNvPr>
          <p:cNvSpPr>
            <a:spLocks noGrp="1"/>
          </p:cNvSpPr>
          <p:nvPr>
            <p:ph idx="1"/>
          </p:nvPr>
        </p:nvSpPr>
        <p:spPr/>
        <p:txBody>
          <a:bodyPr>
            <a:normAutofit fontScale="92500" lnSpcReduction="10000"/>
          </a:bodyPr>
          <a:lstStyle/>
          <a:p>
            <a:pPr marL="0" indent="0">
              <a:lnSpc>
                <a:spcPct val="107000"/>
              </a:lnSpc>
              <a:spcAft>
                <a:spcPts val="800"/>
              </a:spcAft>
              <a:buNone/>
            </a:pPr>
            <a:r>
              <a:rPr lang="en-AU" sz="2200" dirty="0">
                <a:effectLst/>
                <a:latin typeface="Calibri" panose="020F0502020204030204" pitchFamily="34" charset="0"/>
                <a:ea typeface="Calibri" panose="020F0502020204030204" pitchFamily="34" charset="0"/>
                <a:cs typeface="Times New Roman" panose="02020603050405020304" pitchFamily="18" charset="0"/>
              </a:rPr>
              <a:t>When writing a text analysis, you need to avoid simply describing the events in the story. We call this “storytelling”. </a:t>
            </a:r>
          </a:p>
          <a:p>
            <a:pPr marL="0" indent="0">
              <a:lnSpc>
                <a:spcPct val="107000"/>
              </a:lnSpc>
              <a:spcAft>
                <a:spcPts val="800"/>
              </a:spcAft>
              <a:buNone/>
            </a:pPr>
            <a:r>
              <a:rPr lang="en-AU" sz="2200" dirty="0">
                <a:effectLst/>
                <a:latin typeface="Calibri" panose="020F0502020204030204" pitchFamily="34" charset="0"/>
                <a:ea typeface="Calibri" panose="020F0502020204030204" pitchFamily="34" charset="0"/>
                <a:cs typeface="Times New Roman" panose="02020603050405020304" pitchFamily="18" charset="0"/>
              </a:rPr>
              <a:t>The best way to avoid storytelling in an essay is to think about the </a:t>
            </a:r>
            <a:r>
              <a:rPr lang="en-AU" sz="2200" dirty="0">
                <a:solidFill>
                  <a:srgbClr val="00B050"/>
                </a:solidFill>
                <a:effectLst/>
                <a:latin typeface="Calibri" panose="020F0502020204030204" pitchFamily="34" charset="0"/>
                <a:ea typeface="Calibri" panose="020F0502020204030204" pitchFamily="34" charset="0"/>
                <a:cs typeface="Times New Roman" panose="02020603050405020304" pitchFamily="18" charset="0"/>
              </a:rPr>
              <a:t>verbs</a:t>
            </a:r>
            <a:r>
              <a:rPr lang="en-AU" sz="2200" dirty="0">
                <a:effectLst/>
                <a:latin typeface="Calibri" panose="020F0502020204030204" pitchFamily="34" charset="0"/>
                <a:ea typeface="Calibri" panose="020F0502020204030204" pitchFamily="34" charset="0"/>
                <a:cs typeface="Times New Roman" panose="02020603050405020304" pitchFamily="18" charset="0"/>
              </a:rPr>
              <a:t> you use in a sentence.</a:t>
            </a:r>
          </a:p>
          <a:p>
            <a:pPr marL="0" indent="0">
              <a:lnSpc>
                <a:spcPct val="107000"/>
              </a:lnSpc>
              <a:spcAft>
                <a:spcPts val="800"/>
              </a:spcAft>
              <a:buNone/>
            </a:pPr>
            <a:r>
              <a:rPr lang="en-AU" sz="2200" dirty="0">
                <a:latin typeface="Calibri" panose="020F0502020204030204" pitchFamily="34" charset="0"/>
                <a:ea typeface="Calibri" panose="020F0502020204030204" pitchFamily="34" charset="0"/>
                <a:cs typeface="Times New Roman" panose="02020603050405020304" pitchFamily="18" charset="0"/>
              </a:rPr>
              <a:t>Remember the different types of verbs we learned about in term 1:</a:t>
            </a:r>
          </a:p>
          <a:p>
            <a:pPr marL="720725" indent="0">
              <a:lnSpc>
                <a:spcPct val="107000"/>
              </a:lnSpc>
              <a:spcAft>
                <a:spcPts val="800"/>
              </a:spcAft>
              <a:buNone/>
            </a:pPr>
            <a:r>
              <a:rPr lang="en-AU" sz="2200" dirty="0">
                <a:solidFill>
                  <a:srgbClr val="00B050"/>
                </a:solidFill>
                <a:latin typeface="Calibri" panose="020F0502020204030204" pitchFamily="34" charset="0"/>
                <a:ea typeface="Calibri" panose="020F0502020204030204" pitchFamily="34" charset="0"/>
                <a:cs typeface="Times New Roman" panose="02020603050405020304" pitchFamily="18" charset="0"/>
              </a:rPr>
              <a:t>Action verbs: </a:t>
            </a:r>
            <a:r>
              <a:rPr lang="en-AU" sz="2200" i="1" dirty="0">
                <a:latin typeface="Calibri" panose="020F0502020204030204" pitchFamily="34" charset="0"/>
                <a:ea typeface="Calibri" panose="020F0502020204030204" pitchFamily="34" charset="0"/>
                <a:cs typeface="Times New Roman" panose="02020603050405020304" pitchFamily="18" charset="0"/>
              </a:rPr>
              <a:t>ran, walking, escapes</a:t>
            </a:r>
            <a:endParaRPr lang="en-AU" sz="2200" dirty="0">
              <a:latin typeface="Calibri" panose="020F0502020204030204" pitchFamily="34" charset="0"/>
              <a:ea typeface="Calibri" panose="020F0502020204030204" pitchFamily="34" charset="0"/>
              <a:cs typeface="Times New Roman" panose="02020603050405020304" pitchFamily="18" charset="0"/>
            </a:endParaRPr>
          </a:p>
          <a:p>
            <a:pPr marL="720725" indent="0">
              <a:lnSpc>
                <a:spcPct val="107000"/>
              </a:lnSpc>
              <a:spcAft>
                <a:spcPts val="800"/>
              </a:spcAft>
              <a:buNone/>
            </a:pPr>
            <a:r>
              <a:rPr lang="en-AU" sz="2200" dirty="0">
                <a:solidFill>
                  <a:srgbClr val="00B050"/>
                </a:solidFill>
                <a:latin typeface="Calibri" panose="020F0502020204030204" pitchFamily="34" charset="0"/>
                <a:ea typeface="Calibri" panose="020F0502020204030204" pitchFamily="34" charset="0"/>
                <a:cs typeface="Times New Roman" panose="02020603050405020304" pitchFamily="18" charset="0"/>
              </a:rPr>
              <a:t>Existing verbs</a:t>
            </a:r>
            <a:r>
              <a:rPr lang="en-AU" sz="2200" dirty="0">
                <a:latin typeface="Calibri" panose="020F0502020204030204" pitchFamily="34" charset="0"/>
                <a:ea typeface="Calibri" panose="020F0502020204030204" pitchFamily="34" charset="0"/>
                <a:cs typeface="Times New Roman" panose="02020603050405020304" pitchFamily="18" charset="0"/>
              </a:rPr>
              <a:t>: </a:t>
            </a:r>
            <a:r>
              <a:rPr lang="en-AU" sz="2200" i="1" dirty="0">
                <a:latin typeface="Calibri" panose="020F0502020204030204" pitchFamily="34" charset="0"/>
                <a:ea typeface="Calibri" panose="020F0502020204030204" pitchFamily="34" charset="0"/>
                <a:cs typeface="Times New Roman" panose="02020603050405020304" pitchFamily="18" charset="0"/>
              </a:rPr>
              <a:t>is, was, are</a:t>
            </a:r>
            <a:endParaRPr lang="en-AU" sz="2200" dirty="0">
              <a:latin typeface="Calibri" panose="020F0502020204030204" pitchFamily="34" charset="0"/>
              <a:ea typeface="Calibri" panose="020F0502020204030204" pitchFamily="34" charset="0"/>
              <a:cs typeface="Times New Roman" panose="02020603050405020304" pitchFamily="18" charset="0"/>
            </a:endParaRPr>
          </a:p>
          <a:p>
            <a:pPr marL="720725" indent="0">
              <a:lnSpc>
                <a:spcPct val="107000"/>
              </a:lnSpc>
              <a:spcAft>
                <a:spcPts val="800"/>
              </a:spcAft>
              <a:buNone/>
            </a:pPr>
            <a:r>
              <a:rPr lang="en-AU" sz="2200" dirty="0">
                <a:solidFill>
                  <a:srgbClr val="00B050"/>
                </a:solidFill>
                <a:effectLst/>
                <a:latin typeface="Calibri" panose="020F0502020204030204" pitchFamily="34" charset="0"/>
                <a:ea typeface="Calibri" panose="020F0502020204030204" pitchFamily="34" charset="0"/>
                <a:cs typeface="Times New Roman" panose="02020603050405020304" pitchFamily="18" charset="0"/>
              </a:rPr>
              <a:t>Thinking verbs: </a:t>
            </a:r>
            <a:r>
              <a:rPr lang="en-AU" sz="2200" i="1" dirty="0">
                <a:effectLst/>
                <a:latin typeface="Calibri" panose="020F0502020204030204" pitchFamily="34" charset="0"/>
                <a:ea typeface="Calibri" panose="020F0502020204030204" pitchFamily="34" charset="0"/>
                <a:cs typeface="Times New Roman" panose="02020603050405020304" pitchFamily="18" charset="0"/>
              </a:rPr>
              <a:t>wondering, decided, thinks</a:t>
            </a:r>
          </a:p>
          <a:p>
            <a:pPr marL="720725" indent="0">
              <a:lnSpc>
                <a:spcPct val="107000"/>
              </a:lnSpc>
              <a:spcAft>
                <a:spcPts val="800"/>
              </a:spcAft>
              <a:buNone/>
            </a:pPr>
            <a:r>
              <a:rPr lang="en-AU" sz="2200" i="1" dirty="0">
                <a:solidFill>
                  <a:srgbClr val="00B050"/>
                </a:solidFill>
                <a:latin typeface="Calibri" panose="020F0502020204030204" pitchFamily="34" charset="0"/>
                <a:ea typeface="Calibri" panose="020F0502020204030204" pitchFamily="34" charset="0"/>
                <a:cs typeface="Times New Roman" panose="02020603050405020304" pitchFamily="18" charset="0"/>
              </a:rPr>
              <a:t>Analysing verbs: </a:t>
            </a:r>
            <a:r>
              <a:rPr lang="en-AU" sz="2200" i="1" dirty="0">
                <a:latin typeface="Calibri" panose="020F0502020204030204" pitchFamily="34" charset="0"/>
                <a:ea typeface="Calibri" panose="020F0502020204030204" pitchFamily="34" charset="0"/>
                <a:cs typeface="Times New Roman" panose="02020603050405020304" pitchFamily="18" charset="0"/>
              </a:rPr>
              <a:t>explains, depicts, shows</a:t>
            </a:r>
            <a:endParaRPr lang="en-AU" sz="22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endParaRPr lang="en-AU" sz="22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3277135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0B450D-8C1B-4290-AE96-A79D4B179A0F}"/>
              </a:ext>
            </a:extLst>
          </p:cNvPr>
          <p:cNvSpPr>
            <a:spLocks noGrp="1"/>
          </p:cNvSpPr>
          <p:nvPr>
            <p:ph type="title"/>
          </p:nvPr>
        </p:nvSpPr>
        <p:spPr/>
        <p:txBody>
          <a:bodyPr/>
          <a:lstStyle/>
          <a:p>
            <a:r>
              <a:rPr lang="en-AU" sz="1800" b="1" dirty="0">
                <a:effectLst/>
                <a:latin typeface="Calibri" panose="020F0502020204030204" pitchFamily="34" charset="0"/>
                <a:ea typeface="Calibri" panose="020F0502020204030204" pitchFamily="34" charset="0"/>
                <a:cs typeface="Times New Roman" panose="02020603050405020304" pitchFamily="18" charset="0"/>
              </a:rPr>
              <a:t>Stretch goal: Choosing powerful </a:t>
            </a:r>
            <a:r>
              <a:rPr lang="en-AU" sz="1800" b="1" dirty="0" err="1">
                <a:effectLst/>
                <a:latin typeface="Calibri" panose="020F0502020204030204" pitchFamily="34" charset="0"/>
                <a:ea typeface="Calibri" panose="020F0502020204030204" pitchFamily="34" charset="0"/>
                <a:cs typeface="Times New Roman" panose="02020603050405020304" pitchFamily="18" charset="0"/>
              </a:rPr>
              <a:t>verbS</a:t>
            </a:r>
            <a:endParaRPr lang="en-AU" dirty="0"/>
          </a:p>
        </p:txBody>
      </p:sp>
      <p:sp>
        <p:nvSpPr>
          <p:cNvPr id="3" name="Content Placeholder 2">
            <a:extLst>
              <a:ext uri="{FF2B5EF4-FFF2-40B4-BE49-F238E27FC236}">
                <a16:creationId xmlns:a16="http://schemas.microsoft.com/office/drawing/2014/main" id="{8816A617-451A-41DC-8728-4018A0BC4C17}"/>
              </a:ext>
            </a:extLst>
          </p:cNvPr>
          <p:cNvSpPr>
            <a:spLocks noGrp="1"/>
          </p:cNvSpPr>
          <p:nvPr>
            <p:ph idx="1"/>
          </p:nvPr>
        </p:nvSpPr>
        <p:spPr/>
        <p:txBody>
          <a:bodyPr>
            <a:normAutofit fontScale="85000" lnSpcReduction="20000"/>
          </a:bodyPr>
          <a:lstStyle/>
          <a:p>
            <a:pPr marL="151200" indent="0">
              <a:lnSpc>
                <a:spcPct val="107000"/>
              </a:lnSpc>
              <a:spcAft>
                <a:spcPts val="800"/>
              </a:spcAft>
              <a:buNone/>
            </a:pPr>
            <a:r>
              <a:rPr lang="en-AU" sz="2200" b="1" dirty="0">
                <a:solidFill>
                  <a:srgbClr val="00B050"/>
                </a:solidFill>
                <a:effectLst/>
                <a:latin typeface="Calibri" panose="020F0502020204030204" pitchFamily="34" charset="0"/>
                <a:ea typeface="Calibri" panose="020F0502020204030204" pitchFamily="34" charset="0"/>
                <a:cs typeface="Times New Roman" panose="02020603050405020304" pitchFamily="18" charset="0"/>
              </a:rPr>
              <a:t>Simple action verbs</a:t>
            </a:r>
            <a:r>
              <a:rPr lang="en-AU" sz="2200" dirty="0">
                <a:solidFill>
                  <a:srgbClr val="00B050"/>
                </a:solidFill>
                <a:effectLst/>
                <a:latin typeface="Calibri" panose="020F0502020204030204" pitchFamily="34" charset="0"/>
                <a:ea typeface="Calibri" panose="020F0502020204030204" pitchFamily="34" charset="0"/>
                <a:cs typeface="Times New Roman" panose="02020603050405020304" pitchFamily="18" charset="0"/>
              </a:rPr>
              <a:t> (</a:t>
            </a:r>
            <a:r>
              <a:rPr lang="en-AU" sz="2200" i="1" dirty="0">
                <a:solidFill>
                  <a:srgbClr val="00B050"/>
                </a:solidFill>
                <a:effectLst/>
                <a:latin typeface="Calibri" panose="020F0502020204030204" pitchFamily="34" charset="0"/>
                <a:ea typeface="Calibri" panose="020F0502020204030204" pitchFamily="34" charset="0"/>
                <a:cs typeface="Times New Roman" panose="02020603050405020304" pitchFamily="18" charset="0"/>
              </a:rPr>
              <a:t>walked</a:t>
            </a:r>
            <a:r>
              <a:rPr lang="en-AU" sz="2200" dirty="0">
                <a:solidFill>
                  <a:srgbClr val="00B050"/>
                </a:solidFill>
                <a:effectLst/>
                <a:latin typeface="Calibri" panose="020F0502020204030204" pitchFamily="34" charset="0"/>
                <a:ea typeface="Calibri" panose="020F0502020204030204" pitchFamily="34" charset="0"/>
                <a:cs typeface="Times New Roman" panose="02020603050405020304" pitchFamily="18" charset="0"/>
              </a:rPr>
              <a:t>, </a:t>
            </a:r>
            <a:r>
              <a:rPr lang="en-AU" sz="2200" i="1" dirty="0">
                <a:solidFill>
                  <a:srgbClr val="00B050"/>
                </a:solidFill>
                <a:effectLst/>
                <a:latin typeface="Calibri" panose="020F0502020204030204" pitchFamily="34" charset="0"/>
                <a:ea typeface="Calibri" panose="020F0502020204030204" pitchFamily="34" charset="0"/>
                <a:cs typeface="Times New Roman" panose="02020603050405020304" pitchFamily="18" charset="0"/>
              </a:rPr>
              <a:t>escape</a:t>
            </a:r>
            <a:r>
              <a:rPr lang="en-AU" sz="2200" dirty="0">
                <a:solidFill>
                  <a:srgbClr val="00B050"/>
                </a:solidFill>
                <a:effectLst/>
                <a:latin typeface="Calibri" panose="020F0502020204030204" pitchFamily="34" charset="0"/>
                <a:ea typeface="Calibri" panose="020F0502020204030204" pitchFamily="34" charset="0"/>
                <a:cs typeface="Times New Roman" panose="02020603050405020304" pitchFamily="18" charset="0"/>
              </a:rPr>
              <a:t>, </a:t>
            </a:r>
            <a:r>
              <a:rPr lang="en-AU" sz="2200" i="1" dirty="0">
                <a:solidFill>
                  <a:srgbClr val="00B050"/>
                </a:solidFill>
                <a:effectLst/>
                <a:latin typeface="Calibri" panose="020F0502020204030204" pitchFamily="34" charset="0"/>
                <a:ea typeface="Calibri" panose="020F0502020204030204" pitchFamily="34" charset="0"/>
                <a:cs typeface="Times New Roman" panose="02020603050405020304" pitchFamily="18" charset="0"/>
              </a:rPr>
              <a:t>runs</a:t>
            </a:r>
            <a:r>
              <a:rPr lang="en-AU" sz="2200" dirty="0">
                <a:solidFill>
                  <a:srgbClr val="00B050"/>
                </a:solidFill>
                <a:effectLst/>
                <a:latin typeface="Calibri" panose="020F0502020204030204" pitchFamily="34" charset="0"/>
                <a:ea typeface="Calibri" panose="020F0502020204030204" pitchFamily="34" charset="0"/>
                <a:cs typeface="Times New Roman" panose="02020603050405020304" pitchFamily="18" charset="0"/>
              </a:rPr>
              <a:t>, etc)</a:t>
            </a:r>
          </a:p>
          <a:p>
            <a:pPr marL="608400" indent="0">
              <a:lnSpc>
                <a:spcPct val="107000"/>
              </a:lnSpc>
              <a:spcAft>
                <a:spcPts val="800"/>
              </a:spcAft>
              <a:buNone/>
            </a:pPr>
            <a:r>
              <a:rPr lang="en-AU" sz="2200" dirty="0">
                <a:effectLst/>
                <a:latin typeface="Calibri" panose="020F0502020204030204" pitchFamily="34" charset="0"/>
                <a:ea typeface="Calibri" panose="020F0502020204030204" pitchFamily="34" charset="0"/>
                <a:cs typeface="Times New Roman" panose="02020603050405020304" pitchFamily="18" charset="0"/>
              </a:rPr>
              <a:t>When describing a character, these verbs lead to storytelling. </a:t>
            </a:r>
          </a:p>
          <a:p>
            <a:pPr marL="608400" indent="0">
              <a:lnSpc>
                <a:spcPct val="107000"/>
              </a:lnSpc>
              <a:spcAft>
                <a:spcPts val="800"/>
              </a:spcAft>
              <a:buNone/>
            </a:pPr>
            <a:r>
              <a:rPr lang="en-AU" sz="2200" dirty="0">
                <a:effectLst/>
                <a:latin typeface="Calibri" panose="020F0502020204030204" pitchFamily="34" charset="0"/>
                <a:ea typeface="Calibri" panose="020F0502020204030204" pitchFamily="34" charset="0"/>
                <a:cs typeface="Times New Roman" panose="02020603050405020304" pitchFamily="18" charset="0"/>
              </a:rPr>
              <a:t>Rather than telling the reader that “Molly and the girls walked through the desert”, try describing what this tells us about their character using one of the other verb types below.</a:t>
            </a:r>
          </a:p>
          <a:p>
            <a:pPr marL="151200" indent="0">
              <a:lnSpc>
                <a:spcPct val="107000"/>
              </a:lnSpc>
              <a:spcAft>
                <a:spcPts val="800"/>
              </a:spcAft>
              <a:buNone/>
            </a:pPr>
            <a:r>
              <a:rPr lang="en-AU" sz="2200" b="1" dirty="0">
                <a:solidFill>
                  <a:srgbClr val="00B050"/>
                </a:solidFill>
                <a:effectLst/>
                <a:latin typeface="Calibri" panose="020F0502020204030204" pitchFamily="34" charset="0"/>
                <a:ea typeface="Calibri" panose="020F0502020204030204" pitchFamily="34" charset="0"/>
                <a:cs typeface="Times New Roman" panose="02020603050405020304" pitchFamily="18" charset="0"/>
              </a:rPr>
              <a:t>Existing verbs</a:t>
            </a:r>
            <a:r>
              <a:rPr lang="en-AU" sz="2200" dirty="0">
                <a:solidFill>
                  <a:srgbClr val="00B050"/>
                </a:solidFill>
                <a:effectLst/>
                <a:latin typeface="Calibri" panose="020F0502020204030204" pitchFamily="34" charset="0"/>
                <a:ea typeface="Calibri" panose="020F0502020204030204" pitchFamily="34" charset="0"/>
                <a:cs typeface="Times New Roman" panose="02020603050405020304" pitchFamily="18" charset="0"/>
              </a:rPr>
              <a:t> (</a:t>
            </a:r>
            <a:r>
              <a:rPr lang="en-AU" sz="2200" i="1" dirty="0">
                <a:solidFill>
                  <a:srgbClr val="00B050"/>
                </a:solidFill>
                <a:effectLst/>
                <a:latin typeface="Calibri" panose="020F0502020204030204" pitchFamily="34" charset="0"/>
                <a:ea typeface="Calibri" panose="020F0502020204030204" pitchFamily="34" charset="0"/>
                <a:cs typeface="Times New Roman" panose="02020603050405020304" pitchFamily="18" charset="0"/>
              </a:rPr>
              <a:t>is</a:t>
            </a:r>
            <a:r>
              <a:rPr lang="en-AU" sz="2200" dirty="0">
                <a:solidFill>
                  <a:srgbClr val="00B050"/>
                </a:solidFill>
                <a:effectLst/>
                <a:latin typeface="Calibri" panose="020F0502020204030204" pitchFamily="34" charset="0"/>
                <a:ea typeface="Calibri" panose="020F0502020204030204" pitchFamily="34" charset="0"/>
                <a:cs typeface="Times New Roman" panose="02020603050405020304" pitchFamily="18" charset="0"/>
              </a:rPr>
              <a:t>, </a:t>
            </a:r>
            <a:r>
              <a:rPr lang="en-AU" sz="2200" i="1" dirty="0">
                <a:solidFill>
                  <a:srgbClr val="00B050"/>
                </a:solidFill>
                <a:effectLst/>
                <a:latin typeface="Calibri" panose="020F0502020204030204" pitchFamily="34" charset="0"/>
                <a:ea typeface="Calibri" panose="020F0502020204030204" pitchFamily="34" charset="0"/>
                <a:cs typeface="Times New Roman" panose="02020603050405020304" pitchFamily="18" charset="0"/>
              </a:rPr>
              <a:t>was</a:t>
            </a:r>
            <a:r>
              <a:rPr lang="en-AU" sz="2200" dirty="0">
                <a:solidFill>
                  <a:srgbClr val="00B050"/>
                </a:solidFill>
                <a:effectLst/>
                <a:latin typeface="Calibri" panose="020F0502020204030204" pitchFamily="34" charset="0"/>
                <a:ea typeface="Calibri" panose="020F0502020204030204" pitchFamily="34" charset="0"/>
                <a:cs typeface="Times New Roman" panose="02020603050405020304" pitchFamily="18" charset="0"/>
              </a:rPr>
              <a:t>, </a:t>
            </a:r>
            <a:r>
              <a:rPr lang="en-AU" sz="2200" i="1" dirty="0">
                <a:solidFill>
                  <a:srgbClr val="00B050"/>
                </a:solidFill>
                <a:effectLst/>
                <a:latin typeface="Calibri" panose="020F0502020204030204" pitchFamily="34" charset="0"/>
                <a:ea typeface="Calibri" panose="020F0502020204030204" pitchFamily="34" charset="0"/>
                <a:cs typeface="Times New Roman" panose="02020603050405020304" pitchFamily="18" charset="0"/>
              </a:rPr>
              <a:t>are</a:t>
            </a:r>
            <a:r>
              <a:rPr lang="en-AU" sz="2200" dirty="0">
                <a:solidFill>
                  <a:srgbClr val="00B050"/>
                </a:solidFill>
                <a:effectLst/>
                <a:latin typeface="Calibri" panose="020F0502020204030204" pitchFamily="34" charset="0"/>
                <a:ea typeface="Calibri" panose="020F0502020204030204" pitchFamily="34" charset="0"/>
                <a:cs typeface="Times New Roman" panose="02020603050405020304" pitchFamily="18" charset="0"/>
              </a:rPr>
              <a:t>, </a:t>
            </a:r>
            <a:r>
              <a:rPr lang="en-AU" sz="2200" i="1" dirty="0">
                <a:solidFill>
                  <a:srgbClr val="00B050"/>
                </a:solidFill>
                <a:effectLst/>
                <a:latin typeface="Calibri" panose="020F0502020204030204" pitchFamily="34" charset="0"/>
                <a:ea typeface="Calibri" panose="020F0502020204030204" pitchFamily="34" charset="0"/>
                <a:cs typeface="Times New Roman" panose="02020603050405020304" pitchFamily="18" charset="0"/>
              </a:rPr>
              <a:t>were</a:t>
            </a:r>
            <a:r>
              <a:rPr lang="en-AU" sz="2200" dirty="0">
                <a:solidFill>
                  <a:srgbClr val="00B050"/>
                </a:solidFill>
                <a:effectLst/>
                <a:latin typeface="Calibri" panose="020F0502020204030204" pitchFamily="34" charset="0"/>
                <a:ea typeface="Calibri" panose="020F0502020204030204" pitchFamily="34" charset="0"/>
                <a:cs typeface="Times New Roman" panose="02020603050405020304" pitchFamily="18" charset="0"/>
              </a:rPr>
              <a:t>, etc)</a:t>
            </a:r>
          </a:p>
          <a:p>
            <a:pPr marL="608400" indent="0">
              <a:lnSpc>
                <a:spcPct val="107000"/>
              </a:lnSpc>
              <a:spcAft>
                <a:spcPts val="800"/>
              </a:spcAft>
              <a:buNone/>
            </a:pPr>
            <a:r>
              <a:rPr lang="en-AU" sz="2200" dirty="0">
                <a:effectLst/>
                <a:latin typeface="Calibri" panose="020F0502020204030204" pitchFamily="34" charset="0"/>
                <a:ea typeface="Calibri" panose="020F0502020204030204" pitchFamily="34" charset="0"/>
                <a:cs typeface="Times New Roman" panose="02020603050405020304" pitchFamily="18" charset="0"/>
              </a:rPr>
              <a:t>These verbs can be simple and effective, so long as they aren’t used for storytelling. “Molly is an example of a character that shows persistence.”</a:t>
            </a:r>
          </a:p>
          <a:p>
            <a:pPr marL="151200" indent="0">
              <a:lnSpc>
                <a:spcPct val="107000"/>
              </a:lnSpc>
              <a:spcAft>
                <a:spcPts val="800"/>
              </a:spcAft>
              <a:buNone/>
            </a:pPr>
            <a:r>
              <a:rPr lang="en-AU" sz="2200" b="1" dirty="0">
                <a:solidFill>
                  <a:srgbClr val="00B050"/>
                </a:solidFill>
                <a:effectLst/>
                <a:latin typeface="Calibri" panose="020F0502020204030204" pitchFamily="34" charset="0"/>
                <a:ea typeface="Calibri" panose="020F0502020204030204" pitchFamily="34" charset="0"/>
                <a:cs typeface="Times New Roman" panose="02020603050405020304" pitchFamily="18" charset="0"/>
              </a:rPr>
              <a:t>Analysing verbs</a:t>
            </a:r>
            <a:r>
              <a:rPr lang="en-AU" sz="2200" dirty="0">
                <a:solidFill>
                  <a:srgbClr val="00B050"/>
                </a:solidFill>
                <a:effectLst/>
                <a:latin typeface="Calibri" panose="020F0502020204030204" pitchFamily="34" charset="0"/>
                <a:ea typeface="Calibri" panose="020F0502020204030204" pitchFamily="34" charset="0"/>
                <a:cs typeface="Times New Roman" panose="02020603050405020304" pitchFamily="18" charset="0"/>
              </a:rPr>
              <a:t> (shows, describes, depicts, explains)</a:t>
            </a:r>
          </a:p>
          <a:p>
            <a:pPr marL="608400" indent="0">
              <a:lnSpc>
                <a:spcPct val="107000"/>
              </a:lnSpc>
              <a:spcAft>
                <a:spcPts val="800"/>
              </a:spcAft>
              <a:buNone/>
            </a:pPr>
            <a:r>
              <a:rPr lang="en-AU" sz="2200" dirty="0">
                <a:effectLst/>
                <a:latin typeface="Calibri" panose="020F0502020204030204" pitchFamily="34" charset="0"/>
                <a:ea typeface="Calibri" panose="020F0502020204030204" pitchFamily="34" charset="0"/>
                <a:cs typeface="Times New Roman" panose="02020603050405020304" pitchFamily="18" charset="0"/>
              </a:rPr>
              <a:t>These verbs are excellent at explaining your ideas instead of recounting the story. “Molly shows great courage as she walks home through the desert.”</a:t>
            </a:r>
          </a:p>
        </p:txBody>
      </p:sp>
    </p:spTree>
    <p:extLst>
      <p:ext uri="{BB962C8B-B14F-4D97-AF65-F5344CB8AC3E}">
        <p14:creationId xmlns:p14="http://schemas.microsoft.com/office/powerpoint/2010/main" val="35944996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3CED7894-4F62-4A6C-8DB5-DB5BE08E9C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lumMod val="75000"/>
              <a:lumOff val="2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 name="Title 1">
            <a:extLst>
              <a:ext uri="{FF2B5EF4-FFF2-40B4-BE49-F238E27FC236}">
                <a16:creationId xmlns:a16="http://schemas.microsoft.com/office/drawing/2014/main" id="{F7FBD757-3742-440E-AE2D-2CD9067684D4}"/>
              </a:ext>
            </a:extLst>
          </p:cNvPr>
          <p:cNvSpPr>
            <a:spLocks noGrp="1"/>
          </p:cNvSpPr>
          <p:nvPr>
            <p:ph type="title"/>
          </p:nvPr>
        </p:nvSpPr>
        <p:spPr>
          <a:xfrm>
            <a:off x="609906" y="702155"/>
            <a:ext cx="3568661" cy="1269713"/>
          </a:xfrm>
        </p:spPr>
        <p:txBody>
          <a:bodyPr>
            <a:normAutofit/>
          </a:bodyPr>
          <a:lstStyle/>
          <a:p>
            <a:pPr>
              <a:lnSpc>
                <a:spcPct val="90000"/>
              </a:lnSpc>
            </a:pPr>
            <a:r>
              <a:rPr lang="en-AU" b="1">
                <a:effectLst/>
                <a:latin typeface="Calibri" panose="020F0502020204030204" pitchFamily="34" charset="0"/>
                <a:ea typeface="Calibri" panose="020F0502020204030204" pitchFamily="34" charset="0"/>
                <a:cs typeface="Times New Roman" panose="02020603050405020304" pitchFamily="18" charset="0"/>
              </a:rPr>
              <a:t>Stretch goal: Choosing powerful </a:t>
            </a:r>
            <a:r>
              <a:rPr lang="en-AU" b="1" err="1">
                <a:effectLst/>
                <a:latin typeface="Calibri" panose="020F0502020204030204" pitchFamily="34" charset="0"/>
                <a:ea typeface="Calibri" panose="020F0502020204030204" pitchFamily="34" charset="0"/>
                <a:cs typeface="Times New Roman" panose="02020603050405020304" pitchFamily="18" charset="0"/>
              </a:rPr>
              <a:t>verbS</a:t>
            </a:r>
            <a:endParaRPr lang="en-AU"/>
          </a:p>
        </p:txBody>
      </p:sp>
      <p:sp>
        <p:nvSpPr>
          <p:cNvPr id="11" name="Rectangle 10">
            <a:extLst>
              <a:ext uri="{FF2B5EF4-FFF2-40B4-BE49-F238E27FC236}">
                <a16:creationId xmlns:a16="http://schemas.microsoft.com/office/drawing/2014/main" id="{E536F3B4-50F6-4C52-8F76-4EB1214719D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8620" y="457200"/>
            <a:ext cx="3511233" cy="91439"/>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3" name="Content Placeholder 2">
            <a:extLst>
              <a:ext uri="{FF2B5EF4-FFF2-40B4-BE49-F238E27FC236}">
                <a16:creationId xmlns:a16="http://schemas.microsoft.com/office/drawing/2014/main" id="{2ED0C459-27B7-4C01-BB02-D912069DFFBD}"/>
              </a:ext>
            </a:extLst>
          </p:cNvPr>
          <p:cNvSpPr>
            <a:spLocks noGrp="1"/>
          </p:cNvSpPr>
          <p:nvPr>
            <p:ph idx="1"/>
          </p:nvPr>
        </p:nvSpPr>
        <p:spPr>
          <a:xfrm>
            <a:off x="609906" y="2340864"/>
            <a:ext cx="3568661" cy="3634486"/>
          </a:xfrm>
        </p:spPr>
        <p:txBody>
          <a:bodyPr>
            <a:normAutofit/>
          </a:bodyPr>
          <a:lstStyle/>
          <a:p>
            <a:pPr marL="0" indent="0">
              <a:spcAft>
                <a:spcPts val="800"/>
              </a:spcAft>
              <a:buNone/>
            </a:pPr>
            <a:r>
              <a:rPr lang="en-AU" sz="2000" b="1" i="1" dirty="0">
                <a:effectLst/>
                <a:latin typeface="Calibri" panose="020F0502020204030204" pitchFamily="34" charset="0"/>
                <a:ea typeface="Calibri" panose="020F0502020204030204" pitchFamily="34" charset="0"/>
                <a:cs typeface="Times New Roman" panose="02020603050405020304" pitchFamily="18" charset="0"/>
              </a:rPr>
              <a:t>Exercise</a:t>
            </a:r>
          </a:p>
          <a:p>
            <a:pPr marL="0" indent="0">
              <a:spcAft>
                <a:spcPts val="800"/>
              </a:spcAft>
              <a:buNone/>
            </a:pPr>
            <a:r>
              <a:rPr lang="en-AU" sz="2000" dirty="0">
                <a:effectLst/>
                <a:latin typeface="Calibri" panose="020F0502020204030204" pitchFamily="34" charset="0"/>
                <a:ea typeface="Calibri" panose="020F0502020204030204" pitchFamily="34" charset="0"/>
                <a:cs typeface="Times New Roman" panose="02020603050405020304" pitchFamily="18" charset="0"/>
              </a:rPr>
              <a:t>Try to re-write your five character sentences above by using analysing verbs to explain your ideas.</a:t>
            </a:r>
          </a:p>
          <a:p>
            <a:pPr marL="0" indent="0">
              <a:spcAft>
                <a:spcPts val="800"/>
              </a:spcAft>
              <a:buNone/>
            </a:pPr>
            <a:r>
              <a:rPr lang="en-AU" sz="2000" dirty="0">
                <a:effectLst/>
                <a:latin typeface="Calibri" panose="020F0502020204030204" pitchFamily="34" charset="0"/>
                <a:ea typeface="Calibri" panose="020F0502020204030204" pitchFamily="34" charset="0"/>
                <a:cs typeface="Times New Roman" panose="02020603050405020304" pitchFamily="18" charset="0"/>
              </a:rPr>
              <a:t>See if you can use some of the words from this list to help you:</a:t>
            </a:r>
          </a:p>
          <a:p>
            <a:pPr marL="0" indent="0">
              <a:spcAft>
                <a:spcPts val="800"/>
              </a:spcAft>
              <a:buNone/>
            </a:pPr>
            <a:r>
              <a:rPr lang="en-AU" sz="2000" i="1" dirty="0">
                <a:effectLst/>
                <a:latin typeface="Calibri" panose="020F0502020204030204" pitchFamily="34" charset="0"/>
                <a:ea typeface="Calibri" panose="020F0502020204030204" pitchFamily="34" charset="0"/>
                <a:cs typeface="Times New Roman" panose="02020603050405020304" pitchFamily="18" charset="0"/>
              </a:rPr>
              <a:t>Write the five sentences in your exercise books:</a:t>
            </a:r>
            <a:endParaRPr lang="en-AU" sz="2000" dirty="0">
              <a:effectLst/>
              <a:latin typeface="Calibri" panose="020F0502020204030204" pitchFamily="34" charset="0"/>
              <a:ea typeface="Calibri" panose="020F0502020204030204" pitchFamily="34" charset="0"/>
              <a:cs typeface="Times New Roman" panose="02020603050405020304" pitchFamily="18" charset="0"/>
            </a:endParaRPr>
          </a:p>
        </p:txBody>
      </p:sp>
      <p:graphicFrame>
        <p:nvGraphicFramePr>
          <p:cNvPr id="4" name="Table 3">
            <a:extLst>
              <a:ext uri="{FF2B5EF4-FFF2-40B4-BE49-F238E27FC236}">
                <a16:creationId xmlns:a16="http://schemas.microsoft.com/office/drawing/2014/main" id="{92BA4930-9BA9-44CF-9433-71BCE9435783}"/>
              </a:ext>
            </a:extLst>
          </p:cNvPr>
          <p:cNvGraphicFramePr>
            <a:graphicFrameLocks noGrp="1"/>
          </p:cNvGraphicFramePr>
          <p:nvPr>
            <p:extLst>
              <p:ext uri="{D42A27DB-BD31-4B8C-83A1-F6EECF244321}">
                <p14:modId xmlns:p14="http://schemas.microsoft.com/office/powerpoint/2010/main" val="1886984254"/>
              </p:ext>
            </p:extLst>
          </p:nvPr>
        </p:nvGraphicFramePr>
        <p:xfrm>
          <a:off x="4654296" y="1740177"/>
          <a:ext cx="6735274" cy="3197153"/>
        </p:xfrm>
        <a:graphic>
          <a:graphicData uri="http://schemas.openxmlformats.org/drawingml/2006/table">
            <a:tbl>
              <a:tblPr firstRow="1" firstCol="1" bandRow="1">
                <a:noFill/>
                <a:tableStyleId>{5C22544A-7EE6-4342-B048-85BDC9FD1C3A}</a:tableStyleId>
              </a:tblPr>
              <a:tblGrid>
                <a:gridCol w="2247918">
                  <a:extLst>
                    <a:ext uri="{9D8B030D-6E8A-4147-A177-3AD203B41FA5}">
                      <a16:colId xmlns:a16="http://schemas.microsoft.com/office/drawing/2014/main" val="518495839"/>
                    </a:ext>
                  </a:extLst>
                </a:gridCol>
                <a:gridCol w="2427248">
                  <a:extLst>
                    <a:ext uri="{9D8B030D-6E8A-4147-A177-3AD203B41FA5}">
                      <a16:colId xmlns:a16="http://schemas.microsoft.com/office/drawing/2014/main" val="624020830"/>
                    </a:ext>
                  </a:extLst>
                </a:gridCol>
                <a:gridCol w="2060108">
                  <a:extLst>
                    <a:ext uri="{9D8B030D-6E8A-4147-A177-3AD203B41FA5}">
                      <a16:colId xmlns:a16="http://schemas.microsoft.com/office/drawing/2014/main" val="3626163155"/>
                    </a:ext>
                  </a:extLst>
                </a:gridCol>
              </a:tblGrid>
              <a:tr h="3197153">
                <a:tc>
                  <a:txBody>
                    <a:bodyPr/>
                    <a:lstStyle/>
                    <a:p>
                      <a:pPr marL="470535">
                        <a:lnSpc>
                          <a:spcPct val="107000"/>
                        </a:lnSpc>
                        <a:spcAft>
                          <a:spcPts val="800"/>
                        </a:spcAft>
                      </a:pPr>
                      <a:r>
                        <a:rPr lang="en-AU" sz="2000" b="1" cap="none" spc="0" dirty="0">
                          <a:solidFill>
                            <a:schemeClr val="tx1"/>
                          </a:solidFill>
                          <a:effectLst/>
                        </a:rPr>
                        <a:t>shows</a:t>
                      </a:r>
                    </a:p>
                    <a:p>
                      <a:pPr marL="470535">
                        <a:lnSpc>
                          <a:spcPct val="107000"/>
                        </a:lnSpc>
                        <a:spcAft>
                          <a:spcPts val="800"/>
                        </a:spcAft>
                      </a:pPr>
                      <a:r>
                        <a:rPr lang="en-AU" sz="2000" b="1" cap="none" spc="0" dirty="0">
                          <a:solidFill>
                            <a:schemeClr val="tx1"/>
                          </a:solidFill>
                          <a:effectLst/>
                        </a:rPr>
                        <a:t>describes</a:t>
                      </a:r>
                    </a:p>
                    <a:p>
                      <a:pPr marL="470535">
                        <a:lnSpc>
                          <a:spcPct val="107000"/>
                        </a:lnSpc>
                        <a:spcAft>
                          <a:spcPts val="800"/>
                        </a:spcAft>
                      </a:pPr>
                      <a:r>
                        <a:rPr lang="en-AU" sz="2000" b="1" cap="none" spc="0" dirty="0">
                          <a:solidFill>
                            <a:schemeClr val="tx1"/>
                          </a:solidFill>
                          <a:effectLst/>
                        </a:rPr>
                        <a:t>depicts</a:t>
                      </a:r>
                    </a:p>
                    <a:p>
                      <a:pPr marL="470535">
                        <a:lnSpc>
                          <a:spcPct val="107000"/>
                        </a:lnSpc>
                        <a:spcAft>
                          <a:spcPts val="800"/>
                        </a:spcAft>
                      </a:pPr>
                      <a:r>
                        <a:rPr lang="en-AU" sz="2000" b="1" cap="none" spc="0" dirty="0">
                          <a:solidFill>
                            <a:schemeClr val="tx1"/>
                          </a:solidFill>
                          <a:effectLst/>
                        </a:rPr>
                        <a:t>explains</a:t>
                      </a:r>
                    </a:p>
                    <a:p>
                      <a:pPr marL="470535">
                        <a:lnSpc>
                          <a:spcPct val="107000"/>
                        </a:lnSpc>
                        <a:spcAft>
                          <a:spcPts val="800"/>
                        </a:spcAft>
                      </a:pPr>
                      <a:r>
                        <a:rPr lang="en-AU" sz="2000" b="1" cap="none" spc="0" dirty="0">
                          <a:solidFill>
                            <a:schemeClr val="tx1"/>
                          </a:solidFill>
                          <a:effectLst/>
                        </a:rPr>
                        <a:t>defines</a:t>
                      </a:r>
                    </a:p>
                    <a:p>
                      <a:pPr marL="470535">
                        <a:lnSpc>
                          <a:spcPct val="107000"/>
                        </a:lnSpc>
                        <a:spcAft>
                          <a:spcPts val="800"/>
                        </a:spcAft>
                      </a:pPr>
                      <a:r>
                        <a:rPr lang="en-AU" sz="2000" b="1" cap="none" spc="0" dirty="0">
                          <a:solidFill>
                            <a:schemeClr val="tx1"/>
                          </a:solidFill>
                          <a:effectLst/>
                        </a:rPr>
                        <a:t>challenges</a:t>
                      </a:r>
                      <a:endParaRPr lang="en-AU" sz="2000" b="1" cap="none" spc="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81425" marR="87241" marT="23264" marB="174483" anchor="b">
                    <a:lnL w="12700" cmpd="sng">
                      <a:noFill/>
                    </a:lnL>
                    <a:lnR w="12700" cmpd="sng">
                      <a:noFill/>
                    </a:lnR>
                    <a:lnT w="9525" cap="flat" cmpd="sng" algn="ctr">
                      <a:noFill/>
                      <a:prstDash val="solid"/>
                    </a:lnT>
                    <a:lnB w="38100" cmpd="sng">
                      <a:noFill/>
                    </a:lnB>
                    <a:noFill/>
                  </a:tcPr>
                </a:tc>
                <a:tc>
                  <a:txBody>
                    <a:bodyPr/>
                    <a:lstStyle/>
                    <a:p>
                      <a:pPr marL="470535">
                        <a:lnSpc>
                          <a:spcPct val="107000"/>
                        </a:lnSpc>
                        <a:spcAft>
                          <a:spcPts val="800"/>
                        </a:spcAft>
                      </a:pPr>
                      <a:r>
                        <a:rPr lang="en-AU" sz="2000" b="1" cap="none" spc="0">
                          <a:solidFill>
                            <a:schemeClr val="tx1"/>
                          </a:solidFill>
                          <a:effectLst/>
                        </a:rPr>
                        <a:t>contrasts</a:t>
                      </a:r>
                    </a:p>
                    <a:p>
                      <a:pPr marL="470535">
                        <a:lnSpc>
                          <a:spcPct val="107000"/>
                        </a:lnSpc>
                        <a:spcAft>
                          <a:spcPts val="800"/>
                        </a:spcAft>
                      </a:pPr>
                      <a:r>
                        <a:rPr lang="en-AU" sz="2000" b="1" cap="none" spc="0">
                          <a:solidFill>
                            <a:schemeClr val="tx1"/>
                          </a:solidFill>
                          <a:effectLst/>
                        </a:rPr>
                        <a:t>appears</a:t>
                      </a:r>
                    </a:p>
                    <a:p>
                      <a:pPr marL="470535">
                        <a:lnSpc>
                          <a:spcPct val="107000"/>
                        </a:lnSpc>
                        <a:spcAft>
                          <a:spcPts val="800"/>
                        </a:spcAft>
                      </a:pPr>
                      <a:r>
                        <a:rPr lang="en-AU" sz="2000" b="1" cap="none" spc="0">
                          <a:solidFill>
                            <a:schemeClr val="tx1"/>
                          </a:solidFill>
                          <a:effectLst/>
                        </a:rPr>
                        <a:t>demonstrates</a:t>
                      </a:r>
                    </a:p>
                    <a:p>
                      <a:pPr marL="470535">
                        <a:lnSpc>
                          <a:spcPct val="107000"/>
                        </a:lnSpc>
                        <a:spcAft>
                          <a:spcPts val="800"/>
                        </a:spcAft>
                      </a:pPr>
                      <a:r>
                        <a:rPr lang="en-AU" sz="2000" b="1" cap="none" spc="0">
                          <a:solidFill>
                            <a:schemeClr val="tx1"/>
                          </a:solidFill>
                          <a:effectLst/>
                        </a:rPr>
                        <a:t>illustrates</a:t>
                      </a:r>
                    </a:p>
                    <a:p>
                      <a:pPr marL="470535">
                        <a:lnSpc>
                          <a:spcPct val="107000"/>
                        </a:lnSpc>
                        <a:spcAft>
                          <a:spcPts val="800"/>
                        </a:spcAft>
                      </a:pPr>
                      <a:r>
                        <a:rPr lang="en-AU" sz="2000" b="1" cap="none" spc="0">
                          <a:solidFill>
                            <a:schemeClr val="tx1"/>
                          </a:solidFill>
                          <a:effectLst/>
                        </a:rPr>
                        <a:t>displays</a:t>
                      </a:r>
                    </a:p>
                    <a:p>
                      <a:pPr marL="470535">
                        <a:lnSpc>
                          <a:spcPct val="107000"/>
                        </a:lnSpc>
                        <a:spcAft>
                          <a:spcPts val="800"/>
                        </a:spcAft>
                      </a:pPr>
                      <a:r>
                        <a:rPr lang="en-AU" sz="2000" b="1" cap="none" spc="0">
                          <a:solidFill>
                            <a:schemeClr val="tx1"/>
                          </a:solidFill>
                          <a:effectLst/>
                        </a:rPr>
                        <a:t>relates</a:t>
                      </a:r>
                      <a:endParaRPr lang="en-AU" sz="2000" b="1" cap="none" spc="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81425" marR="87241" marT="23264" marB="174483" anchor="b">
                    <a:lnL w="12700" cmpd="sng">
                      <a:noFill/>
                    </a:lnL>
                    <a:lnR w="12700" cmpd="sng">
                      <a:noFill/>
                    </a:lnR>
                    <a:lnT w="9525" cap="flat" cmpd="sng" algn="ctr">
                      <a:noFill/>
                      <a:prstDash val="solid"/>
                    </a:lnT>
                    <a:lnB w="38100" cmpd="sng">
                      <a:noFill/>
                    </a:lnB>
                    <a:noFill/>
                  </a:tcPr>
                </a:tc>
                <a:tc>
                  <a:txBody>
                    <a:bodyPr/>
                    <a:lstStyle/>
                    <a:p>
                      <a:pPr marL="470535">
                        <a:lnSpc>
                          <a:spcPct val="107000"/>
                        </a:lnSpc>
                        <a:spcAft>
                          <a:spcPts val="800"/>
                        </a:spcAft>
                      </a:pPr>
                      <a:r>
                        <a:rPr lang="en-AU" sz="2000" b="1" cap="none" spc="0" dirty="0">
                          <a:solidFill>
                            <a:schemeClr val="tx1"/>
                          </a:solidFill>
                          <a:effectLst/>
                        </a:rPr>
                        <a:t>validates</a:t>
                      </a:r>
                    </a:p>
                    <a:p>
                      <a:pPr marL="470535">
                        <a:lnSpc>
                          <a:spcPct val="107000"/>
                        </a:lnSpc>
                        <a:spcAft>
                          <a:spcPts val="800"/>
                        </a:spcAft>
                      </a:pPr>
                      <a:r>
                        <a:rPr lang="en-AU" sz="2000" b="1" cap="none" spc="0" dirty="0">
                          <a:solidFill>
                            <a:schemeClr val="tx1"/>
                          </a:solidFill>
                          <a:effectLst/>
                        </a:rPr>
                        <a:t>agrees</a:t>
                      </a:r>
                    </a:p>
                    <a:p>
                      <a:pPr marL="470535">
                        <a:lnSpc>
                          <a:spcPct val="107000"/>
                        </a:lnSpc>
                        <a:spcAft>
                          <a:spcPts val="800"/>
                        </a:spcAft>
                      </a:pPr>
                      <a:r>
                        <a:rPr lang="en-AU" sz="2000" b="1" cap="none" spc="0" dirty="0">
                          <a:solidFill>
                            <a:schemeClr val="tx1"/>
                          </a:solidFill>
                          <a:effectLst/>
                        </a:rPr>
                        <a:t>confirms</a:t>
                      </a:r>
                    </a:p>
                    <a:p>
                      <a:pPr marL="470535">
                        <a:lnSpc>
                          <a:spcPct val="107000"/>
                        </a:lnSpc>
                        <a:spcAft>
                          <a:spcPts val="800"/>
                        </a:spcAft>
                      </a:pPr>
                      <a:r>
                        <a:rPr lang="en-AU" sz="2000" b="1" cap="none" spc="0" dirty="0">
                          <a:solidFill>
                            <a:schemeClr val="tx1"/>
                          </a:solidFill>
                          <a:effectLst/>
                        </a:rPr>
                        <a:t>points to</a:t>
                      </a:r>
                    </a:p>
                    <a:p>
                      <a:pPr marL="470535">
                        <a:lnSpc>
                          <a:spcPct val="107000"/>
                        </a:lnSpc>
                        <a:spcAft>
                          <a:spcPts val="800"/>
                        </a:spcAft>
                      </a:pPr>
                      <a:r>
                        <a:rPr lang="en-AU" sz="2000" b="1" cap="none" spc="0" dirty="0">
                          <a:solidFill>
                            <a:schemeClr val="tx1"/>
                          </a:solidFill>
                          <a:effectLst/>
                        </a:rPr>
                        <a:t>suggests</a:t>
                      </a:r>
                    </a:p>
                    <a:p>
                      <a:pPr marL="470535">
                        <a:lnSpc>
                          <a:spcPct val="107000"/>
                        </a:lnSpc>
                        <a:spcAft>
                          <a:spcPts val="800"/>
                        </a:spcAft>
                      </a:pPr>
                      <a:r>
                        <a:rPr lang="en-AU" sz="2000" b="1" cap="none" spc="0" dirty="0">
                          <a:solidFill>
                            <a:schemeClr val="tx1"/>
                          </a:solidFill>
                          <a:effectLst/>
                        </a:rPr>
                        <a:t>reveals</a:t>
                      </a:r>
                      <a:endParaRPr lang="en-AU" sz="2000" b="1" cap="none" spc="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81425" marR="87241" marT="23264" marB="174483" anchor="b">
                    <a:lnL w="12700" cmpd="sng">
                      <a:noFill/>
                    </a:lnL>
                    <a:lnR w="12700" cmpd="sng">
                      <a:noFill/>
                    </a:lnR>
                    <a:lnT w="9525" cap="flat" cmpd="sng" algn="ctr">
                      <a:noFill/>
                      <a:prstDash val="solid"/>
                    </a:lnT>
                    <a:lnB w="38100" cmpd="sng">
                      <a:noFill/>
                    </a:lnB>
                    <a:noFill/>
                  </a:tcPr>
                </a:tc>
                <a:extLst>
                  <a:ext uri="{0D108BD9-81ED-4DB2-BD59-A6C34878D82A}">
                    <a16:rowId xmlns:a16="http://schemas.microsoft.com/office/drawing/2014/main" val="3090221925"/>
                  </a:ext>
                </a:extLst>
              </a:tr>
            </a:tbl>
          </a:graphicData>
        </a:graphic>
      </p:graphicFrame>
    </p:spTree>
    <p:extLst>
      <p:ext uri="{BB962C8B-B14F-4D97-AF65-F5344CB8AC3E}">
        <p14:creationId xmlns:p14="http://schemas.microsoft.com/office/powerpoint/2010/main" val="42429255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0B450D-8C1B-4290-AE96-A79D4B179A0F}"/>
              </a:ext>
            </a:extLst>
          </p:cNvPr>
          <p:cNvSpPr>
            <a:spLocks noGrp="1"/>
          </p:cNvSpPr>
          <p:nvPr>
            <p:ph type="title"/>
          </p:nvPr>
        </p:nvSpPr>
        <p:spPr/>
        <p:txBody>
          <a:bodyPr/>
          <a:lstStyle/>
          <a:p>
            <a:r>
              <a:rPr lang="en-AU" sz="1800" b="1" dirty="0">
                <a:effectLst/>
                <a:latin typeface="Calibri" panose="020F0502020204030204" pitchFamily="34" charset="0"/>
                <a:ea typeface="Calibri" panose="020F0502020204030204" pitchFamily="34" charset="0"/>
                <a:cs typeface="Times New Roman" panose="02020603050405020304" pitchFamily="18" charset="0"/>
              </a:rPr>
              <a:t>Lesson 2: Using prepositions</a:t>
            </a:r>
            <a:endParaRPr lang="en-AU" dirty="0"/>
          </a:p>
        </p:txBody>
      </p:sp>
      <p:sp>
        <p:nvSpPr>
          <p:cNvPr id="3" name="Content Placeholder 2">
            <a:extLst>
              <a:ext uri="{FF2B5EF4-FFF2-40B4-BE49-F238E27FC236}">
                <a16:creationId xmlns:a16="http://schemas.microsoft.com/office/drawing/2014/main" id="{8816A617-451A-41DC-8728-4018A0BC4C17}"/>
              </a:ext>
            </a:extLst>
          </p:cNvPr>
          <p:cNvSpPr>
            <a:spLocks noGrp="1"/>
          </p:cNvSpPr>
          <p:nvPr>
            <p:ph idx="1"/>
          </p:nvPr>
        </p:nvSpPr>
        <p:spPr/>
        <p:txBody>
          <a:bodyPr>
            <a:noAutofit/>
          </a:bodyPr>
          <a:lstStyle/>
          <a:p>
            <a:pPr marL="0" indent="0">
              <a:lnSpc>
                <a:spcPct val="107000"/>
              </a:lnSpc>
              <a:spcAft>
                <a:spcPts val="800"/>
              </a:spcAft>
              <a:buNone/>
            </a:pPr>
            <a:r>
              <a:rPr lang="en-AU" sz="2000" dirty="0">
                <a:effectLst/>
                <a:latin typeface="Calibri" panose="020F0502020204030204" pitchFamily="34" charset="0"/>
                <a:ea typeface="Calibri" panose="020F0502020204030204" pitchFamily="34" charset="0"/>
                <a:cs typeface="Times New Roman" panose="02020603050405020304" pitchFamily="18" charset="0"/>
              </a:rPr>
              <a:t>Another way that we can add detail to our writing is by including a prepositional phrase.</a:t>
            </a:r>
          </a:p>
          <a:p>
            <a:pPr marL="0" indent="0">
              <a:lnSpc>
                <a:spcPct val="107000"/>
              </a:lnSpc>
              <a:spcAft>
                <a:spcPts val="800"/>
              </a:spcAft>
              <a:buNone/>
            </a:pPr>
            <a:r>
              <a:rPr lang="en-AU" sz="2000" dirty="0">
                <a:effectLst/>
                <a:latin typeface="Calibri" panose="020F0502020204030204" pitchFamily="34" charset="0"/>
                <a:ea typeface="Calibri" panose="020F0502020204030204" pitchFamily="34" charset="0"/>
                <a:cs typeface="Times New Roman" panose="02020603050405020304" pitchFamily="18" charset="0"/>
              </a:rPr>
              <a:t>A </a:t>
            </a:r>
            <a:r>
              <a:rPr lang="en-AU" sz="2000" dirty="0">
                <a:solidFill>
                  <a:srgbClr val="0070C0"/>
                </a:solidFill>
                <a:effectLst/>
                <a:latin typeface="Calibri" panose="020F0502020204030204" pitchFamily="34" charset="0"/>
                <a:ea typeface="Calibri" panose="020F0502020204030204" pitchFamily="34" charset="0"/>
                <a:cs typeface="Times New Roman" panose="02020603050405020304" pitchFamily="18" charset="0"/>
              </a:rPr>
              <a:t>prepositional phrase</a:t>
            </a:r>
            <a:r>
              <a:rPr lang="en-AU" sz="2000" dirty="0">
                <a:effectLst/>
                <a:latin typeface="Calibri" panose="020F0502020204030204" pitchFamily="34" charset="0"/>
                <a:ea typeface="Calibri" panose="020F0502020204030204" pitchFamily="34" charset="0"/>
                <a:cs typeface="Times New Roman" panose="02020603050405020304" pitchFamily="18" charset="0"/>
              </a:rPr>
              <a:t>, or “</a:t>
            </a:r>
            <a:r>
              <a:rPr lang="en-AU" sz="2000" dirty="0">
                <a:solidFill>
                  <a:srgbClr val="0070C0"/>
                </a:solidFill>
                <a:effectLst/>
                <a:latin typeface="Calibri" panose="020F0502020204030204" pitchFamily="34" charset="0"/>
                <a:ea typeface="Calibri" panose="020F0502020204030204" pitchFamily="34" charset="0"/>
                <a:cs typeface="Times New Roman" panose="02020603050405020304" pitchFamily="18" charset="0"/>
              </a:rPr>
              <a:t>circumstantial detail</a:t>
            </a:r>
            <a:r>
              <a:rPr lang="en-AU" sz="2000" dirty="0">
                <a:effectLst/>
                <a:latin typeface="Calibri" panose="020F0502020204030204" pitchFamily="34" charset="0"/>
                <a:ea typeface="Calibri" panose="020F0502020204030204" pitchFamily="34" charset="0"/>
                <a:cs typeface="Times New Roman" panose="02020603050405020304" pitchFamily="18" charset="0"/>
              </a:rPr>
              <a:t>” describes </a:t>
            </a:r>
            <a:r>
              <a:rPr lang="en-AU" sz="2000" b="1" dirty="0">
                <a:effectLst/>
                <a:latin typeface="Calibri" panose="020F0502020204030204" pitchFamily="34" charset="0"/>
                <a:ea typeface="Calibri" panose="020F0502020204030204" pitchFamily="34" charset="0"/>
                <a:cs typeface="Times New Roman" panose="02020603050405020304" pitchFamily="18" charset="0"/>
              </a:rPr>
              <a:t>when</a:t>
            </a:r>
            <a:r>
              <a:rPr lang="en-AU" sz="2000" dirty="0">
                <a:effectLst/>
                <a:latin typeface="Calibri" panose="020F0502020204030204" pitchFamily="34" charset="0"/>
                <a:ea typeface="Calibri" panose="020F0502020204030204" pitchFamily="34" charset="0"/>
                <a:cs typeface="Times New Roman" panose="02020603050405020304" pitchFamily="18" charset="0"/>
              </a:rPr>
              <a:t>, </a:t>
            </a:r>
            <a:r>
              <a:rPr lang="en-AU" sz="2000" b="1" dirty="0">
                <a:effectLst/>
                <a:latin typeface="Calibri" panose="020F0502020204030204" pitchFamily="34" charset="0"/>
                <a:ea typeface="Calibri" panose="020F0502020204030204" pitchFamily="34" charset="0"/>
                <a:cs typeface="Times New Roman" panose="02020603050405020304" pitchFamily="18" charset="0"/>
              </a:rPr>
              <a:t>where</a:t>
            </a:r>
            <a:r>
              <a:rPr lang="en-AU" sz="2000" dirty="0">
                <a:effectLst/>
                <a:latin typeface="Calibri" panose="020F0502020204030204" pitchFamily="34" charset="0"/>
                <a:ea typeface="Calibri" panose="020F0502020204030204" pitchFamily="34" charset="0"/>
                <a:cs typeface="Times New Roman" panose="02020603050405020304" pitchFamily="18" charset="0"/>
              </a:rPr>
              <a:t> or </a:t>
            </a:r>
            <a:r>
              <a:rPr lang="en-AU" sz="2000" b="1" dirty="0">
                <a:effectLst/>
                <a:latin typeface="Calibri" panose="020F0502020204030204" pitchFamily="34" charset="0"/>
                <a:ea typeface="Calibri" panose="020F0502020204030204" pitchFamily="34" charset="0"/>
                <a:cs typeface="Times New Roman" panose="02020603050405020304" pitchFamily="18" charset="0"/>
              </a:rPr>
              <a:t>how</a:t>
            </a:r>
            <a:r>
              <a:rPr lang="en-AU" sz="2000" dirty="0">
                <a:effectLst/>
                <a:latin typeface="Calibri" panose="020F0502020204030204" pitchFamily="34" charset="0"/>
                <a:ea typeface="Calibri" panose="020F0502020204030204" pitchFamily="34" charset="0"/>
                <a:cs typeface="Times New Roman" panose="02020603050405020304" pitchFamily="18" charset="0"/>
              </a:rPr>
              <a:t> the action is taking place. </a:t>
            </a:r>
          </a:p>
          <a:p>
            <a:pPr marL="0" indent="0">
              <a:lnSpc>
                <a:spcPct val="107000"/>
              </a:lnSpc>
              <a:spcAft>
                <a:spcPts val="800"/>
              </a:spcAft>
              <a:buNone/>
            </a:pPr>
            <a:r>
              <a:rPr lang="en-AU" sz="2000" dirty="0">
                <a:effectLst/>
                <a:latin typeface="Calibri" panose="020F0502020204030204" pitchFamily="34" charset="0"/>
                <a:ea typeface="Calibri" panose="020F0502020204030204" pitchFamily="34" charset="0"/>
                <a:cs typeface="Times New Roman" panose="02020603050405020304" pitchFamily="18" charset="0"/>
              </a:rPr>
              <a:t>We can add a prepositional phrase to the beginning of each sentence:</a:t>
            </a:r>
          </a:p>
          <a:p>
            <a:pPr marL="360363" indent="0">
              <a:lnSpc>
                <a:spcPct val="107000"/>
              </a:lnSpc>
              <a:spcAft>
                <a:spcPts val="800"/>
              </a:spcAft>
              <a:buNone/>
            </a:pPr>
            <a:r>
              <a:rPr lang="en-AU" sz="2000" dirty="0">
                <a:solidFill>
                  <a:srgbClr val="0070C0"/>
                </a:solidFill>
                <a:effectLst/>
                <a:latin typeface="Calibri" panose="020F0502020204030204" pitchFamily="34" charset="0"/>
                <a:ea typeface="Calibri" panose="020F0502020204030204" pitchFamily="34" charset="0"/>
                <a:cs typeface="Times New Roman" panose="02020603050405020304" pitchFamily="18" charset="0"/>
              </a:rPr>
              <a:t>In the first turning point of the story, </a:t>
            </a:r>
            <a:r>
              <a:rPr lang="en-AU" sz="2000" dirty="0">
                <a:solidFill>
                  <a:srgbClr val="C00000"/>
                </a:solidFill>
                <a:effectLst/>
                <a:latin typeface="Calibri" panose="020F0502020204030204" pitchFamily="34" charset="0"/>
                <a:ea typeface="Calibri" panose="020F0502020204030204" pitchFamily="34" charset="0"/>
                <a:cs typeface="Times New Roman" panose="02020603050405020304" pitchFamily="18" charset="0"/>
              </a:rPr>
              <a:t>Molly </a:t>
            </a:r>
            <a:r>
              <a:rPr lang="en-AU" sz="2000" dirty="0">
                <a:solidFill>
                  <a:srgbClr val="00B050"/>
                </a:solidFill>
                <a:effectLst/>
                <a:latin typeface="Calibri" panose="020F0502020204030204" pitchFamily="34" charset="0"/>
                <a:ea typeface="Calibri" panose="020F0502020204030204" pitchFamily="34" charset="0"/>
                <a:cs typeface="Times New Roman" panose="02020603050405020304" pitchFamily="18" charset="0"/>
              </a:rPr>
              <a:t>persuades</a:t>
            </a:r>
            <a:r>
              <a:rPr lang="en-AU" sz="2000" dirty="0">
                <a:solidFill>
                  <a:srgbClr val="385623"/>
                </a:solidFill>
                <a:effectLst/>
                <a:latin typeface="Calibri" panose="020F0502020204030204" pitchFamily="34" charset="0"/>
                <a:ea typeface="Calibri" panose="020F0502020204030204" pitchFamily="34" charset="0"/>
                <a:cs typeface="Times New Roman" panose="02020603050405020304" pitchFamily="18" charset="0"/>
              </a:rPr>
              <a:t> </a:t>
            </a:r>
            <a:r>
              <a:rPr lang="en-AU" sz="2000" dirty="0">
                <a:effectLst/>
                <a:latin typeface="Calibri" panose="020F0502020204030204" pitchFamily="34" charset="0"/>
                <a:ea typeface="Calibri" panose="020F0502020204030204" pitchFamily="34" charset="0"/>
                <a:cs typeface="Times New Roman" panose="02020603050405020304" pitchFamily="18" charset="0"/>
              </a:rPr>
              <a:t>the other two girls to escape from the Moore River settlement.</a:t>
            </a:r>
          </a:p>
          <a:p>
            <a:pPr marL="360363" indent="0">
              <a:lnSpc>
                <a:spcPct val="107000"/>
              </a:lnSpc>
              <a:spcAft>
                <a:spcPts val="800"/>
              </a:spcAft>
              <a:buNone/>
            </a:pPr>
            <a:r>
              <a:rPr lang="en-AU" sz="2000" dirty="0">
                <a:solidFill>
                  <a:srgbClr val="0070C0"/>
                </a:solidFill>
                <a:effectLst/>
                <a:latin typeface="Calibri" panose="020F0502020204030204" pitchFamily="34" charset="0"/>
                <a:ea typeface="Calibri" panose="020F0502020204030204" pitchFamily="34" charset="0"/>
                <a:cs typeface="Times New Roman" panose="02020603050405020304" pitchFamily="18" charset="0"/>
              </a:rPr>
              <a:t>When she joins her sister in leaving, </a:t>
            </a:r>
            <a:r>
              <a:rPr lang="en-AU" sz="2000" dirty="0">
                <a:solidFill>
                  <a:srgbClr val="C00000"/>
                </a:solidFill>
                <a:effectLst/>
                <a:latin typeface="Calibri" panose="020F0502020204030204" pitchFamily="34" charset="0"/>
                <a:ea typeface="Calibri" panose="020F0502020204030204" pitchFamily="34" charset="0"/>
                <a:cs typeface="Times New Roman" panose="02020603050405020304" pitchFamily="18" charset="0"/>
              </a:rPr>
              <a:t>Daisy </a:t>
            </a:r>
            <a:r>
              <a:rPr lang="en-AU" sz="2000" dirty="0">
                <a:solidFill>
                  <a:srgbClr val="00B050"/>
                </a:solidFill>
                <a:effectLst/>
                <a:latin typeface="Calibri" panose="020F0502020204030204" pitchFamily="34" charset="0"/>
                <a:ea typeface="Calibri" panose="020F0502020204030204" pitchFamily="34" charset="0"/>
                <a:cs typeface="Times New Roman" panose="02020603050405020304" pitchFamily="18" charset="0"/>
              </a:rPr>
              <a:t>shows</a:t>
            </a:r>
            <a:r>
              <a:rPr lang="en-AU" sz="2000" dirty="0">
                <a:solidFill>
                  <a:srgbClr val="385623"/>
                </a:solidFill>
                <a:effectLst/>
                <a:latin typeface="Calibri" panose="020F0502020204030204" pitchFamily="34" charset="0"/>
                <a:ea typeface="Calibri" panose="020F0502020204030204" pitchFamily="34" charset="0"/>
                <a:cs typeface="Times New Roman" panose="02020603050405020304" pitchFamily="18" charset="0"/>
              </a:rPr>
              <a:t> </a:t>
            </a:r>
            <a:r>
              <a:rPr lang="en-AU" sz="2000" dirty="0">
                <a:effectLst/>
                <a:latin typeface="Calibri" panose="020F0502020204030204" pitchFamily="34" charset="0"/>
                <a:ea typeface="Calibri" panose="020F0502020204030204" pitchFamily="34" charset="0"/>
                <a:cs typeface="Times New Roman" panose="02020603050405020304" pitchFamily="18" charset="0"/>
              </a:rPr>
              <a:t>great courage.</a:t>
            </a:r>
          </a:p>
          <a:p>
            <a:pPr marL="360363" indent="0">
              <a:lnSpc>
                <a:spcPct val="107000"/>
              </a:lnSpc>
              <a:spcAft>
                <a:spcPts val="800"/>
              </a:spcAft>
              <a:buNone/>
            </a:pPr>
            <a:r>
              <a:rPr lang="en-AU" sz="2000" dirty="0">
                <a:solidFill>
                  <a:srgbClr val="0070C0"/>
                </a:solidFill>
                <a:effectLst/>
                <a:latin typeface="Calibri" panose="020F0502020204030204" pitchFamily="34" charset="0"/>
                <a:ea typeface="Calibri" panose="020F0502020204030204" pitchFamily="34" charset="0"/>
                <a:cs typeface="Times New Roman" panose="02020603050405020304" pitchFamily="18" charset="0"/>
              </a:rPr>
              <a:t>Back in the city of Perth, </a:t>
            </a:r>
            <a:r>
              <a:rPr lang="en-AU" sz="2000" dirty="0">
                <a:solidFill>
                  <a:srgbClr val="C00000"/>
                </a:solidFill>
                <a:effectLst/>
                <a:latin typeface="Calibri" panose="020F0502020204030204" pitchFamily="34" charset="0"/>
                <a:ea typeface="Calibri" panose="020F0502020204030204" pitchFamily="34" charset="0"/>
                <a:cs typeface="Times New Roman" panose="02020603050405020304" pitchFamily="18" charset="0"/>
              </a:rPr>
              <a:t>Mr Neville </a:t>
            </a:r>
            <a:r>
              <a:rPr lang="en-AU" sz="2000" dirty="0">
                <a:solidFill>
                  <a:srgbClr val="00B050"/>
                </a:solidFill>
                <a:effectLst/>
                <a:latin typeface="Calibri" panose="020F0502020204030204" pitchFamily="34" charset="0"/>
                <a:ea typeface="Calibri" panose="020F0502020204030204" pitchFamily="34" charset="0"/>
                <a:cs typeface="Times New Roman" panose="02020603050405020304" pitchFamily="18" charset="0"/>
              </a:rPr>
              <a:t>shows</a:t>
            </a:r>
            <a:r>
              <a:rPr lang="en-AU" sz="2000" dirty="0">
                <a:solidFill>
                  <a:srgbClr val="385623"/>
                </a:solidFill>
                <a:effectLst/>
                <a:latin typeface="Calibri" panose="020F0502020204030204" pitchFamily="34" charset="0"/>
                <a:ea typeface="Calibri" panose="020F0502020204030204" pitchFamily="34" charset="0"/>
                <a:cs typeface="Times New Roman" panose="02020603050405020304" pitchFamily="18" charset="0"/>
              </a:rPr>
              <a:t> </a:t>
            </a:r>
            <a:r>
              <a:rPr lang="en-AU" sz="2000" dirty="0">
                <a:effectLst/>
                <a:latin typeface="Calibri" panose="020F0502020204030204" pitchFamily="34" charset="0"/>
                <a:ea typeface="Calibri" panose="020F0502020204030204" pitchFamily="34" charset="0"/>
                <a:cs typeface="Times New Roman" panose="02020603050405020304" pitchFamily="18" charset="0"/>
              </a:rPr>
              <a:t>that he will stop at nothing to make sure that the girls are returned to the mission.</a:t>
            </a:r>
          </a:p>
        </p:txBody>
      </p:sp>
    </p:spTree>
    <p:extLst>
      <p:ext uri="{BB962C8B-B14F-4D97-AF65-F5344CB8AC3E}">
        <p14:creationId xmlns:p14="http://schemas.microsoft.com/office/powerpoint/2010/main" val="21152818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0B450D-8C1B-4290-AE96-A79D4B179A0F}"/>
              </a:ext>
            </a:extLst>
          </p:cNvPr>
          <p:cNvSpPr>
            <a:spLocks noGrp="1"/>
          </p:cNvSpPr>
          <p:nvPr>
            <p:ph type="title"/>
          </p:nvPr>
        </p:nvSpPr>
        <p:spPr/>
        <p:txBody>
          <a:bodyPr/>
          <a:lstStyle/>
          <a:p>
            <a:r>
              <a:rPr lang="en-AU" sz="1800" b="1" dirty="0">
                <a:effectLst/>
                <a:latin typeface="Calibri" panose="020F0502020204030204" pitchFamily="34" charset="0"/>
                <a:ea typeface="Calibri" panose="020F0502020204030204" pitchFamily="34" charset="0"/>
                <a:cs typeface="Times New Roman" panose="02020603050405020304" pitchFamily="18" charset="0"/>
              </a:rPr>
              <a:t>Lesson 2: Using prepositions</a:t>
            </a:r>
            <a:endParaRPr lang="en-AU" dirty="0"/>
          </a:p>
        </p:txBody>
      </p:sp>
      <p:sp>
        <p:nvSpPr>
          <p:cNvPr id="3" name="Content Placeholder 2">
            <a:extLst>
              <a:ext uri="{FF2B5EF4-FFF2-40B4-BE49-F238E27FC236}">
                <a16:creationId xmlns:a16="http://schemas.microsoft.com/office/drawing/2014/main" id="{8816A617-451A-41DC-8728-4018A0BC4C17}"/>
              </a:ext>
            </a:extLst>
          </p:cNvPr>
          <p:cNvSpPr>
            <a:spLocks noGrp="1"/>
          </p:cNvSpPr>
          <p:nvPr>
            <p:ph idx="1"/>
          </p:nvPr>
        </p:nvSpPr>
        <p:spPr>
          <a:xfrm>
            <a:off x="581192" y="1890876"/>
            <a:ext cx="11029615" cy="4713124"/>
          </a:xfrm>
        </p:spPr>
        <p:txBody>
          <a:bodyPr>
            <a:noAutofit/>
          </a:bodyPr>
          <a:lstStyle/>
          <a:p>
            <a:pPr marL="0" indent="0">
              <a:lnSpc>
                <a:spcPct val="107000"/>
              </a:lnSpc>
              <a:spcAft>
                <a:spcPts val="800"/>
              </a:spcAft>
              <a:buNone/>
            </a:pPr>
            <a:r>
              <a:rPr lang="en-AU" sz="2000" dirty="0">
                <a:effectLst/>
                <a:latin typeface="Calibri" panose="020F0502020204030204" pitchFamily="34" charset="0"/>
                <a:ea typeface="Calibri" panose="020F0502020204030204" pitchFamily="34" charset="0"/>
                <a:cs typeface="Times New Roman" panose="02020603050405020304" pitchFamily="18" charset="0"/>
              </a:rPr>
              <a:t>Your </a:t>
            </a:r>
            <a:r>
              <a:rPr lang="en-AU" sz="2000" dirty="0">
                <a:solidFill>
                  <a:srgbClr val="4472C4"/>
                </a:solidFill>
                <a:effectLst/>
                <a:latin typeface="Calibri" panose="020F0502020204030204" pitchFamily="34" charset="0"/>
                <a:ea typeface="Calibri" panose="020F0502020204030204" pitchFamily="34" charset="0"/>
                <a:cs typeface="Times New Roman" panose="02020603050405020304" pitchFamily="18" charset="0"/>
              </a:rPr>
              <a:t>prepositional phrase </a:t>
            </a:r>
            <a:r>
              <a:rPr lang="en-AU" sz="2000" dirty="0">
                <a:effectLst/>
                <a:latin typeface="Calibri" panose="020F0502020204030204" pitchFamily="34" charset="0"/>
                <a:ea typeface="Calibri" panose="020F0502020204030204" pitchFamily="34" charset="0"/>
                <a:cs typeface="Times New Roman" panose="02020603050405020304" pitchFamily="18" charset="0"/>
              </a:rPr>
              <a:t>could describe:</a:t>
            </a:r>
          </a:p>
          <a:p>
            <a:pPr>
              <a:lnSpc>
                <a:spcPct val="107000"/>
              </a:lnSpc>
            </a:pPr>
            <a:r>
              <a:rPr lang="en-AU" sz="2000" dirty="0">
                <a:effectLst/>
                <a:latin typeface="Calibri" panose="020F0502020204030204" pitchFamily="34" charset="0"/>
                <a:ea typeface="Calibri" panose="020F0502020204030204" pitchFamily="34" charset="0"/>
                <a:cs typeface="Times New Roman" panose="02020603050405020304" pitchFamily="18" charset="0"/>
              </a:rPr>
              <a:t>The part of the story you’re writing about </a:t>
            </a:r>
            <a:br>
              <a:rPr lang="en-AU" sz="2000" dirty="0">
                <a:effectLst/>
                <a:latin typeface="Calibri" panose="020F0502020204030204" pitchFamily="34" charset="0"/>
                <a:ea typeface="Calibri" panose="020F0502020204030204" pitchFamily="34" charset="0"/>
                <a:cs typeface="Times New Roman" panose="02020603050405020304" pitchFamily="18" charset="0"/>
              </a:rPr>
            </a:br>
            <a:r>
              <a:rPr lang="en-AU" sz="2000" dirty="0">
                <a:effectLst/>
                <a:latin typeface="Calibri" panose="020F0502020204030204" pitchFamily="34" charset="0"/>
                <a:ea typeface="Calibri" panose="020F0502020204030204" pitchFamily="34" charset="0"/>
                <a:cs typeface="Times New Roman" panose="02020603050405020304" pitchFamily="18" charset="0"/>
              </a:rPr>
              <a:t>(For example: </a:t>
            </a:r>
            <a:r>
              <a:rPr lang="en-AU" sz="2000" dirty="0">
                <a:solidFill>
                  <a:srgbClr val="4472C4"/>
                </a:solidFill>
                <a:effectLst/>
                <a:latin typeface="Calibri" panose="020F0502020204030204" pitchFamily="34" charset="0"/>
                <a:ea typeface="Calibri" panose="020F0502020204030204" pitchFamily="34" charset="0"/>
                <a:cs typeface="Times New Roman" panose="02020603050405020304" pitchFamily="18" charset="0"/>
              </a:rPr>
              <a:t>During the first scene</a:t>
            </a:r>
            <a:r>
              <a:rPr lang="en-AU" sz="2000" dirty="0">
                <a:effectLst/>
                <a:latin typeface="Calibri" panose="020F0502020204030204" pitchFamily="34" charset="0"/>
                <a:ea typeface="Calibri" panose="020F0502020204030204" pitchFamily="34" charset="0"/>
                <a:cs typeface="Times New Roman" panose="02020603050405020304" pitchFamily="18" charset="0"/>
              </a:rPr>
              <a:t>, </a:t>
            </a:r>
            <a:r>
              <a:rPr lang="en-AU" sz="2000" dirty="0">
                <a:solidFill>
                  <a:srgbClr val="4472C4"/>
                </a:solidFill>
                <a:effectLst/>
                <a:latin typeface="Calibri" panose="020F0502020204030204" pitchFamily="34" charset="0"/>
                <a:ea typeface="Calibri" panose="020F0502020204030204" pitchFamily="34" charset="0"/>
                <a:cs typeface="Times New Roman" panose="02020603050405020304" pitchFamily="18" charset="0"/>
              </a:rPr>
              <a:t>Near the end of the film</a:t>
            </a:r>
            <a:r>
              <a:rPr lang="en-AU" sz="2000" dirty="0">
                <a:effectLst/>
                <a:latin typeface="Calibri" panose="020F0502020204030204" pitchFamily="34" charset="0"/>
                <a:ea typeface="Calibri" panose="020F0502020204030204" pitchFamily="34" charset="0"/>
                <a:cs typeface="Times New Roman" panose="02020603050405020304" pitchFamily="18" charset="0"/>
              </a:rPr>
              <a:t>, or </a:t>
            </a:r>
            <a:r>
              <a:rPr lang="en-AU" sz="2000" dirty="0">
                <a:solidFill>
                  <a:srgbClr val="4472C4"/>
                </a:solidFill>
                <a:effectLst/>
                <a:latin typeface="Calibri" panose="020F0502020204030204" pitchFamily="34" charset="0"/>
                <a:ea typeface="Calibri" panose="020F0502020204030204" pitchFamily="34" charset="0"/>
                <a:cs typeface="Times New Roman" panose="02020603050405020304" pitchFamily="18" charset="0"/>
              </a:rPr>
              <a:t>In the middle of the scene</a:t>
            </a:r>
            <a:r>
              <a:rPr lang="en-AU" sz="2000" dirty="0">
                <a:effectLst/>
                <a:latin typeface="Calibri" panose="020F0502020204030204" pitchFamily="34" charset="0"/>
                <a:ea typeface="Calibri" panose="020F0502020204030204" pitchFamily="34" charset="0"/>
                <a:cs typeface="Times New Roman" panose="02020603050405020304" pitchFamily="18" charset="0"/>
              </a:rPr>
              <a:t>)</a:t>
            </a:r>
          </a:p>
          <a:p>
            <a:pPr>
              <a:lnSpc>
                <a:spcPct val="107000"/>
              </a:lnSpc>
            </a:pPr>
            <a:r>
              <a:rPr lang="en-AU" sz="2000" dirty="0">
                <a:effectLst/>
                <a:latin typeface="Calibri" panose="020F0502020204030204" pitchFamily="34" charset="0"/>
                <a:ea typeface="Calibri" panose="020F0502020204030204" pitchFamily="34" charset="0"/>
                <a:cs typeface="Times New Roman" panose="02020603050405020304" pitchFamily="18" charset="0"/>
              </a:rPr>
              <a:t>The point in the girls’ lives or the point in their journey</a:t>
            </a:r>
            <a:br>
              <a:rPr lang="en-AU" sz="2000" dirty="0">
                <a:effectLst/>
                <a:latin typeface="Calibri" panose="020F0502020204030204" pitchFamily="34" charset="0"/>
                <a:ea typeface="Calibri" panose="020F0502020204030204" pitchFamily="34" charset="0"/>
                <a:cs typeface="Times New Roman" panose="02020603050405020304" pitchFamily="18" charset="0"/>
              </a:rPr>
            </a:br>
            <a:r>
              <a:rPr lang="en-AU" sz="2000" dirty="0">
                <a:effectLst/>
                <a:latin typeface="Calibri" panose="020F0502020204030204" pitchFamily="34" charset="0"/>
                <a:ea typeface="Calibri" panose="020F0502020204030204" pitchFamily="34" charset="0"/>
                <a:cs typeface="Times New Roman" panose="02020603050405020304" pitchFamily="18" charset="0"/>
              </a:rPr>
              <a:t>(For example: </a:t>
            </a:r>
            <a:r>
              <a:rPr lang="en-AU" sz="2000" dirty="0">
                <a:solidFill>
                  <a:srgbClr val="4472C4"/>
                </a:solidFill>
                <a:effectLst/>
                <a:latin typeface="Calibri" panose="020F0502020204030204" pitchFamily="34" charset="0"/>
                <a:ea typeface="Calibri" panose="020F0502020204030204" pitchFamily="34" charset="0"/>
                <a:cs typeface="Times New Roman" panose="02020603050405020304" pitchFamily="18" charset="0"/>
              </a:rPr>
              <a:t>After leaving the mission</a:t>
            </a:r>
            <a:r>
              <a:rPr lang="en-AU" sz="2000" dirty="0">
                <a:effectLst/>
                <a:latin typeface="Calibri" panose="020F0502020204030204" pitchFamily="34" charset="0"/>
                <a:ea typeface="Calibri" panose="020F0502020204030204" pitchFamily="34" charset="0"/>
                <a:cs typeface="Times New Roman" panose="02020603050405020304" pitchFamily="18" charset="0"/>
              </a:rPr>
              <a:t>, </a:t>
            </a:r>
            <a:r>
              <a:rPr lang="en-AU" sz="2000" dirty="0">
                <a:solidFill>
                  <a:srgbClr val="4472C4"/>
                </a:solidFill>
                <a:effectLst/>
                <a:latin typeface="Calibri" panose="020F0502020204030204" pitchFamily="34" charset="0"/>
                <a:ea typeface="Calibri" panose="020F0502020204030204" pitchFamily="34" charset="0"/>
                <a:cs typeface="Times New Roman" panose="02020603050405020304" pitchFamily="18" charset="0"/>
              </a:rPr>
              <a:t>When she is still a child</a:t>
            </a:r>
            <a:r>
              <a:rPr lang="en-AU" sz="2000" dirty="0">
                <a:effectLst/>
                <a:latin typeface="Calibri" panose="020F0502020204030204" pitchFamily="34" charset="0"/>
                <a:ea typeface="Calibri" panose="020F0502020204030204" pitchFamily="34" charset="0"/>
                <a:cs typeface="Times New Roman" panose="02020603050405020304" pitchFamily="18" charset="0"/>
              </a:rPr>
              <a:t>, or </a:t>
            </a:r>
            <a:r>
              <a:rPr lang="en-AU" sz="2000" dirty="0">
                <a:solidFill>
                  <a:srgbClr val="4472C4"/>
                </a:solidFill>
                <a:effectLst/>
                <a:latin typeface="Calibri" panose="020F0502020204030204" pitchFamily="34" charset="0"/>
                <a:ea typeface="Calibri" panose="020F0502020204030204" pitchFamily="34" charset="0"/>
                <a:cs typeface="Times New Roman" panose="02020603050405020304" pitchFamily="18" charset="0"/>
              </a:rPr>
              <a:t>In the middle of the journey home</a:t>
            </a:r>
            <a:r>
              <a:rPr lang="en-AU" sz="2000" dirty="0">
                <a:effectLst/>
                <a:latin typeface="Calibri" panose="020F0502020204030204" pitchFamily="34" charset="0"/>
                <a:ea typeface="Calibri" panose="020F0502020204030204" pitchFamily="34" charset="0"/>
                <a:cs typeface="Times New Roman" panose="02020603050405020304" pitchFamily="18" charset="0"/>
              </a:rPr>
              <a:t>)</a:t>
            </a:r>
          </a:p>
          <a:p>
            <a:pPr>
              <a:lnSpc>
                <a:spcPct val="107000"/>
              </a:lnSpc>
              <a:spcAft>
                <a:spcPts val="800"/>
              </a:spcAft>
            </a:pPr>
            <a:r>
              <a:rPr lang="en-AU" sz="2000" dirty="0">
                <a:effectLst/>
                <a:latin typeface="Calibri" panose="020F0502020204030204" pitchFamily="34" charset="0"/>
                <a:ea typeface="Calibri" panose="020F0502020204030204" pitchFamily="34" charset="0"/>
                <a:cs typeface="Times New Roman" panose="02020603050405020304" pitchFamily="18" charset="0"/>
              </a:rPr>
              <a:t>The location at the time</a:t>
            </a:r>
            <a:br>
              <a:rPr lang="en-AU" sz="2000" dirty="0">
                <a:effectLst/>
                <a:latin typeface="Calibri" panose="020F0502020204030204" pitchFamily="34" charset="0"/>
                <a:ea typeface="Calibri" panose="020F0502020204030204" pitchFamily="34" charset="0"/>
                <a:cs typeface="Times New Roman" panose="02020603050405020304" pitchFamily="18" charset="0"/>
              </a:rPr>
            </a:br>
            <a:r>
              <a:rPr lang="en-AU" sz="2000" dirty="0">
                <a:effectLst/>
                <a:latin typeface="Calibri" panose="020F0502020204030204" pitchFamily="34" charset="0"/>
                <a:ea typeface="Calibri" panose="020F0502020204030204" pitchFamily="34" charset="0"/>
                <a:cs typeface="Times New Roman" panose="02020603050405020304" pitchFamily="18" charset="0"/>
              </a:rPr>
              <a:t>(For example: </a:t>
            </a:r>
            <a:r>
              <a:rPr lang="en-AU" sz="2000" dirty="0">
                <a:solidFill>
                  <a:srgbClr val="4472C4"/>
                </a:solidFill>
                <a:effectLst/>
                <a:latin typeface="Calibri" panose="020F0502020204030204" pitchFamily="34" charset="0"/>
                <a:ea typeface="Calibri" panose="020F0502020204030204" pitchFamily="34" charset="0"/>
                <a:cs typeface="Times New Roman" panose="02020603050405020304" pitchFamily="18" charset="0"/>
              </a:rPr>
              <a:t>Back in Jigalong</a:t>
            </a:r>
            <a:r>
              <a:rPr lang="en-AU" sz="2000" dirty="0">
                <a:effectLst/>
                <a:latin typeface="Calibri" panose="020F0502020204030204" pitchFamily="34" charset="0"/>
                <a:ea typeface="Calibri" panose="020F0502020204030204" pitchFamily="34" charset="0"/>
                <a:cs typeface="Times New Roman" panose="02020603050405020304" pitchFamily="18" charset="0"/>
              </a:rPr>
              <a:t>, </a:t>
            </a:r>
            <a:r>
              <a:rPr lang="en-AU" sz="2000" dirty="0">
                <a:solidFill>
                  <a:srgbClr val="4472C4"/>
                </a:solidFill>
                <a:effectLst/>
                <a:latin typeface="Calibri" panose="020F0502020204030204" pitchFamily="34" charset="0"/>
                <a:ea typeface="Calibri" panose="020F0502020204030204" pitchFamily="34" charset="0"/>
                <a:cs typeface="Times New Roman" panose="02020603050405020304" pitchFamily="18" charset="0"/>
              </a:rPr>
              <a:t>At the Moore River camp</a:t>
            </a:r>
            <a:r>
              <a:rPr lang="en-AU" sz="2000" dirty="0">
                <a:effectLst/>
                <a:latin typeface="Calibri" panose="020F0502020204030204" pitchFamily="34" charset="0"/>
                <a:ea typeface="Calibri" panose="020F0502020204030204" pitchFamily="34" charset="0"/>
                <a:cs typeface="Times New Roman" panose="02020603050405020304" pitchFamily="18" charset="0"/>
              </a:rPr>
              <a:t>, or </a:t>
            </a:r>
            <a:r>
              <a:rPr lang="en-AU" sz="2000" dirty="0">
                <a:solidFill>
                  <a:srgbClr val="4472C4"/>
                </a:solidFill>
                <a:effectLst/>
                <a:latin typeface="Calibri" panose="020F0502020204030204" pitchFamily="34" charset="0"/>
                <a:ea typeface="Calibri" panose="020F0502020204030204" pitchFamily="34" charset="0"/>
                <a:cs typeface="Times New Roman" panose="02020603050405020304" pitchFamily="18" charset="0"/>
              </a:rPr>
              <a:t>In the middle of the desert</a:t>
            </a:r>
            <a:r>
              <a:rPr lang="en-AU" sz="2000" dirty="0">
                <a:effectLst/>
                <a:latin typeface="Calibri" panose="020F0502020204030204" pitchFamily="34" charset="0"/>
                <a:ea typeface="Calibri" panose="020F0502020204030204" pitchFamily="34" charset="0"/>
                <a:cs typeface="Times New Roman" panose="02020603050405020304" pitchFamily="18" charset="0"/>
              </a:rPr>
              <a:t>)</a:t>
            </a:r>
          </a:p>
          <a:p>
            <a:pPr marL="0" indent="0" algn="ctr">
              <a:lnSpc>
                <a:spcPct val="107000"/>
              </a:lnSpc>
              <a:spcAft>
                <a:spcPts val="800"/>
              </a:spcAft>
              <a:buNone/>
            </a:pPr>
            <a:r>
              <a:rPr lang="en-AU" sz="20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You can even describe several of these at the same time!</a:t>
            </a:r>
          </a:p>
          <a:p>
            <a:pPr marL="442913" indent="0">
              <a:lnSpc>
                <a:spcPct val="107000"/>
              </a:lnSpc>
              <a:spcAft>
                <a:spcPts val="800"/>
              </a:spcAft>
              <a:buNone/>
            </a:pPr>
            <a:r>
              <a:rPr lang="en-AU" sz="2000" i="1" dirty="0">
                <a:solidFill>
                  <a:srgbClr val="4472C4"/>
                </a:solidFill>
                <a:effectLst/>
                <a:latin typeface="Calibri" panose="020F0502020204030204" pitchFamily="34" charset="0"/>
                <a:ea typeface="Calibri" panose="020F0502020204030204" pitchFamily="34" charset="0"/>
                <a:cs typeface="Times New Roman" panose="02020603050405020304" pitchFamily="18" charset="0"/>
              </a:rPr>
              <a:t>During the pivotal scene at the Moore River camp</a:t>
            </a:r>
            <a:r>
              <a:rPr lang="en-AU" sz="2000" i="1" dirty="0">
                <a:effectLst/>
                <a:latin typeface="Calibri" panose="020F0502020204030204" pitchFamily="34" charset="0"/>
                <a:ea typeface="Calibri" panose="020F0502020204030204" pitchFamily="34" charset="0"/>
                <a:cs typeface="Times New Roman" panose="02020603050405020304" pitchFamily="18" charset="0"/>
              </a:rPr>
              <a:t>, </a:t>
            </a:r>
            <a:r>
              <a:rPr lang="en-AU" sz="2000" i="1" dirty="0">
                <a:solidFill>
                  <a:srgbClr val="C00000"/>
                </a:solidFill>
                <a:effectLst/>
                <a:latin typeface="Calibri" panose="020F0502020204030204" pitchFamily="34" charset="0"/>
                <a:ea typeface="Calibri" panose="020F0502020204030204" pitchFamily="34" charset="0"/>
                <a:cs typeface="Times New Roman" panose="02020603050405020304" pitchFamily="18" charset="0"/>
              </a:rPr>
              <a:t>Molly </a:t>
            </a:r>
            <a:r>
              <a:rPr lang="en-AU" sz="2000" i="1" dirty="0">
                <a:solidFill>
                  <a:srgbClr val="00B050"/>
                </a:solidFill>
                <a:effectLst/>
                <a:latin typeface="Calibri" panose="020F0502020204030204" pitchFamily="34" charset="0"/>
                <a:ea typeface="Calibri" panose="020F0502020204030204" pitchFamily="34" charset="0"/>
                <a:cs typeface="Times New Roman" panose="02020603050405020304" pitchFamily="18" charset="0"/>
              </a:rPr>
              <a:t>persuades</a:t>
            </a:r>
            <a:r>
              <a:rPr lang="en-AU" sz="2000" i="1" dirty="0">
                <a:solidFill>
                  <a:srgbClr val="385623"/>
                </a:solidFill>
                <a:effectLst/>
                <a:latin typeface="Calibri" panose="020F0502020204030204" pitchFamily="34" charset="0"/>
                <a:ea typeface="Calibri" panose="020F0502020204030204" pitchFamily="34" charset="0"/>
                <a:cs typeface="Times New Roman" panose="02020603050405020304" pitchFamily="18" charset="0"/>
              </a:rPr>
              <a:t> </a:t>
            </a:r>
            <a:r>
              <a:rPr lang="en-AU" sz="2000" i="1" dirty="0">
                <a:effectLst/>
                <a:latin typeface="Calibri" panose="020F0502020204030204" pitchFamily="34" charset="0"/>
                <a:ea typeface="Calibri" panose="020F0502020204030204" pitchFamily="34" charset="0"/>
                <a:cs typeface="Times New Roman" panose="02020603050405020304" pitchFamily="18" charset="0"/>
              </a:rPr>
              <a:t>the other two girls to escape from the mission.</a:t>
            </a:r>
          </a:p>
        </p:txBody>
      </p:sp>
    </p:spTree>
    <p:extLst>
      <p:ext uri="{BB962C8B-B14F-4D97-AF65-F5344CB8AC3E}">
        <p14:creationId xmlns:p14="http://schemas.microsoft.com/office/powerpoint/2010/main" val="25625326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FBD757-3742-440E-AE2D-2CD9067684D4}"/>
              </a:ext>
            </a:extLst>
          </p:cNvPr>
          <p:cNvSpPr>
            <a:spLocks noGrp="1"/>
          </p:cNvSpPr>
          <p:nvPr>
            <p:ph type="title"/>
          </p:nvPr>
        </p:nvSpPr>
        <p:spPr/>
        <p:txBody>
          <a:bodyPr/>
          <a:lstStyle/>
          <a:p>
            <a:r>
              <a:rPr lang="en-AU" sz="1800" b="1" dirty="0">
                <a:effectLst/>
                <a:latin typeface="Calibri" panose="020F0502020204030204" pitchFamily="34" charset="0"/>
                <a:ea typeface="Calibri" panose="020F0502020204030204" pitchFamily="34" charset="0"/>
                <a:cs typeface="Times New Roman" panose="02020603050405020304" pitchFamily="18" charset="0"/>
              </a:rPr>
              <a:t>Lesson 2: Using prepositions</a:t>
            </a:r>
            <a:endParaRPr lang="en-AU" dirty="0"/>
          </a:p>
        </p:txBody>
      </p:sp>
      <p:sp>
        <p:nvSpPr>
          <p:cNvPr id="3" name="Content Placeholder 2">
            <a:extLst>
              <a:ext uri="{FF2B5EF4-FFF2-40B4-BE49-F238E27FC236}">
                <a16:creationId xmlns:a16="http://schemas.microsoft.com/office/drawing/2014/main" id="{2ED0C459-27B7-4C01-BB02-D912069DFFBD}"/>
              </a:ext>
            </a:extLst>
          </p:cNvPr>
          <p:cNvSpPr>
            <a:spLocks noGrp="1"/>
          </p:cNvSpPr>
          <p:nvPr>
            <p:ph idx="1"/>
          </p:nvPr>
        </p:nvSpPr>
        <p:spPr/>
        <p:txBody>
          <a:bodyPr>
            <a:normAutofit fontScale="85000" lnSpcReduction="20000"/>
          </a:bodyPr>
          <a:lstStyle/>
          <a:p>
            <a:pPr marL="0" indent="0">
              <a:lnSpc>
                <a:spcPct val="107000"/>
              </a:lnSpc>
              <a:spcAft>
                <a:spcPts val="800"/>
              </a:spcAft>
              <a:buNone/>
            </a:pPr>
            <a:r>
              <a:rPr lang="en-AU" sz="2400" b="1" i="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Exercise</a:t>
            </a:r>
          </a:p>
          <a:p>
            <a:pPr marL="0" indent="0">
              <a:lnSpc>
                <a:spcPct val="107000"/>
              </a:lnSpc>
              <a:spcAft>
                <a:spcPts val="800"/>
              </a:spcAft>
              <a:buNone/>
            </a:pPr>
            <a:r>
              <a:rPr lang="en-AU" sz="2400" dirty="0">
                <a:effectLst/>
                <a:latin typeface="Calibri" panose="020F0502020204030204" pitchFamily="34" charset="0"/>
                <a:ea typeface="Calibri" panose="020F0502020204030204" pitchFamily="34" charset="0"/>
                <a:cs typeface="Times New Roman" panose="02020603050405020304" pitchFamily="18" charset="0"/>
              </a:rPr>
              <a:t>Add a </a:t>
            </a:r>
            <a:r>
              <a:rPr lang="en-AU" sz="2400" dirty="0">
                <a:solidFill>
                  <a:srgbClr val="0070C0"/>
                </a:solidFill>
                <a:effectLst/>
                <a:latin typeface="Calibri" panose="020F0502020204030204" pitchFamily="34" charset="0"/>
                <a:ea typeface="Calibri" panose="020F0502020204030204" pitchFamily="34" charset="0"/>
                <a:cs typeface="Times New Roman" panose="02020603050405020304" pitchFamily="18" charset="0"/>
              </a:rPr>
              <a:t>prepositional phrase </a:t>
            </a:r>
            <a:r>
              <a:rPr lang="en-AU" sz="2400" dirty="0">
                <a:effectLst/>
                <a:latin typeface="Calibri" panose="020F0502020204030204" pitchFamily="34" charset="0"/>
                <a:ea typeface="Calibri" panose="020F0502020204030204" pitchFamily="34" charset="0"/>
                <a:cs typeface="Times New Roman" panose="02020603050405020304" pitchFamily="18" charset="0"/>
              </a:rPr>
              <a:t>to your five sentences above (either focusing on character, or using the stretch goal sentences).</a:t>
            </a:r>
          </a:p>
          <a:p>
            <a:pPr marL="0" indent="0">
              <a:lnSpc>
                <a:spcPct val="107000"/>
              </a:lnSpc>
              <a:spcAft>
                <a:spcPts val="800"/>
              </a:spcAft>
              <a:buNone/>
            </a:pPr>
            <a:r>
              <a:rPr lang="en-AU" sz="2400" i="1" dirty="0">
                <a:effectLst/>
                <a:latin typeface="Calibri" panose="020F0502020204030204" pitchFamily="34" charset="0"/>
                <a:ea typeface="Calibri" panose="020F0502020204030204" pitchFamily="34" charset="0"/>
                <a:cs typeface="Times New Roman" panose="02020603050405020304" pitchFamily="18" charset="0"/>
              </a:rPr>
              <a:t>Write these sentences in your notebook.</a:t>
            </a:r>
          </a:p>
          <a:p>
            <a:pPr marL="895350" indent="0">
              <a:lnSpc>
                <a:spcPct val="107000"/>
              </a:lnSpc>
              <a:spcAft>
                <a:spcPts val="800"/>
              </a:spcAft>
              <a:buNone/>
            </a:pPr>
            <a:r>
              <a:rPr lang="en-AU" sz="2400" dirty="0">
                <a:effectLst/>
                <a:latin typeface="Calibri" panose="020F0502020204030204" pitchFamily="34" charset="0"/>
                <a:ea typeface="Calibri" panose="020F0502020204030204" pitchFamily="34" charset="0"/>
                <a:cs typeface="Times New Roman" panose="02020603050405020304" pitchFamily="18" charset="0"/>
              </a:rPr>
              <a:t>1.	 </a:t>
            </a:r>
          </a:p>
          <a:p>
            <a:pPr marL="895350" indent="0">
              <a:lnSpc>
                <a:spcPct val="107000"/>
              </a:lnSpc>
              <a:spcAft>
                <a:spcPts val="800"/>
              </a:spcAft>
              <a:buNone/>
            </a:pPr>
            <a:r>
              <a:rPr lang="en-AU" sz="2400" dirty="0">
                <a:effectLst/>
                <a:latin typeface="Calibri" panose="020F0502020204030204" pitchFamily="34" charset="0"/>
                <a:ea typeface="Calibri" panose="020F0502020204030204" pitchFamily="34" charset="0"/>
                <a:cs typeface="Times New Roman" panose="02020603050405020304" pitchFamily="18" charset="0"/>
              </a:rPr>
              <a:t>2.	 </a:t>
            </a:r>
          </a:p>
          <a:p>
            <a:pPr marL="895350" indent="0">
              <a:lnSpc>
                <a:spcPct val="107000"/>
              </a:lnSpc>
              <a:spcAft>
                <a:spcPts val="800"/>
              </a:spcAft>
              <a:buNone/>
            </a:pPr>
            <a:r>
              <a:rPr lang="en-AU" sz="2400" dirty="0">
                <a:effectLst/>
                <a:latin typeface="Calibri" panose="020F0502020204030204" pitchFamily="34" charset="0"/>
                <a:ea typeface="Calibri" panose="020F0502020204030204" pitchFamily="34" charset="0"/>
                <a:cs typeface="Times New Roman" panose="02020603050405020304" pitchFamily="18" charset="0"/>
              </a:rPr>
              <a:t>3.	 </a:t>
            </a:r>
          </a:p>
          <a:p>
            <a:pPr marL="895350" indent="0">
              <a:lnSpc>
                <a:spcPct val="107000"/>
              </a:lnSpc>
              <a:spcAft>
                <a:spcPts val="800"/>
              </a:spcAft>
              <a:buNone/>
            </a:pPr>
            <a:r>
              <a:rPr lang="en-AU" sz="2400" dirty="0">
                <a:effectLst/>
                <a:latin typeface="Calibri" panose="020F0502020204030204" pitchFamily="34" charset="0"/>
                <a:ea typeface="Calibri" panose="020F0502020204030204" pitchFamily="34" charset="0"/>
                <a:cs typeface="Times New Roman" panose="02020603050405020304" pitchFamily="18" charset="0"/>
              </a:rPr>
              <a:t>4.	 </a:t>
            </a:r>
          </a:p>
          <a:p>
            <a:pPr marL="895350" indent="0">
              <a:lnSpc>
                <a:spcPct val="107000"/>
              </a:lnSpc>
              <a:spcAft>
                <a:spcPts val="800"/>
              </a:spcAft>
              <a:buNone/>
            </a:pPr>
            <a:r>
              <a:rPr lang="en-AU" sz="2400" dirty="0">
                <a:effectLst/>
                <a:latin typeface="Calibri" panose="020F0502020204030204" pitchFamily="34" charset="0"/>
                <a:ea typeface="Calibri" panose="020F0502020204030204" pitchFamily="34" charset="0"/>
                <a:cs typeface="Times New Roman" panose="02020603050405020304" pitchFamily="18" charset="0"/>
              </a:rPr>
              <a:t>5.	 </a:t>
            </a:r>
          </a:p>
        </p:txBody>
      </p:sp>
    </p:spTree>
    <p:extLst>
      <p:ext uri="{BB962C8B-B14F-4D97-AF65-F5344CB8AC3E}">
        <p14:creationId xmlns:p14="http://schemas.microsoft.com/office/powerpoint/2010/main" val="54655823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BE7218-5761-4F6A-A323-A89FE5E602E2}"/>
              </a:ext>
            </a:extLst>
          </p:cNvPr>
          <p:cNvSpPr>
            <a:spLocks noGrp="1"/>
          </p:cNvSpPr>
          <p:nvPr>
            <p:ph type="title"/>
          </p:nvPr>
        </p:nvSpPr>
        <p:spPr/>
        <p:txBody>
          <a:bodyPr/>
          <a:lstStyle/>
          <a:p>
            <a:r>
              <a:rPr lang="en-AU" dirty="0"/>
              <a:t>Lesson 3: Focusing on language</a:t>
            </a:r>
          </a:p>
        </p:txBody>
      </p:sp>
      <p:sp>
        <p:nvSpPr>
          <p:cNvPr id="3" name="Text Placeholder 2">
            <a:extLst>
              <a:ext uri="{FF2B5EF4-FFF2-40B4-BE49-F238E27FC236}">
                <a16:creationId xmlns:a16="http://schemas.microsoft.com/office/drawing/2014/main" id="{081794EA-511E-4B69-97C4-AD07AC410CE9}"/>
              </a:ext>
            </a:extLst>
          </p:cNvPr>
          <p:cNvSpPr>
            <a:spLocks noGrp="1"/>
          </p:cNvSpPr>
          <p:nvPr>
            <p:ph type="body" idx="1"/>
          </p:nvPr>
        </p:nvSpPr>
        <p:spPr/>
        <p:txBody>
          <a:bodyPr>
            <a:normAutofit fontScale="92500" lnSpcReduction="20000"/>
          </a:bodyPr>
          <a:lstStyle/>
          <a:p>
            <a:r>
              <a:rPr lang="en-AU" dirty="0" err="1"/>
              <a:t>PUtting</a:t>
            </a:r>
            <a:r>
              <a:rPr lang="en-AU" dirty="0"/>
              <a:t> it all together</a:t>
            </a:r>
            <a:br>
              <a:rPr lang="en-AU" dirty="0"/>
            </a:br>
            <a:r>
              <a:rPr lang="en-AU" dirty="0"/>
              <a:t>Moving elements around</a:t>
            </a:r>
          </a:p>
        </p:txBody>
      </p:sp>
    </p:spTree>
    <p:extLst>
      <p:ext uri="{BB962C8B-B14F-4D97-AF65-F5344CB8AC3E}">
        <p14:creationId xmlns:p14="http://schemas.microsoft.com/office/powerpoint/2010/main" val="112811296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4218C-842D-4FF4-8414-5197A93385B7}"/>
              </a:ext>
            </a:extLst>
          </p:cNvPr>
          <p:cNvSpPr>
            <a:spLocks noGrp="1"/>
          </p:cNvSpPr>
          <p:nvPr>
            <p:ph type="title"/>
          </p:nvPr>
        </p:nvSpPr>
        <p:spPr/>
        <p:txBody>
          <a:bodyPr/>
          <a:lstStyle/>
          <a:p>
            <a:r>
              <a:rPr lang="en-AU" sz="1800" b="1" dirty="0">
                <a:effectLst/>
                <a:latin typeface="Calibri" panose="020F0502020204030204" pitchFamily="34" charset="0"/>
                <a:ea typeface="Calibri" panose="020F0502020204030204" pitchFamily="34" charset="0"/>
                <a:cs typeface="Times New Roman" panose="02020603050405020304" pitchFamily="18" charset="0"/>
              </a:rPr>
              <a:t>Lesson 3: Focusing on language</a:t>
            </a:r>
            <a:endParaRPr lang="en-AU" dirty="0"/>
          </a:p>
        </p:txBody>
      </p:sp>
      <p:sp>
        <p:nvSpPr>
          <p:cNvPr id="3" name="Content Placeholder 2">
            <a:extLst>
              <a:ext uri="{FF2B5EF4-FFF2-40B4-BE49-F238E27FC236}">
                <a16:creationId xmlns:a16="http://schemas.microsoft.com/office/drawing/2014/main" id="{5CF11D04-B37B-46B6-9A49-B4976326F4DE}"/>
              </a:ext>
            </a:extLst>
          </p:cNvPr>
          <p:cNvSpPr>
            <a:spLocks noGrp="1"/>
          </p:cNvSpPr>
          <p:nvPr>
            <p:ph idx="1"/>
          </p:nvPr>
        </p:nvSpPr>
        <p:spPr/>
        <p:txBody>
          <a:bodyPr>
            <a:normAutofit/>
          </a:bodyPr>
          <a:lstStyle/>
          <a:p>
            <a:pPr marL="0" indent="0">
              <a:lnSpc>
                <a:spcPct val="107000"/>
              </a:lnSpc>
              <a:spcAft>
                <a:spcPts val="800"/>
              </a:spcAft>
              <a:buNone/>
            </a:pPr>
            <a:r>
              <a:rPr lang="en-AU" sz="2200" dirty="0">
                <a:effectLst/>
                <a:latin typeface="Calibri" panose="020F0502020204030204" pitchFamily="34" charset="0"/>
                <a:ea typeface="Calibri" panose="020F0502020204030204" pitchFamily="34" charset="0"/>
                <a:cs typeface="Times New Roman" panose="02020603050405020304" pitchFamily="18" charset="0"/>
              </a:rPr>
              <a:t>If you </a:t>
            </a:r>
            <a:r>
              <a:rPr lang="en-AU" sz="2200" i="1" dirty="0">
                <a:effectLst/>
                <a:latin typeface="Calibri" panose="020F0502020204030204" pitchFamily="34" charset="0"/>
                <a:ea typeface="Calibri" panose="020F0502020204030204" pitchFamily="34" charset="0"/>
                <a:cs typeface="Times New Roman" panose="02020603050405020304" pitchFamily="18" charset="0"/>
              </a:rPr>
              <a:t>really</a:t>
            </a:r>
            <a:r>
              <a:rPr lang="en-AU" sz="2200" dirty="0">
                <a:effectLst/>
                <a:latin typeface="Calibri" panose="020F0502020204030204" pitchFamily="34" charset="0"/>
                <a:ea typeface="Calibri" panose="020F0502020204030204" pitchFamily="34" charset="0"/>
                <a:cs typeface="Times New Roman" panose="02020603050405020304" pitchFamily="18" charset="0"/>
              </a:rPr>
              <a:t> want to write about a text well, you might write about the language.</a:t>
            </a:r>
          </a:p>
          <a:p>
            <a:pPr marL="0" indent="0">
              <a:lnSpc>
                <a:spcPct val="107000"/>
              </a:lnSpc>
              <a:spcAft>
                <a:spcPts val="800"/>
              </a:spcAft>
              <a:buNone/>
            </a:pPr>
            <a:r>
              <a:rPr lang="en-AU" sz="2200" dirty="0">
                <a:effectLst/>
                <a:latin typeface="Calibri" panose="020F0502020204030204" pitchFamily="34" charset="0"/>
                <a:ea typeface="Calibri" panose="020F0502020204030204" pitchFamily="34" charset="0"/>
                <a:cs typeface="Times New Roman" panose="02020603050405020304" pitchFamily="18" charset="0"/>
              </a:rPr>
              <a:t>If you’re writing about a book, you might describe the types of words the author uses to describe the characters, events and surroundings.</a:t>
            </a:r>
          </a:p>
          <a:p>
            <a:pPr marL="0" indent="0">
              <a:lnSpc>
                <a:spcPct val="107000"/>
              </a:lnSpc>
              <a:spcAft>
                <a:spcPts val="800"/>
              </a:spcAft>
              <a:buNone/>
            </a:pPr>
            <a:r>
              <a:rPr lang="en-AU" sz="2200" dirty="0">
                <a:effectLst/>
                <a:latin typeface="Calibri" panose="020F0502020204030204" pitchFamily="34" charset="0"/>
                <a:ea typeface="Calibri" panose="020F0502020204030204" pitchFamily="34" charset="0"/>
                <a:cs typeface="Times New Roman" panose="02020603050405020304" pitchFamily="18" charset="0"/>
              </a:rPr>
              <a:t>In our case, we’re writing about a film, and during this term we’ve learned how to discuss camera shots, sound and acting.</a:t>
            </a:r>
          </a:p>
        </p:txBody>
      </p:sp>
    </p:spTree>
    <p:extLst>
      <p:ext uri="{BB962C8B-B14F-4D97-AF65-F5344CB8AC3E}">
        <p14:creationId xmlns:p14="http://schemas.microsoft.com/office/powerpoint/2010/main" val="73623598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4218C-842D-4FF4-8414-5197A93385B7}"/>
              </a:ext>
            </a:extLst>
          </p:cNvPr>
          <p:cNvSpPr>
            <a:spLocks noGrp="1"/>
          </p:cNvSpPr>
          <p:nvPr>
            <p:ph type="title"/>
          </p:nvPr>
        </p:nvSpPr>
        <p:spPr/>
        <p:txBody>
          <a:bodyPr/>
          <a:lstStyle/>
          <a:p>
            <a:r>
              <a:rPr lang="en-AU" sz="1800" b="1" dirty="0">
                <a:effectLst/>
                <a:latin typeface="Calibri" panose="020F0502020204030204" pitchFamily="34" charset="0"/>
                <a:ea typeface="Calibri" panose="020F0502020204030204" pitchFamily="34" charset="0"/>
                <a:cs typeface="Times New Roman" panose="02020603050405020304" pitchFamily="18" charset="0"/>
              </a:rPr>
              <a:t>Lesson 3: Focusing on language</a:t>
            </a:r>
            <a:endParaRPr lang="en-AU" dirty="0"/>
          </a:p>
        </p:txBody>
      </p:sp>
      <p:sp>
        <p:nvSpPr>
          <p:cNvPr id="3" name="Content Placeholder 2">
            <a:extLst>
              <a:ext uri="{FF2B5EF4-FFF2-40B4-BE49-F238E27FC236}">
                <a16:creationId xmlns:a16="http://schemas.microsoft.com/office/drawing/2014/main" id="{5CF11D04-B37B-46B6-9A49-B4976326F4DE}"/>
              </a:ext>
            </a:extLst>
          </p:cNvPr>
          <p:cNvSpPr>
            <a:spLocks noGrp="1"/>
          </p:cNvSpPr>
          <p:nvPr>
            <p:ph idx="1"/>
          </p:nvPr>
        </p:nvSpPr>
        <p:spPr/>
        <p:txBody>
          <a:bodyPr>
            <a:normAutofit/>
          </a:bodyPr>
          <a:lstStyle/>
          <a:p>
            <a:pPr marL="0" indent="0">
              <a:lnSpc>
                <a:spcPct val="107000"/>
              </a:lnSpc>
              <a:spcAft>
                <a:spcPts val="800"/>
              </a:spcAft>
              <a:buNone/>
            </a:pPr>
            <a:r>
              <a:rPr lang="en-AU" sz="2200" dirty="0">
                <a:effectLst/>
                <a:latin typeface="Calibri" panose="020F0502020204030204" pitchFamily="34" charset="0"/>
                <a:ea typeface="Calibri" panose="020F0502020204030204" pitchFamily="34" charset="0"/>
                <a:cs typeface="Times New Roman" panose="02020603050405020304" pitchFamily="18" charset="0"/>
              </a:rPr>
              <a:t>These kinds of sentences will allow you to </a:t>
            </a:r>
            <a:r>
              <a:rPr lang="en-AU" sz="2200" i="1" dirty="0">
                <a:effectLst/>
                <a:latin typeface="Calibri" panose="020F0502020204030204" pitchFamily="34" charset="0"/>
                <a:ea typeface="Calibri" panose="020F0502020204030204" pitchFamily="34" charset="0"/>
                <a:cs typeface="Times New Roman" panose="02020603050405020304" pitchFamily="18" charset="0"/>
              </a:rPr>
              <a:t>really analyse</a:t>
            </a:r>
            <a:r>
              <a:rPr lang="en-AU" sz="2200" dirty="0">
                <a:effectLst/>
                <a:latin typeface="Calibri" panose="020F0502020204030204" pitchFamily="34" charset="0"/>
                <a:ea typeface="Calibri" panose="020F0502020204030204" pitchFamily="34" charset="0"/>
                <a:cs typeface="Times New Roman" panose="02020603050405020304" pitchFamily="18" charset="0"/>
              </a:rPr>
              <a:t> the film and how it has been made.</a:t>
            </a:r>
          </a:p>
          <a:p>
            <a:pPr marL="442913" indent="0">
              <a:lnSpc>
                <a:spcPct val="107000"/>
              </a:lnSpc>
              <a:spcAft>
                <a:spcPts val="800"/>
              </a:spcAft>
              <a:buNone/>
            </a:pPr>
            <a:r>
              <a:rPr lang="en-AU" sz="2200" dirty="0">
                <a:solidFill>
                  <a:srgbClr val="C00000"/>
                </a:solidFill>
                <a:effectLst/>
                <a:latin typeface="Calibri" panose="020F0502020204030204" pitchFamily="34" charset="0"/>
                <a:ea typeface="Calibri" panose="020F0502020204030204" pitchFamily="34" charset="0"/>
                <a:cs typeface="Times New Roman" panose="02020603050405020304" pitchFamily="18" charset="0"/>
              </a:rPr>
              <a:t>The wide shot </a:t>
            </a:r>
            <a:r>
              <a:rPr lang="en-AU" sz="2200" dirty="0">
                <a:solidFill>
                  <a:srgbClr val="00B050"/>
                </a:solidFill>
                <a:effectLst/>
                <a:latin typeface="Calibri" panose="020F0502020204030204" pitchFamily="34" charset="0"/>
                <a:ea typeface="Calibri" panose="020F0502020204030204" pitchFamily="34" charset="0"/>
                <a:cs typeface="Times New Roman" panose="02020603050405020304" pitchFamily="18" charset="0"/>
              </a:rPr>
              <a:t>shows</a:t>
            </a:r>
            <a:r>
              <a:rPr lang="en-AU" sz="2200" dirty="0">
                <a:solidFill>
                  <a:srgbClr val="70AD47"/>
                </a:solidFill>
                <a:effectLst/>
                <a:latin typeface="Calibri" panose="020F0502020204030204" pitchFamily="34" charset="0"/>
                <a:ea typeface="Calibri" panose="020F0502020204030204" pitchFamily="34" charset="0"/>
                <a:cs typeface="Times New Roman" panose="02020603050405020304" pitchFamily="18" charset="0"/>
              </a:rPr>
              <a:t> </a:t>
            </a:r>
            <a:r>
              <a:rPr lang="en-AU" sz="2200" dirty="0">
                <a:effectLst/>
                <a:latin typeface="Calibri" panose="020F0502020204030204" pitchFamily="34" charset="0"/>
                <a:ea typeface="Calibri" panose="020F0502020204030204" pitchFamily="34" charset="0"/>
                <a:cs typeface="Times New Roman" panose="02020603050405020304" pitchFamily="18" charset="0"/>
              </a:rPr>
              <a:t>an old car appearing from behind the bushes in the brown, dusty community of Jigalong.</a:t>
            </a:r>
          </a:p>
          <a:p>
            <a:pPr marL="442913" indent="0">
              <a:lnSpc>
                <a:spcPct val="107000"/>
              </a:lnSpc>
              <a:spcAft>
                <a:spcPts val="800"/>
              </a:spcAft>
              <a:buNone/>
            </a:pPr>
            <a:r>
              <a:rPr lang="en-AU" sz="2200" dirty="0">
                <a:solidFill>
                  <a:srgbClr val="C00000"/>
                </a:solidFill>
                <a:effectLst/>
                <a:latin typeface="Calibri" panose="020F0502020204030204" pitchFamily="34" charset="0"/>
                <a:ea typeface="Calibri" panose="020F0502020204030204" pitchFamily="34" charset="0"/>
                <a:cs typeface="Times New Roman" panose="02020603050405020304" pitchFamily="18" charset="0"/>
              </a:rPr>
              <a:t>The non-diegetic voiceover </a:t>
            </a:r>
            <a:r>
              <a:rPr lang="en-AU" sz="2200" dirty="0">
                <a:solidFill>
                  <a:srgbClr val="00B050"/>
                </a:solidFill>
                <a:effectLst/>
                <a:latin typeface="Calibri" panose="020F0502020204030204" pitchFamily="34" charset="0"/>
                <a:ea typeface="Calibri" panose="020F0502020204030204" pitchFamily="34" charset="0"/>
                <a:cs typeface="Times New Roman" panose="02020603050405020304" pitchFamily="18" charset="0"/>
              </a:rPr>
              <a:t>allows the audience to hear </a:t>
            </a:r>
            <a:r>
              <a:rPr lang="en-AU" sz="2200" dirty="0">
                <a:solidFill>
                  <a:schemeClr val="tx2"/>
                </a:solidFill>
                <a:effectLst/>
                <a:latin typeface="Calibri" panose="020F0502020204030204" pitchFamily="34" charset="0"/>
                <a:ea typeface="Calibri" panose="020F0502020204030204" pitchFamily="34" charset="0"/>
                <a:cs typeface="Times New Roman" panose="02020603050405020304" pitchFamily="18" charset="0"/>
              </a:rPr>
              <a:t>the voice of an elderly, real-life Molly.</a:t>
            </a:r>
          </a:p>
          <a:p>
            <a:pPr marL="442913" indent="0">
              <a:lnSpc>
                <a:spcPct val="107000"/>
              </a:lnSpc>
              <a:spcAft>
                <a:spcPts val="800"/>
              </a:spcAft>
              <a:buNone/>
            </a:pPr>
            <a:r>
              <a:rPr lang="en-AU" sz="2200" dirty="0">
                <a:solidFill>
                  <a:srgbClr val="C00000"/>
                </a:solidFill>
                <a:effectLst/>
                <a:latin typeface="Calibri" panose="020F0502020204030204" pitchFamily="34" charset="0"/>
                <a:ea typeface="Calibri" panose="020F0502020204030204" pitchFamily="34" charset="0"/>
                <a:cs typeface="Times New Roman" panose="02020603050405020304" pitchFamily="18" charset="0"/>
              </a:rPr>
              <a:t>The text on the screen </a:t>
            </a:r>
            <a:r>
              <a:rPr lang="en-AU" sz="2200" dirty="0">
                <a:solidFill>
                  <a:srgbClr val="00B050"/>
                </a:solidFill>
                <a:effectLst/>
                <a:latin typeface="Calibri" panose="020F0502020204030204" pitchFamily="34" charset="0"/>
                <a:ea typeface="Calibri" panose="020F0502020204030204" pitchFamily="34" charset="0"/>
                <a:cs typeface="Times New Roman" panose="02020603050405020304" pitchFamily="18" charset="0"/>
              </a:rPr>
              <a:t>explains</a:t>
            </a:r>
            <a:r>
              <a:rPr lang="en-AU" sz="2200" dirty="0">
                <a:solidFill>
                  <a:srgbClr val="70AD47"/>
                </a:solidFill>
                <a:effectLst/>
                <a:latin typeface="Calibri" panose="020F0502020204030204" pitchFamily="34" charset="0"/>
                <a:ea typeface="Calibri" panose="020F0502020204030204" pitchFamily="34" charset="0"/>
                <a:cs typeface="Times New Roman" panose="02020603050405020304" pitchFamily="18" charset="0"/>
              </a:rPr>
              <a:t> </a:t>
            </a:r>
            <a:r>
              <a:rPr lang="en-AU" sz="2200" dirty="0">
                <a:effectLst/>
                <a:latin typeface="Calibri" panose="020F0502020204030204" pitchFamily="34" charset="0"/>
                <a:ea typeface="Calibri" panose="020F0502020204030204" pitchFamily="34" charset="0"/>
                <a:cs typeface="Times New Roman" panose="02020603050405020304" pitchFamily="18" charset="0"/>
              </a:rPr>
              <a:t>that AO Neville has the power to “remove any half-caste child” from their family.</a:t>
            </a:r>
          </a:p>
        </p:txBody>
      </p:sp>
    </p:spTree>
    <p:extLst>
      <p:ext uri="{BB962C8B-B14F-4D97-AF65-F5344CB8AC3E}">
        <p14:creationId xmlns:p14="http://schemas.microsoft.com/office/powerpoint/2010/main" val="422616506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FBD757-3742-440E-AE2D-2CD9067684D4}"/>
              </a:ext>
            </a:extLst>
          </p:cNvPr>
          <p:cNvSpPr>
            <a:spLocks noGrp="1"/>
          </p:cNvSpPr>
          <p:nvPr>
            <p:ph type="title"/>
          </p:nvPr>
        </p:nvSpPr>
        <p:spPr/>
        <p:txBody>
          <a:bodyPr/>
          <a:lstStyle/>
          <a:p>
            <a:r>
              <a:rPr lang="en-AU" sz="1800" b="1" dirty="0">
                <a:effectLst/>
                <a:latin typeface="Calibri" panose="020F0502020204030204" pitchFamily="34" charset="0"/>
                <a:ea typeface="Calibri" panose="020F0502020204030204" pitchFamily="34" charset="0"/>
                <a:cs typeface="Times New Roman" panose="02020603050405020304" pitchFamily="18" charset="0"/>
              </a:rPr>
              <a:t>Lesson 3: Focusing on language</a:t>
            </a:r>
            <a:endParaRPr lang="en-AU" dirty="0"/>
          </a:p>
        </p:txBody>
      </p:sp>
      <p:sp>
        <p:nvSpPr>
          <p:cNvPr id="3" name="Content Placeholder 2">
            <a:extLst>
              <a:ext uri="{FF2B5EF4-FFF2-40B4-BE49-F238E27FC236}">
                <a16:creationId xmlns:a16="http://schemas.microsoft.com/office/drawing/2014/main" id="{2ED0C459-27B7-4C01-BB02-D912069DFFBD}"/>
              </a:ext>
            </a:extLst>
          </p:cNvPr>
          <p:cNvSpPr>
            <a:spLocks noGrp="1"/>
          </p:cNvSpPr>
          <p:nvPr>
            <p:ph idx="1"/>
          </p:nvPr>
        </p:nvSpPr>
        <p:spPr>
          <a:xfrm>
            <a:off x="581192" y="2340864"/>
            <a:ext cx="11029615" cy="4309318"/>
          </a:xfrm>
        </p:spPr>
        <p:txBody>
          <a:bodyPr>
            <a:normAutofit fontScale="77500" lnSpcReduction="20000"/>
          </a:bodyPr>
          <a:lstStyle/>
          <a:p>
            <a:pPr marL="0" indent="0">
              <a:lnSpc>
                <a:spcPct val="107000"/>
              </a:lnSpc>
              <a:spcAft>
                <a:spcPts val="800"/>
              </a:spcAft>
              <a:buNone/>
            </a:pPr>
            <a:r>
              <a:rPr lang="en-AU" sz="2900" b="1" i="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Exercise</a:t>
            </a:r>
          </a:p>
          <a:p>
            <a:pPr marL="0" indent="0">
              <a:lnSpc>
                <a:spcPct val="107000"/>
              </a:lnSpc>
              <a:spcAft>
                <a:spcPts val="800"/>
              </a:spcAft>
              <a:buNone/>
            </a:pPr>
            <a:r>
              <a:rPr lang="en-AU" sz="2900" dirty="0">
                <a:effectLst/>
                <a:latin typeface="Calibri" panose="020F0502020204030204" pitchFamily="34" charset="0"/>
                <a:ea typeface="Calibri" panose="020F0502020204030204" pitchFamily="34" charset="0"/>
                <a:cs typeface="Times New Roman" panose="02020603050405020304" pitchFamily="18" charset="0"/>
              </a:rPr>
              <a:t>Using the details from your collaborative document and our class notes, write five more sentences that describe the cinematic elements of the first seven minutes of the film.</a:t>
            </a:r>
          </a:p>
          <a:p>
            <a:pPr marL="0" indent="0">
              <a:lnSpc>
                <a:spcPct val="107000"/>
              </a:lnSpc>
              <a:spcAft>
                <a:spcPts val="800"/>
              </a:spcAft>
              <a:buNone/>
            </a:pPr>
            <a:r>
              <a:rPr lang="en-AU" sz="2900" dirty="0">
                <a:effectLst/>
                <a:latin typeface="Calibri" panose="020F0502020204030204" pitchFamily="34" charset="0"/>
                <a:ea typeface="Calibri" panose="020F0502020204030204" pitchFamily="34" charset="0"/>
                <a:cs typeface="Times New Roman" panose="02020603050405020304" pitchFamily="18" charset="0"/>
              </a:rPr>
              <a:t>Remember, make sure that the language feature becomes the </a:t>
            </a:r>
            <a:r>
              <a:rPr lang="en-AU" sz="2900" dirty="0">
                <a:solidFill>
                  <a:srgbClr val="C00000"/>
                </a:solidFill>
                <a:effectLst/>
                <a:latin typeface="Calibri" panose="020F0502020204030204" pitchFamily="34" charset="0"/>
                <a:ea typeface="Calibri" panose="020F0502020204030204" pitchFamily="34" charset="0"/>
                <a:cs typeface="Times New Roman" panose="02020603050405020304" pitchFamily="18" charset="0"/>
              </a:rPr>
              <a:t>nominal group </a:t>
            </a:r>
            <a:r>
              <a:rPr lang="en-AU" sz="2900" dirty="0">
                <a:effectLst/>
                <a:latin typeface="Calibri" panose="020F0502020204030204" pitchFamily="34" charset="0"/>
                <a:ea typeface="Calibri" panose="020F0502020204030204" pitchFamily="34" charset="0"/>
                <a:cs typeface="Times New Roman" panose="02020603050405020304" pitchFamily="18" charset="0"/>
              </a:rPr>
              <a:t>of the sentence.</a:t>
            </a:r>
          </a:p>
          <a:p>
            <a:pPr marL="0" indent="0">
              <a:lnSpc>
                <a:spcPct val="107000"/>
              </a:lnSpc>
              <a:spcAft>
                <a:spcPts val="800"/>
              </a:spcAft>
              <a:buNone/>
            </a:pPr>
            <a:r>
              <a:rPr lang="en-AU" sz="2900" i="1" dirty="0">
                <a:effectLst/>
                <a:latin typeface="Calibri" panose="020F0502020204030204" pitchFamily="34" charset="0"/>
                <a:ea typeface="Calibri" panose="020F0502020204030204" pitchFamily="34" charset="0"/>
                <a:cs typeface="Times New Roman" panose="02020603050405020304" pitchFamily="18" charset="0"/>
              </a:rPr>
              <a:t>Write these sentences in your notebook.</a:t>
            </a:r>
          </a:p>
          <a:p>
            <a:pPr marL="895350" indent="0">
              <a:lnSpc>
                <a:spcPct val="107000"/>
              </a:lnSpc>
              <a:spcAft>
                <a:spcPts val="800"/>
              </a:spcAft>
              <a:buNone/>
            </a:pPr>
            <a:r>
              <a:rPr lang="en-AU" sz="2400" dirty="0">
                <a:effectLst/>
                <a:latin typeface="Calibri" panose="020F0502020204030204" pitchFamily="34" charset="0"/>
                <a:ea typeface="Calibri" panose="020F0502020204030204" pitchFamily="34" charset="0"/>
                <a:cs typeface="Times New Roman" panose="02020603050405020304" pitchFamily="18" charset="0"/>
              </a:rPr>
              <a:t>1.	 </a:t>
            </a:r>
          </a:p>
          <a:p>
            <a:pPr marL="895350" indent="0">
              <a:lnSpc>
                <a:spcPct val="107000"/>
              </a:lnSpc>
              <a:spcAft>
                <a:spcPts val="800"/>
              </a:spcAft>
              <a:buNone/>
            </a:pPr>
            <a:r>
              <a:rPr lang="en-AU" sz="2400" dirty="0">
                <a:effectLst/>
                <a:latin typeface="Calibri" panose="020F0502020204030204" pitchFamily="34" charset="0"/>
                <a:ea typeface="Calibri" panose="020F0502020204030204" pitchFamily="34" charset="0"/>
                <a:cs typeface="Times New Roman" panose="02020603050405020304" pitchFamily="18" charset="0"/>
              </a:rPr>
              <a:t>2.	 </a:t>
            </a:r>
          </a:p>
          <a:p>
            <a:pPr marL="895350" indent="0">
              <a:lnSpc>
                <a:spcPct val="107000"/>
              </a:lnSpc>
              <a:spcAft>
                <a:spcPts val="800"/>
              </a:spcAft>
              <a:buNone/>
            </a:pPr>
            <a:r>
              <a:rPr lang="en-AU" sz="2400" dirty="0">
                <a:effectLst/>
                <a:latin typeface="Calibri" panose="020F0502020204030204" pitchFamily="34" charset="0"/>
                <a:ea typeface="Calibri" panose="020F0502020204030204" pitchFamily="34" charset="0"/>
                <a:cs typeface="Times New Roman" panose="02020603050405020304" pitchFamily="18" charset="0"/>
              </a:rPr>
              <a:t>3.	 </a:t>
            </a:r>
          </a:p>
          <a:p>
            <a:pPr marL="895350" indent="0">
              <a:lnSpc>
                <a:spcPct val="107000"/>
              </a:lnSpc>
              <a:spcAft>
                <a:spcPts val="800"/>
              </a:spcAft>
              <a:buNone/>
            </a:pPr>
            <a:r>
              <a:rPr lang="en-AU" sz="2400" dirty="0">
                <a:effectLst/>
                <a:latin typeface="Calibri" panose="020F0502020204030204" pitchFamily="34" charset="0"/>
                <a:ea typeface="Calibri" panose="020F0502020204030204" pitchFamily="34" charset="0"/>
                <a:cs typeface="Times New Roman" panose="02020603050405020304" pitchFamily="18" charset="0"/>
              </a:rPr>
              <a:t>4.	 </a:t>
            </a:r>
          </a:p>
          <a:p>
            <a:pPr marL="895350" indent="0">
              <a:lnSpc>
                <a:spcPct val="107000"/>
              </a:lnSpc>
              <a:spcAft>
                <a:spcPts val="800"/>
              </a:spcAft>
              <a:buNone/>
            </a:pPr>
            <a:r>
              <a:rPr lang="en-AU" sz="2400" dirty="0">
                <a:effectLst/>
                <a:latin typeface="Calibri" panose="020F0502020204030204" pitchFamily="34" charset="0"/>
                <a:ea typeface="Calibri" panose="020F0502020204030204" pitchFamily="34" charset="0"/>
                <a:cs typeface="Times New Roman" panose="02020603050405020304" pitchFamily="18" charset="0"/>
              </a:rPr>
              <a:t>5.	 </a:t>
            </a:r>
          </a:p>
        </p:txBody>
      </p:sp>
    </p:spTree>
    <p:extLst>
      <p:ext uri="{BB962C8B-B14F-4D97-AF65-F5344CB8AC3E}">
        <p14:creationId xmlns:p14="http://schemas.microsoft.com/office/powerpoint/2010/main" val="69415576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FBD757-3742-440E-AE2D-2CD9067684D4}"/>
              </a:ext>
            </a:extLst>
          </p:cNvPr>
          <p:cNvSpPr>
            <a:spLocks noGrp="1"/>
          </p:cNvSpPr>
          <p:nvPr>
            <p:ph type="title"/>
          </p:nvPr>
        </p:nvSpPr>
        <p:spPr/>
        <p:txBody>
          <a:bodyPr/>
          <a:lstStyle/>
          <a:p>
            <a:r>
              <a:rPr lang="en-AU" sz="1800" b="1" dirty="0">
                <a:effectLst/>
                <a:latin typeface="Calibri" panose="020F0502020204030204" pitchFamily="34" charset="0"/>
                <a:ea typeface="Calibri" panose="020F0502020204030204" pitchFamily="34" charset="0"/>
                <a:cs typeface="Times New Roman" panose="02020603050405020304" pitchFamily="18" charset="0"/>
              </a:rPr>
              <a:t>Lesson 3: putting it all together</a:t>
            </a:r>
            <a:endParaRPr lang="en-AU" dirty="0"/>
          </a:p>
        </p:txBody>
      </p:sp>
      <p:sp>
        <p:nvSpPr>
          <p:cNvPr id="3" name="Content Placeholder 2">
            <a:extLst>
              <a:ext uri="{FF2B5EF4-FFF2-40B4-BE49-F238E27FC236}">
                <a16:creationId xmlns:a16="http://schemas.microsoft.com/office/drawing/2014/main" id="{2ED0C459-27B7-4C01-BB02-D912069DFFBD}"/>
              </a:ext>
            </a:extLst>
          </p:cNvPr>
          <p:cNvSpPr>
            <a:spLocks noGrp="1"/>
          </p:cNvSpPr>
          <p:nvPr>
            <p:ph idx="1"/>
          </p:nvPr>
        </p:nvSpPr>
        <p:spPr>
          <a:xfrm>
            <a:off x="581192" y="2340864"/>
            <a:ext cx="11029615" cy="4309318"/>
          </a:xfrm>
        </p:spPr>
        <p:txBody>
          <a:bodyPr>
            <a:normAutofit/>
          </a:bodyPr>
          <a:lstStyle/>
          <a:p>
            <a:pPr marL="0" indent="0">
              <a:lnSpc>
                <a:spcPct val="107000"/>
              </a:lnSpc>
              <a:spcAft>
                <a:spcPts val="800"/>
              </a:spcAft>
              <a:buNone/>
            </a:pPr>
            <a:r>
              <a:rPr lang="en-AU" sz="2200" dirty="0">
                <a:effectLst/>
                <a:latin typeface="Calibri" panose="020F0502020204030204" pitchFamily="34" charset="0"/>
                <a:ea typeface="Calibri" panose="020F0502020204030204" pitchFamily="34" charset="0"/>
                <a:cs typeface="Times New Roman" panose="02020603050405020304" pitchFamily="18" charset="0"/>
              </a:rPr>
              <a:t>So far, you’ve learned how to:</a:t>
            </a:r>
          </a:p>
          <a:p>
            <a:pPr marL="720725" indent="-304800">
              <a:lnSpc>
                <a:spcPct val="107000"/>
              </a:lnSpc>
            </a:pPr>
            <a:r>
              <a:rPr lang="en-AU" sz="2200" dirty="0">
                <a:effectLst/>
                <a:latin typeface="Calibri" panose="020F0502020204030204" pitchFamily="34" charset="0"/>
                <a:ea typeface="Calibri" panose="020F0502020204030204" pitchFamily="34" charset="0"/>
                <a:cs typeface="Times New Roman" panose="02020603050405020304" pitchFamily="18" charset="0"/>
              </a:rPr>
              <a:t>Choose to focus on text, character or language</a:t>
            </a:r>
          </a:p>
          <a:p>
            <a:pPr marL="720725" indent="-304800">
              <a:lnSpc>
                <a:spcPct val="107000"/>
              </a:lnSpc>
            </a:pPr>
            <a:r>
              <a:rPr lang="en-AU" sz="2200" dirty="0">
                <a:effectLst/>
                <a:latin typeface="Calibri" panose="020F0502020204030204" pitchFamily="34" charset="0"/>
                <a:ea typeface="Calibri" panose="020F0502020204030204" pitchFamily="34" charset="0"/>
                <a:cs typeface="Times New Roman" panose="02020603050405020304" pitchFamily="18" charset="0"/>
              </a:rPr>
              <a:t>Add detail to the </a:t>
            </a:r>
            <a:r>
              <a:rPr lang="en-AU" sz="2200" dirty="0">
                <a:solidFill>
                  <a:srgbClr val="C00000"/>
                </a:solidFill>
                <a:effectLst/>
                <a:latin typeface="Calibri" panose="020F0502020204030204" pitchFamily="34" charset="0"/>
                <a:ea typeface="Calibri" panose="020F0502020204030204" pitchFamily="34" charset="0"/>
                <a:cs typeface="Times New Roman" panose="02020603050405020304" pitchFamily="18" charset="0"/>
              </a:rPr>
              <a:t>nominal group</a:t>
            </a:r>
          </a:p>
          <a:p>
            <a:pPr marL="720725" indent="-304800">
              <a:lnSpc>
                <a:spcPct val="107000"/>
              </a:lnSpc>
            </a:pPr>
            <a:r>
              <a:rPr lang="en-AU" sz="2200" dirty="0">
                <a:effectLst/>
                <a:latin typeface="Calibri" panose="020F0502020204030204" pitchFamily="34" charset="0"/>
                <a:ea typeface="Calibri" panose="020F0502020204030204" pitchFamily="34" charset="0"/>
                <a:cs typeface="Times New Roman" panose="02020603050405020304" pitchFamily="18" charset="0"/>
              </a:rPr>
              <a:t>Use different types of </a:t>
            </a:r>
            <a:r>
              <a:rPr lang="en-AU" sz="2200" dirty="0">
                <a:solidFill>
                  <a:srgbClr val="00B050"/>
                </a:solidFill>
                <a:effectLst/>
                <a:latin typeface="Calibri" panose="020F0502020204030204" pitchFamily="34" charset="0"/>
                <a:ea typeface="Calibri" panose="020F0502020204030204" pitchFamily="34" charset="0"/>
                <a:cs typeface="Times New Roman" panose="02020603050405020304" pitchFamily="18" charset="0"/>
              </a:rPr>
              <a:t>verbs</a:t>
            </a:r>
            <a:r>
              <a:rPr lang="en-AU" sz="2200" dirty="0">
                <a:effectLst/>
                <a:latin typeface="Calibri" panose="020F0502020204030204" pitchFamily="34" charset="0"/>
                <a:ea typeface="Calibri" panose="020F0502020204030204" pitchFamily="34" charset="0"/>
                <a:cs typeface="Times New Roman" panose="02020603050405020304" pitchFamily="18" charset="0"/>
              </a:rPr>
              <a:t> to analyse the text</a:t>
            </a:r>
          </a:p>
          <a:p>
            <a:pPr marL="720725" indent="-304800">
              <a:lnSpc>
                <a:spcPct val="107000"/>
              </a:lnSpc>
              <a:spcAft>
                <a:spcPts val="800"/>
              </a:spcAft>
            </a:pPr>
            <a:r>
              <a:rPr lang="en-AU" sz="2200" dirty="0">
                <a:effectLst/>
                <a:latin typeface="Calibri" panose="020F0502020204030204" pitchFamily="34" charset="0"/>
                <a:ea typeface="Calibri" panose="020F0502020204030204" pitchFamily="34" charset="0"/>
                <a:cs typeface="Times New Roman" panose="02020603050405020304" pitchFamily="18" charset="0"/>
              </a:rPr>
              <a:t>Add </a:t>
            </a:r>
            <a:r>
              <a:rPr lang="en-AU" sz="2200" dirty="0">
                <a:solidFill>
                  <a:srgbClr val="0070C0"/>
                </a:solidFill>
                <a:effectLst/>
                <a:latin typeface="Calibri" panose="020F0502020204030204" pitchFamily="34" charset="0"/>
                <a:ea typeface="Calibri" panose="020F0502020204030204" pitchFamily="34" charset="0"/>
                <a:cs typeface="Times New Roman" panose="02020603050405020304" pitchFamily="18" charset="0"/>
              </a:rPr>
              <a:t>prepositional phrases </a:t>
            </a:r>
            <a:r>
              <a:rPr lang="en-AU" sz="2200" dirty="0">
                <a:effectLst/>
                <a:latin typeface="Calibri" panose="020F0502020204030204" pitchFamily="34" charset="0"/>
                <a:ea typeface="Calibri" panose="020F0502020204030204" pitchFamily="34" charset="0"/>
                <a:cs typeface="Times New Roman" panose="02020603050405020304" pitchFamily="18" charset="0"/>
              </a:rPr>
              <a:t>to your sentences</a:t>
            </a:r>
          </a:p>
          <a:p>
            <a:pPr marL="0" indent="0">
              <a:lnSpc>
                <a:spcPct val="107000"/>
              </a:lnSpc>
              <a:spcAft>
                <a:spcPts val="800"/>
              </a:spcAft>
              <a:buNone/>
            </a:pPr>
            <a:r>
              <a:rPr lang="en-AU" sz="2200" dirty="0">
                <a:effectLst/>
                <a:latin typeface="Calibri" panose="020F0502020204030204" pitchFamily="34" charset="0"/>
                <a:ea typeface="Calibri" panose="020F0502020204030204" pitchFamily="34" charset="0"/>
                <a:cs typeface="Times New Roman" panose="02020603050405020304" pitchFamily="18" charset="0"/>
              </a:rPr>
              <a:t>Now, you’re going to try to combine all these skills at once.</a:t>
            </a:r>
          </a:p>
        </p:txBody>
      </p:sp>
    </p:spTree>
    <p:extLst>
      <p:ext uri="{BB962C8B-B14F-4D97-AF65-F5344CB8AC3E}">
        <p14:creationId xmlns:p14="http://schemas.microsoft.com/office/powerpoint/2010/main" val="154723798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FBD757-3742-440E-AE2D-2CD9067684D4}"/>
              </a:ext>
            </a:extLst>
          </p:cNvPr>
          <p:cNvSpPr>
            <a:spLocks noGrp="1"/>
          </p:cNvSpPr>
          <p:nvPr>
            <p:ph type="title"/>
          </p:nvPr>
        </p:nvSpPr>
        <p:spPr/>
        <p:txBody>
          <a:bodyPr/>
          <a:lstStyle/>
          <a:p>
            <a:r>
              <a:rPr lang="en-AU" sz="1800" b="1" dirty="0">
                <a:effectLst/>
                <a:latin typeface="Calibri" panose="020F0502020204030204" pitchFamily="34" charset="0"/>
                <a:ea typeface="Calibri" panose="020F0502020204030204" pitchFamily="34" charset="0"/>
                <a:cs typeface="Times New Roman" panose="02020603050405020304" pitchFamily="18" charset="0"/>
              </a:rPr>
              <a:t>Lesson 3: putting it all together</a:t>
            </a:r>
            <a:endParaRPr lang="en-AU" dirty="0"/>
          </a:p>
        </p:txBody>
      </p:sp>
      <p:sp>
        <p:nvSpPr>
          <p:cNvPr id="3" name="Content Placeholder 2">
            <a:extLst>
              <a:ext uri="{FF2B5EF4-FFF2-40B4-BE49-F238E27FC236}">
                <a16:creationId xmlns:a16="http://schemas.microsoft.com/office/drawing/2014/main" id="{2ED0C459-27B7-4C01-BB02-D912069DFFBD}"/>
              </a:ext>
            </a:extLst>
          </p:cNvPr>
          <p:cNvSpPr>
            <a:spLocks noGrp="1"/>
          </p:cNvSpPr>
          <p:nvPr>
            <p:ph idx="1"/>
          </p:nvPr>
        </p:nvSpPr>
        <p:spPr>
          <a:xfrm>
            <a:off x="581192" y="2340864"/>
            <a:ext cx="11029615" cy="4309318"/>
          </a:xfrm>
        </p:spPr>
        <p:txBody>
          <a:bodyPr>
            <a:normAutofit/>
          </a:bodyPr>
          <a:lstStyle/>
          <a:p>
            <a:pPr marL="0" indent="0">
              <a:lnSpc>
                <a:spcPct val="107000"/>
              </a:lnSpc>
              <a:spcAft>
                <a:spcPts val="800"/>
              </a:spcAft>
              <a:buNone/>
            </a:pPr>
            <a:r>
              <a:rPr lang="en-AU" sz="2200" b="1" i="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Your turn</a:t>
            </a:r>
          </a:p>
          <a:p>
            <a:pPr marL="0" indent="0">
              <a:lnSpc>
                <a:spcPct val="107000"/>
              </a:lnSpc>
              <a:spcAft>
                <a:spcPts val="800"/>
              </a:spcAft>
              <a:buNone/>
            </a:pPr>
            <a:r>
              <a:rPr lang="en-AU" sz="2200" dirty="0">
                <a:latin typeface="Calibri" panose="020F0502020204030204" pitchFamily="34" charset="0"/>
                <a:ea typeface="Calibri" panose="020F0502020204030204" pitchFamily="34" charset="0"/>
                <a:cs typeface="Times New Roman" panose="02020603050405020304" pitchFamily="18" charset="0"/>
              </a:rPr>
              <a:t>N</a:t>
            </a:r>
            <a:r>
              <a:rPr lang="en-AU" sz="2200" dirty="0">
                <a:effectLst/>
                <a:latin typeface="Calibri" panose="020F0502020204030204" pitchFamily="34" charset="0"/>
                <a:ea typeface="Calibri" panose="020F0502020204030204" pitchFamily="34" charset="0"/>
                <a:cs typeface="Times New Roman" panose="02020603050405020304" pitchFamily="18" charset="0"/>
              </a:rPr>
              <a:t>ow, you’re going to try to combine all these skills at once.</a:t>
            </a:r>
          </a:p>
          <a:p>
            <a:pPr marL="720725" lvl="0" indent="-342900">
              <a:lnSpc>
                <a:spcPct val="107000"/>
              </a:lnSpc>
              <a:buClr>
                <a:schemeClr val="tx2"/>
              </a:buClr>
              <a:buFont typeface="+mj-lt"/>
              <a:buAutoNum type="arabicPeriod"/>
            </a:pPr>
            <a:r>
              <a:rPr lang="en-AU" sz="2200" dirty="0">
                <a:effectLst/>
                <a:latin typeface="Calibri" panose="020F0502020204030204" pitchFamily="34" charset="0"/>
                <a:ea typeface="Calibri" panose="020F0502020204030204" pitchFamily="34" charset="0"/>
                <a:cs typeface="Times New Roman" panose="02020603050405020304" pitchFamily="18" charset="0"/>
              </a:rPr>
              <a:t>Take a sentence about a </a:t>
            </a:r>
            <a:r>
              <a:rPr lang="en-AU" sz="2200" b="1" dirty="0">
                <a:effectLst/>
                <a:latin typeface="Calibri" panose="020F0502020204030204" pitchFamily="34" charset="0"/>
                <a:ea typeface="Calibri" panose="020F0502020204030204" pitchFamily="34" charset="0"/>
                <a:cs typeface="Times New Roman" panose="02020603050405020304" pitchFamily="18" charset="0"/>
              </a:rPr>
              <a:t>character</a:t>
            </a:r>
            <a:r>
              <a:rPr lang="en-AU" sz="2200" dirty="0">
                <a:effectLst/>
                <a:latin typeface="Calibri" panose="020F0502020204030204" pitchFamily="34" charset="0"/>
                <a:ea typeface="Calibri" panose="020F0502020204030204" pitchFamily="34" charset="0"/>
                <a:cs typeface="Times New Roman" panose="02020603050405020304" pitchFamily="18" charset="0"/>
              </a:rPr>
              <a:t> and </a:t>
            </a:r>
            <a:r>
              <a:rPr lang="en-AU" sz="2200" dirty="0">
                <a:solidFill>
                  <a:srgbClr val="C00000"/>
                </a:solidFill>
                <a:effectLst/>
                <a:latin typeface="Calibri" panose="020F0502020204030204" pitchFamily="34" charset="0"/>
                <a:ea typeface="Calibri" panose="020F0502020204030204" pitchFamily="34" charset="0"/>
                <a:cs typeface="Times New Roman" panose="02020603050405020304" pitchFamily="18" charset="0"/>
              </a:rPr>
              <a:t>add detail to the nominal group</a:t>
            </a:r>
            <a:r>
              <a:rPr lang="en-AU" sz="2200" dirty="0">
                <a:effectLst/>
                <a:latin typeface="Calibri" panose="020F0502020204030204" pitchFamily="34" charset="0"/>
                <a:ea typeface="Calibri" panose="020F0502020204030204" pitchFamily="34" charset="0"/>
                <a:cs typeface="Times New Roman" panose="02020603050405020304" pitchFamily="18" charset="0"/>
              </a:rPr>
              <a:t>, use an </a:t>
            </a:r>
            <a:r>
              <a:rPr lang="en-AU" sz="2200" dirty="0">
                <a:solidFill>
                  <a:srgbClr val="00B050"/>
                </a:solidFill>
                <a:effectLst/>
                <a:latin typeface="Calibri" panose="020F0502020204030204" pitchFamily="34" charset="0"/>
                <a:ea typeface="Calibri" panose="020F0502020204030204" pitchFamily="34" charset="0"/>
                <a:cs typeface="Times New Roman" panose="02020603050405020304" pitchFamily="18" charset="0"/>
              </a:rPr>
              <a:t>analysing verb</a:t>
            </a:r>
            <a:r>
              <a:rPr lang="en-AU" sz="2200" dirty="0">
                <a:solidFill>
                  <a:srgbClr val="538135"/>
                </a:solidFill>
                <a:effectLst/>
                <a:latin typeface="Calibri" panose="020F0502020204030204" pitchFamily="34" charset="0"/>
                <a:ea typeface="Calibri" panose="020F0502020204030204" pitchFamily="34" charset="0"/>
                <a:cs typeface="Times New Roman" panose="02020603050405020304" pitchFamily="18" charset="0"/>
              </a:rPr>
              <a:t> </a:t>
            </a:r>
            <a:r>
              <a:rPr lang="en-AU" sz="2200" dirty="0">
                <a:effectLst/>
                <a:latin typeface="Calibri" panose="020F0502020204030204" pitchFamily="34" charset="0"/>
                <a:ea typeface="Calibri" panose="020F0502020204030204" pitchFamily="34" charset="0"/>
                <a:cs typeface="Times New Roman" panose="02020603050405020304" pitchFamily="18" charset="0"/>
              </a:rPr>
              <a:t>and a </a:t>
            </a:r>
            <a:r>
              <a:rPr lang="en-AU" sz="2200" dirty="0">
                <a:solidFill>
                  <a:srgbClr val="0070C0"/>
                </a:solidFill>
                <a:effectLst/>
                <a:latin typeface="Calibri" panose="020F0502020204030204" pitchFamily="34" charset="0"/>
                <a:ea typeface="Calibri" panose="020F0502020204030204" pitchFamily="34" charset="0"/>
                <a:cs typeface="Times New Roman" panose="02020603050405020304" pitchFamily="18" charset="0"/>
              </a:rPr>
              <a:t>prepositional phrase</a:t>
            </a:r>
            <a:endParaRPr lang="en-AU" sz="2200" dirty="0">
              <a:effectLst/>
              <a:latin typeface="Calibri" panose="020F0502020204030204" pitchFamily="34" charset="0"/>
              <a:ea typeface="Calibri" panose="020F0502020204030204" pitchFamily="34" charset="0"/>
              <a:cs typeface="Times New Roman" panose="02020603050405020304" pitchFamily="18" charset="0"/>
            </a:endParaRPr>
          </a:p>
          <a:p>
            <a:pPr marL="720725" lvl="0" indent="-342900">
              <a:lnSpc>
                <a:spcPct val="107000"/>
              </a:lnSpc>
              <a:buClr>
                <a:schemeClr val="tx2"/>
              </a:buClr>
              <a:buFont typeface="+mj-lt"/>
              <a:buAutoNum type="arabicPeriod"/>
            </a:pPr>
            <a:r>
              <a:rPr lang="en-AU" sz="2200" dirty="0">
                <a:effectLst/>
                <a:latin typeface="Calibri" panose="020F0502020204030204" pitchFamily="34" charset="0"/>
                <a:ea typeface="Calibri" panose="020F0502020204030204" pitchFamily="34" charset="0"/>
                <a:cs typeface="Times New Roman" panose="02020603050405020304" pitchFamily="18" charset="0"/>
              </a:rPr>
              <a:t>Take a sentence about the </a:t>
            </a:r>
            <a:r>
              <a:rPr lang="en-AU" sz="2200" b="1" dirty="0">
                <a:effectLst/>
                <a:latin typeface="Calibri" panose="020F0502020204030204" pitchFamily="34" charset="0"/>
                <a:ea typeface="Calibri" panose="020F0502020204030204" pitchFamily="34" charset="0"/>
                <a:cs typeface="Times New Roman" panose="02020603050405020304" pitchFamily="18" charset="0"/>
              </a:rPr>
              <a:t>text</a:t>
            </a:r>
            <a:r>
              <a:rPr lang="en-AU" sz="2200" dirty="0">
                <a:effectLst/>
                <a:latin typeface="Calibri" panose="020F0502020204030204" pitchFamily="34" charset="0"/>
                <a:ea typeface="Calibri" panose="020F0502020204030204" pitchFamily="34" charset="0"/>
                <a:cs typeface="Times New Roman" panose="02020603050405020304" pitchFamily="18" charset="0"/>
              </a:rPr>
              <a:t> and </a:t>
            </a:r>
            <a:r>
              <a:rPr lang="en-AU" sz="2200" dirty="0">
                <a:solidFill>
                  <a:srgbClr val="C00000"/>
                </a:solidFill>
                <a:effectLst/>
                <a:latin typeface="Calibri" panose="020F0502020204030204" pitchFamily="34" charset="0"/>
                <a:ea typeface="Calibri" panose="020F0502020204030204" pitchFamily="34" charset="0"/>
                <a:cs typeface="Times New Roman" panose="02020603050405020304" pitchFamily="18" charset="0"/>
              </a:rPr>
              <a:t>add detail to the nominal group</a:t>
            </a:r>
            <a:r>
              <a:rPr lang="en-AU" sz="2200" dirty="0">
                <a:effectLst/>
                <a:latin typeface="Calibri" panose="020F0502020204030204" pitchFamily="34" charset="0"/>
                <a:ea typeface="Calibri" panose="020F0502020204030204" pitchFamily="34" charset="0"/>
                <a:cs typeface="Times New Roman" panose="02020603050405020304" pitchFamily="18" charset="0"/>
              </a:rPr>
              <a:t>, use an </a:t>
            </a:r>
            <a:r>
              <a:rPr lang="en-AU" sz="2200" dirty="0">
                <a:solidFill>
                  <a:srgbClr val="00B050"/>
                </a:solidFill>
                <a:effectLst/>
                <a:latin typeface="Calibri" panose="020F0502020204030204" pitchFamily="34" charset="0"/>
                <a:ea typeface="Calibri" panose="020F0502020204030204" pitchFamily="34" charset="0"/>
                <a:cs typeface="Times New Roman" panose="02020603050405020304" pitchFamily="18" charset="0"/>
              </a:rPr>
              <a:t>analysing verb</a:t>
            </a:r>
            <a:r>
              <a:rPr lang="en-AU" sz="2200" dirty="0">
                <a:solidFill>
                  <a:srgbClr val="538135"/>
                </a:solidFill>
                <a:effectLst/>
                <a:latin typeface="Calibri" panose="020F0502020204030204" pitchFamily="34" charset="0"/>
                <a:ea typeface="Calibri" panose="020F0502020204030204" pitchFamily="34" charset="0"/>
                <a:cs typeface="Times New Roman" panose="02020603050405020304" pitchFamily="18" charset="0"/>
              </a:rPr>
              <a:t> </a:t>
            </a:r>
            <a:r>
              <a:rPr lang="en-AU" sz="2200" dirty="0">
                <a:effectLst/>
                <a:latin typeface="Calibri" panose="020F0502020204030204" pitchFamily="34" charset="0"/>
                <a:ea typeface="Calibri" panose="020F0502020204030204" pitchFamily="34" charset="0"/>
                <a:cs typeface="Times New Roman" panose="02020603050405020304" pitchFamily="18" charset="0"/>
              </a:rPr>
              <a:t>and a </a:t>
            </a:r>
            <a:r>
              <a:rPr lang="en-AU" sz="2200" dirty="0">
                <a:solidFill>
                  <a:srgbClr val="0070C0"/>
                </a:solidFill>
                <a:effectLst/>
                <a:latin typeface="Calibri" panose="020F0502020204030204" pitchFamily="34" charset="0"/>
                <a:ea typeface="Calibri" panose="020F0502020204030204" pitchFamily="34" charset="0"/>
                <a:cs typeface="Times New Roman" panose="02020603050405020304" pitchFamily="18" charset="0"/>
              </a:rPr>
              <a:t>prepositional phrase	</a:t>
            </a:r>
            <a:endParaRPr lang="en-AU" sz="2200" dirty="0">
              <a:effectLst/>
              <a:latin typeface="Calibri" panose="020F0502020204030204" pitchFamily="34" charset="0"/>
              <a:ea typeface="Calibri" panose="020F0502020204030204" pitchFamily="34" charset="0"/>
              <a:cs typeface="Times New Roman" panose="02020603050405020304" pitchFamily="18" charset="0"/>
            </a:endParaRPr>
          </a:p>
          <a:p>
            <a:pPr marL="720725" lvl="0" indent="-342900">
              <a:lnSpc>
                <a:spcPct val="107000"/>
              </a:lnSpc>
              <a:spcAft>
                <a:spcPts val="800"/>
              </a:spcAft>
              <a:buClr>
                <a:schemeClr val="tx2"/>
              </a:buClr>
              <a:buFont typeface="+mj-lt"/>
              <a:buAutoNum type="arabicPeriod"/>
            </a:pPr>
            <a:r>
              <a:rPr lang="en-AU" sz="2200" dirty="0">
                <a:effectLst/>
                <a:latin typeface="Calibri" panose="020F0502020204030204" pitchFamily="34" charset="0"/>
                <a:ea typeface="Calibri" panose="020F0502020204030204" pitchFamily="34" charset="0"/>
                <a:cs typeface="Times New Roman" panose="02020603050405020304" pitchFamily="18" charset="0"/>
              </a:rPr>
              <a:t>Take a sentence about </a:t>
            </a:r>
            <a:r>
              <a:rPr lang="en-AU" sz="2200" b="1" dirty="0">
                <a:effectLst/>
                <a:latin typeface="Calibri" panose="020F0502020204030204" pitchFamily="34" charset="0"/>
                <a:ea typeface="Calibri" panose="020F0502020204030204" pitchFamily="34" charset="0"/>
                <a:cs typeface="Times New Roman" panose="02020603050405020304" pitchFamily="18" charset="0"/>
              </a:rPr>
              <a:t>film language</a:t>
            </a:r>
            <a:r>
              <a:rPr lang="en-AU" sz="2200" dirty="0">
                <a:effectLst/>
                <a:latin typeface="Calibri" panose="020F0502020204030204" pitchFamily="34" charset="0"/>
                <a:ea typeface="Calibri" panose="020F0502020204030204" pitchFamily="34" charset="0"/>
                <a:cs typeface="Times New Roman" panose="02020603050405020304" pitchFamily="18" charset="0"/>
              </a:rPr>
              <a:t> and </a:t>
            </a:r>
            <a:r>
              <a:rPr lang="en-AU" sz="2200" dirty="0">
                <a:solidFill>
                  <a:srgbClr val="C00000"/>
                </a:solidFill>
                <a:effectLst/>
                <a:latin typeface="Calibri" panose="020F0502020204030204" pitchFamily="34" charset="0"/>
                <a:ea typeface="Calibri" panose="020F0502020204030204" pitchFamily="34" charset="0"/>
                <a:cs typeface="Times New Roman" panose="02020603050405020304" pitchFamily="18" charset="0"/>
              </a:rPr>
              <a:t>add detail to the nominal group</a:t>
            </a:r>
            <a:r>
              <a:rPr lang="en-AU" sz="2200" dirty="0">
                <a:effectLst/>
                <a:latin typeface="Calibri" panose="020F0502020204030204" pitchFamily="34" charset="0"/>
                <a:ea typeface="Calibri" panose="020F0502020204030204" pitchFamily="34" charset="0"/>
                <a:cs typeface="Times New Roman" panose="02020603050405020304" pitchFamily="18" charset="0"/>
              </a:rPr>
              <a:t>, use an </a:t>
            </a:r>
            <a:r>
              <a:rPr lang="en-AU" sz="2200" dirty="0">
                <a:solidFill>
                  <a:srgbClr val="00B050"/>
                </a:solidFill>
                <a:effectLst/>
                <a:latin typeface="Calibri" panose="020F0502020204030204" pitchFamily="34" charset="0"/>
                <a:ea typeface="Calibri" panose="020F0502020204030204" pitchFamily="34" charset="0"/>
                <a:cs typeface="Times New Roman" panose="02020603050405020304" pitchFamily="18" charset="0"/>
              </a:rPr>
              <a:t>analysing verb </a:t>
            </a:r>
            <a:r>
              <a:rPr lang="en-AU" sz="2200" dirty="0">
                <a:effectLst/>
                <a:latin typeface="Calibri" panose="020F0502020204030204" pitchFamily="34" charset="0"/>
                <a:ea typeface="Calibri" panose="020F0502020204030204" pitchFamily="34" charset="0"/>
                <a:cs typeface="Times New Roman" panose="02020603050405020304" pitchFamily="18" charset="0"/>
              </a:rPr>
              <a:t>and a </a:t>
            </a:r>
            <a:r>
              <a:rPr lang="en-AU" sz="2200" dirty="0">
                <a:solidFill>
                  <a:srgbClr val="0070C0"/>
                </a:solidFill>
                <a:effectLst/>
                <a:latin typeface="Calibri" panose="020F0502020204030204" pitchFamily="34" charset="0"/>
                <a:ea typeface="Calibri" panose="020F0502020204030204" pitchFamily="34" charset="0"/>
                <a:cs typeface="Times New Roman" panose="02020603050405020304" pitchFamily="18" charset="0"/>
              </a:rPr>
              <a:t>prepositional phrase</a:t>
            </a:r>
            <a:endParaRPr lang="en-AU" sz="2200" dirty="0">
              <a:effectLst/>
              <a:latin typeface="Calibri" panose="020F0502020204030204" pitchFamily="34" charset="0"/>
              <a:ea typeface="Calibri" panose="020F0502020204030204" pitchFamily="34" charset="0"/>
              <a:cs typeface="Times New Roman" panose="02020603050405020304" pitchFamily="18" charset="0"/>
            </a:endParaRPr>
          </a:p>
          <a:p>
            <a:pPr marL="895350" indent="0">
              <a:lnSpc>
                <a:spcPct val="107000"/>
              </a:lnSpc>
              <a:spcAft>
                <a:spcPts val="800"/>
              </a:spcAft>
              <a:buNone/>
            </a:pPr>
            <a:endParaRPr lang="en-AU" sz="24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56133128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C1C4C0-05C8-402F-9A54-2B63044D4C20}"/>
              </a:ext>
            </a:extLst>
          </p:cNvPr>
          <p:cNvSpPr>
            <a:spLocks noGrp="1"/>
          </p:cNvSpPr>
          <p:nvPr>
            <p:ph type="title"/>
          </p:nvPr>
        </p:nvSpPr>
        <p:spPr/>
        <p:txBody>
          <a:bodyPr/>
          <a:lstStyle/>
          <a:p>
            <a:r>
              <a:rPr lang="en-AU" sz="1800" b="1" dirty="0">
                <a:effectLst/>
                <a:latin typeface="Calibri" panose="020F0502020204030204" pitchFamily="34" charset="0"/>
                <a:ea typeface="Calibri" panose="020F0502020204030204" pitchFamily="34" charset="0"/>
                <a:cs typeface="Times New Roman" panose="02020603050405020304" pitchFamily="18" charset="0"/>
              </a:rPr>
              <a:t>Stretch goal: Moving elements around</a:t>
            </a:r>
            <a:endParaRPr lang="en-AU" dirty="0"/>
          </a:p>
        </p:txBody>
      </p:sp>
      <p:sp>
        <p:nvSpPr>
          <p:cNvPr id="3" name="Content Placeholder 2">
            <a:extLst>
              <a:ext uri="{FF2B5EF4-FFF2-40B4-BE49-F238E27FC236}">
                <a16:creationId xmlns:a16="http://schemas.microsoft.com/office/drawing/2014/main" id="{A4E50E3D-411F-4514-AF98-D79C665E6A50}"/>
              </a:ext>
            </a:extLst>
          </p:cNvPr>
          <p:cNvSpPr>
            <a:spLocks noGrp="1"/>
          </p:cNvSpPr>
          <p:nvPr>
            <p:ph idx="1"/>
          </p:nvPr>
        </p:nvSpPr>
        <p:spPr>
          <a:xfrm>
            <a:off x="581192" y="2078183"/>
            <a:ext cx="11029615" cy="4442690"/>
          </a:xfrm>
        </p:spPr>
        <p:txBody>
          <a:bodyPr>
            <a:noAutofit/>
          </a:bodyPr>
          <a:lstStyle/>
          <a:p>
            <a:pPr marL="0" indent="0">
              <a:lnSpc>
                <a:spcPct val="107000"/>
              </a:lnSpc>
              <a:spcAft>
                <a:spcPts val="800"/>
              </a:spcAft>
              <a:buNone/>
            </a:pPr>
            <a:r>
              <a:rPr lang="en-AU" sz="2200" dirty="0">
                <a:effectLst/>
                <a:latin typeface="Calibri" panose="020F0502020204030204" pitchFamily="34" charset="0"/>
                <a:ea typeface="Calibri" panose="020F0502020204030204" pitchFamily="34" charset="0"/>
                <a:cs typeface="Times New Roman" panose="02020603050405020304" pitchFamily="18" charset="0"/>
              </a:rPr>
              <a:t>Earlier, you learned how to make the </a:t>
            </a:r>
            <a:r>
              <a:rPr lang="en-AU" sz="2200" dirty="0">
                <a:solidFill>
                  <a:srgbClr val="C00000"/>
                </a:solidFill>
                <a:effectLst/>
                <a:latin typeface="Calibri" panose="020F0502020204030204" pitchFamily="34" charset="0"/>
                <a:ea typeface="Calibri" panose="020F0502020204030204" pitchFamily="34" charset="0"/>
                <a:cs typeface="Times New Roman" panose="02020603050405020304" pitchFamily="18" charset="0"/>
              </a:rPr>
              <a:t>nominal group </a:t>
            </a:r>
            <a:r>
              <a:rPr lang="en-AU" sz="2200" dirty="0">
                <a:effectLst/>
                <a:latin typeface="Calibri" panose="020F0502020204030204" pitchFamily="34" charset="0"/>
                <a:ea typeface="Calibri" panose="020F0502020204030204" pitchFamily="34" charset="0"/>
                <a:cs typeface="Times New Roman" panose="02020603050405020304" pitchFamily="18" charset="0"/>
              </a:rPr>
              <a:t>longer by adding detail.</a:t>
            </a:r>
          </a:p>
          <a:p>
            <a:pPr marL="0" indent="0">
              <a:lnSpc>
                <a:spcPct val="107000"/>
              </a:lnSpc>
              <a:spcAft>
                <a:spcPts val="800"/>
              </a:spcAft>
              <a:buNone/>
            </a:pPr>
            <a:r>
              <a:rPr lang="en-AU" sz="2200" dirty="0">
                <a:effectLst/>
                <a:latin typeface="Calibri" panose="020F0502020204030204" pitchFamily="34" charset="0"/>
                <a:ea typeface="Calibri" panose="020F0502020204030204" pitchFamily="34" charset="0"/>
                <a:cs typeface="Times New Roman" panose="02020603050405020304" pitchFamily="18" charset="0"/>
              </a:rPr>
              <a:t>This time, we’re going to do the same thing, but we’re going to take details that are already </a:t>
            </a:r>
            <a:r>
              <a:rPr lang="en-AU" sz="2200" i="1" dirty="0">
                <a:effectLst/>
                <a:latin typeface="Calibri" panose="020F0502020204030204" pitchFamily="34" charset="0"/>
                <a:ea typeface="Calibri" panose="020F0502020204030204" pitchFamily="34" charset="0"/>
                <a:cs typeface="Times New Roman" panose="02020603050405020304" pitchFamily="18" charset="0"/>
              </a:rPr>
              <a:t>in</a:t>
            </a:r>
            <a:r>
              <a:rPr lang="en-AU" sz="2200" dirty="0">
                <a:effectLst/>
                <a:latin typeface="Calibri" panose="020F0502020204030204" pitchFamily="34" charset="0"/>
                <a:ea typeface="Calibri" panose="020F0502020204030204" pitchFamily="34" charset="0"/>
                <a:cs typeface="Times New Roman" panose="02020603050405020304" pitchFamily="18" charset="0"/>
              </a:rPr>
              <a:t> the sentence, and move them to the </a:t>
            </a:r>
            <a:r>
              <a:rPr lang="en-AU" sz="2200" dirty="0">
                <a:solidFill>
                  <a:srgbClr val="C00000"/>
                </a:solidFill>
                <a:effectLst/>
                <a:latin typeface="Calibri" panose="020F0502020204030204" pitchFamily="34" charset="0"/>
                <a:ea typeface="Calibri" panose="020F0502020204030204" pitchFamily="34" charset="0"/>
                <a:cs typeface="Times New Roman" panose="02020603050405020304" pitchFamily="18" charset="0"/>
              </a:rPr>
              <a:t>noun group</a:t>
            </a:r>
            <a:r>
              <a:rPr lang="en-AU" sz="2200" dirty="0">
                <a:effectLst/>
                <a:latin typeface="Calibri" panose="020F0502020204030204" pitchFamily="34" charset="0"/>
                <a:ea typeface="Calibri" panose="020F0502020204030204" pitchFamily="34" charset="0"/>
                <a:cs typeface="Times New Roman" panose="02020603050405020304" pitchFamily="18" charset="0"/>
              </a:rPr>
              <a:t>.</a:t>
            </a:r>
          </a:p>
          <a:p>
            <a:pPr marL="0" indent="0">
              <a:lnSpc>
                <a:spcPct val="107000"/>
              </a:lnSpc>
              <a:spcAft>
                <a:spcPts val="800"/>
              </a:spcAft>
              <a:buNone/>
            </a:pPr>
            <a:r>
              <a:rPr lang="en-AU" sz="22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Take this example</a:t>
            </a:r>
            <a:r>
              <a:rPr lang="en-AU" sz="2200" dirty="0">
                <a:effectLst/>
                <a:latin typeface="Calibri" panose="020F0502020204030204" pitchFamily="34" charset="0"/>
                <a:ea typeface="Calibri" panose="020F0502020204030204" pitchFamily="34" charset="0"/>
                <a:cs typeface="Times New Roman" panose="02020603050405020304" pitchFamily="18" charset="0"/>
              </a:rPr>
              <a:t>:</a:t>
            </a:r>
          </a:p>
          <a:p>
            <a:pPr marL="628650" indent="0">
              <a:lnSpc>
                <a:spcPct val="107000"/>
              </a:lnSpc>
              <a:spcAft>
                <a:spcPts val="800"/>
              </a:spcAft>
              <a:buNone/>
            </a:pPr>
            <a:r>
              <a:rPr lang="en-AU" sz="2200" i="1" dirty="0">
                <a:solidFill>
                  <a:srgbClr val="C00000"/>
                </a:solidFill>
                <a:effectLst/>
                <a:latin typeface="Calibri" panose="020F0502020204030204" pitchFamily="34" charset="0"/>
                <a:ea typeface="Calibri" panose="020F0502020204030204" pitchFamily="34" charset="0"/>
                <a:cs typeface="Times New Roman" panose="02020603050405020304" pitchFamily="18" charset="0"/>
              </a:rPr>
              <a:t>The wide shot </a:t>
            </a:r>
            <a:r>
              <a:rPr lang="en-AU" sz="2200" i="1" dirty="0">
                <a:solidFill>
                  <a:srgbClr val="00B050"/>
                </a:solidFill>
                <a:effectLst/>
                <a:latin typeface="Calibri" panose="020F0502020204030204" pitchFamily="34" charset="0"/>
                <a:ea typeface="Calibri" panose="020F0502020204030204" pitchFamily="34" charset="0"/>
                <a:cs typeface="Times New Roman" panose="02020603050405020304" pitchFamily="18" charset="0"/>
              </a:rPr>
              <a:t>shows</a:t>
            </a:r>
            <a:r>
              <a:rPr lang="en-AU" sz="2200" i="1" dirty="0">
                <a:solidFill>
                  <a:srgbClr val="70AD47"/>
                </a:solidFill>
                <a:effectLst/>
                <a:latin typeface="Calibri" panose="020F0502020204030204" pitchFamily="34" charset="0"/>
                <a:ea typeface="Calibri" panose="020F0502020204030204" pitchFamily="34" charset="0"/>
                <a:cs typeface="Times New Roman" panose="02020603050405020304" pitchFamily="18" charset="0"/>
              </a:rPr>
              <a:t> </a:t>
            </a:r>
            <a:r>
              <a:rPr lang="en-AU" sz="2200" i="1" dirty="0">
                <a:effectLst/>
                <a:latin typeface="Calibri" panose="020F0502020204030204" pitchFamily="34" charset="0"/>
                <a:ea typeface="Calibri" panose="020F0502020204030204" pitchFamily="34" charset="0"/>
                <a:cs typeface="Times New Roman" panose="02020603050405020304" pitchFamily="18" charset="0"/>
              </a:rPr>
              <a:t>an old car appearing from behind the bushes in the brown, dusty community of Jigalong.</a:t>
            </a:r>
          </a:p>
          <a:p>
            <a:pPr marL="0" indent="0" algn="ctr">
              <a:lnSpc>
                <a:spcPct val="107000"/>
              </a:lnSpc>
              <a:spcAft>
                <a:spcPts val="800"/>
              </a:spcAft>
              <a:buNone/>
            </a:pPr>
            <a:r>
              <a:rPr lang="en-AU" sz="2200" dirty="0">
                <a:solidFill>
                  <a:schemeClr val="tx2"/>
                </a:solidFill>
                <a:latin typeface="Calibri" panose="020F0502020204030204" pitchFamily="34" charset="0"/>
                <a:ea typeface="Calibri" panose="020F0502020204030204" pitchFamily="34" charset="0"/>
                <a:cs typeface="Times New Roman" panose="02020603050405020304" pitchFamily="18" charset="0"/>
              </a:rPr>
              <a:t>This can </a:t>
            </a:r>
            <a:r>
              <a:rPr lang="en-AU" sz="2200" dirty="0">
                <a:solidFill>
                  <a:schemeClr val="tx2"/>
                </a:solidFill>
                <a:effectLst/>
                <a:latin typeface="Calibri" panose="020F0502020204030204" pitchFamily="34" charset="0"/>
                <a:ea typeface="Calibri" panose="020F0502020204030204" pitchFamily="34" charset="0"/>
                <a:cs typeface="Times New Roman" panose="02020603050405020304" pitchFamily="18" charset="0"/>
              </a:rPr>
              <a:t>become:</a:t>
            </a:r>
          </a:p>
          <a:p>
            <a:pPr marL="628650" indent="0">
              <a:lnSpc>
                <a:spcPct val="107000"/>
              </a:lnSpc>
              <a:spcAft>
                <a:spcPts val="800"/>
              </a:spcAft>
              <a:buNone/>
            </a:pPr>
            <a:r>
              <a:rPr lang="en-AU" sz="2200" i="1" dirty="0">
                <a:solidFill>
                  <a:srgbClr val="0070C0"/>
                </a:solidFill>
                <a:effectLst/>
                <a:latin typeface="Calibri" panose="020F0502020204030204" pitchFamily="34" charset="0"/>
                <a:ea typeface="Calibri" panose="020F0502020204030204" pitchFamily="34" charset="0"/>
                <a:cs typeface="Times New Roman" panose="02020603050405020304" pitchFamily="18" charset="0"/>
              </a:rPr>
              <a:t>Against the background of a brown, dusty Jigalong, </a:t>
            </a:r>
            <a:r>
              <a:rPr lang="en-AU" sz="2200" i="1" dirty="0">
                <a:solidFill>
                  <a:srgbClr val="C00000"/>
                </a:solidFill>
                <a:effectLst/>
                <a:latin typeface="Calibri" panose="020F0502020204030204" pitchFamily="34" charset="0"/>
                <a:ea typeface="Calibri" panose="020F0502020204030204" pitchFamily="34" charset="0"/>
                <a:cs typeface="Times New Roman" panose="02020603050405020304" pitchFamily="18" charset="0"/>
              </a:rPr>
              <a:t>the wide shot of an old car appearing from behind the bushes</a:t>
            </a:r>
            <a:r>
              <a:rPr lang="en-AU" sz="2200" i="1" dirty="0">
                <a:effectLst/>
                <a:latin typeface="Calibri" panose="020F0502020204030204" pitchFamily="34" charset="0"/>
                <a:ea typeface="Calibri" panose="020F0502020204030204" pitchFamily="34" charset="0"/>
                <a:cs typeface="Times New Roman" panose="02020603050405020304" pitchFamily="18" charset="0"/>
              </a:rPr>
              <a:t> </a:t>
            </a:r>
            <a:r>
              <a:rPr lang="en-AU" sz="2200" i="1" dirty="0">
                <a:solidFill>
                  <a:srgbClr val="00B050"/>
                </a:solidFill>
                <a:effectLst/>
                <a:latin typeface="Calibri" panose="020F0502020204030204" pitchFamily="34" charset="0"/>
                <a:ea typeface="Calibri" panose="020F0502020204030204" pitchFamily="34" charset="0"/>
                <a:cs typeface="Times New Roman" panose="02020603050405020304" pitchFamily="18" charset="0"/>
              </a:rPr>
              <a:t>allows</a:t>
            </a:r>
            <a:r>
              <a:rPr lang="en-AU" sz="2200" i="1" dirty="0">
                <a:effectLst/>
                <a:latin typeface="Calibri" panose="020F0502020204030204" pitchFamily="34" charset="0"/>
                <a:ea typeface="Calibri" panose="020F0502020204030204" pitchFamily="34" charset="0"/>
                <a:cs typeface="Times New Roman" panose="02020603050405020304" pitchFamily="18" charset="0"/>
              </a:rPr>
              <a:t> </a:t>
            </a:r>
            <a:r>
              <a:rPr lang="en-AU" sz="2200" i="1" dirty="0">
                <a:solidFill>
                  <a:srgbClr val="00B050"/>
                </a:solidFill>
                <a:effectLst/>
                <a:latin typeface="Calibri" panose="020F0502020204030204" pitchFamily="34" charset="0"/>
                <a:ea typeface="Calibri" panose="020F0502020204030204" pitchFamily="34" charset="0"/>
                <a:cs typeface="Times New Roman" panose="02020603050405020304" pitchFamily="18" charset="0"/>
              </a:rPr>
              <a:t>the audience to feel </a:t>
            </a:r>
            <a:r>
              <a:rPr lang="en-AU" sz="2200" i="1" dirty="0">
                <a:effectLst/>
                <a:latin typeface="Calibri" panose="020F0502020204030204" pitchFamily="34" charset="0"/>
                <a:ea typeface="Calibri" panose="020F0502020204030204" pitchFamily="34" charset="0"/>
                <a:cs typeface="Times New Roman" panose="02020603050405020304" pitchFamily="18" charset="0"/>
              </a:rPr>
              <a:t>as surprised as the family must have felt. </a:t>
            </a:r>
          </a:p>
        </p:txBody>
      </p:sp>
    </p:spTree>
    <p:extLst>
      <p:ext uri="{BB962C8B-B14F-4D97-AF65-F5344CB8AC3E}">
        <p14:creationId xmlns:p14="http://schemas.microsoft.com/office/powerpoint/2010/main" val="331075922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C1C4C0-05C8-402F-9A54-2B63044D4C20}"/>
              </a:ext>
            </a:extLst>
          </p:cNvPr>
          <p:cNvSpPr>
            <a:spLocks noGrp="1"/>
          </p:cNvSpPr>
          <p:nvPr>
            <p:ph type="title"/>
          </p:nvPr>
        </p:nvSpPr>
        <p:spPr/>
        <p:txBody>
          <a:bodyPr/>
          <a:lstStyle/>
          <a:p>
            <a:r>
              <a:rPr lang="en-AU" sz="1800" b="1" dirty="0">
                <a:effectLst/>
                <a:latin typeface="Calibri" panose="020F0502020204030204" pitchFamily="34" charset="0"/>
                <a:ea typeface="Calibri" panose="020F0502020204030204" pitchFamily="34" charset="0"/>
                <a:cs typeface="Times New Roman" panose="02020603050405020304" pitchFamily="18" charset="0"/>
              </a:rPr>
              <a:t>Stretch goal: Moving elements around</a:t>
            </a:r>
            <a:endParaRPr lang="en-AU" dirty="0"/>
          </a:p>
        </p:txBody>
      </p:sp>
      <p:sp>
        <p:nvSpPr>
          <p:cNvPr id="3" name="Content Placeholder 2">
            <a:extLst>
              <a:ext uri="{FF2B5EF4-FFF2-40B4-BE49-F238E27FC236}">
                <a16:creationId xmlns:a16="http://schemas.microsoft.com/office/drawing/2014/main" id="{A4E50E3D-411F-4514-AF98-D79C665E6A50}"/>
              </a:ext>
            </a:extLst>
          </p:cNvPr>
          <p:cNvSpPr>
            <a:spLocks noGrp="1"/>
          </p:cNvSpPr>
          <p:nvPr>
            <p:ph idx="1"/>
          </p:nvPr>
        </p:nvSpPr>
        <p:spPr>
          <a:xfrm>
            <a:off x="581192" y="2078183"/>
            <a:ext cx="11029615" cy="4442690"/>
          </a:xfrm>
        </p:spPr>
        <p:txBody>
          <a:bodyPr>
            <a:noAutofit/>
          </a:bodyPr>
          <a:lstStyle/>
          <a:p>
            <a:pPr marL="442913" indent="0">
              <a:lnSpc>
                <a:spcPct val="107000"/>
              </a:lnSpc>
              <a:spcBef>
                <a:spcPts val="0"/>
              </a:spcBef>
              <a:spcAft>
                <a:spcPts val="0"/>
              </a:spcAft>
              <a:buNone/>
            </a:pPr>
            <a:r>
              <a:rPr lang="en-AU" sz="2200" i="1" dirty="0">
                <a:solidFill>
                  <a:srgbClr val="C00000"/>
                </a:solidFill>
                <a:effectLst/>
                <a:latin typeface="Calibri" panose="020F0502020204030204" pitchFamily="34" charset="0"/>
                <a:ea typeface="Calibri" panose="020F0502020204030204" pitchFamily="34" charset="0"/>
                <a:cs typeface="Times New Roman" panose="02020603050405020304" pitchFamily="18" charset="0"/>
              </a:rPr>
              <a:t>The non-diegetic voiceover </a:t>
            </a:r>
            <a:r>
              <a:rPr lang="en-AU" sz="2200" i="1" dirty="0">
                <a:solidFill>
                  <a:srgbClr val="00B050"/>
                </a:solidFill>
                <a:effectLst/>
                <a:latin typeface="Calibri" panose="020F0502020204030204" pitchFamily="34" charset="0"/>
                <a:ea typeface="Calibri" panose="020F0502020204030204" pitchFamily="34" charset="0"/>
                <a:cs typeface="Times New Roman" panose="02020603050405020304" pitchFamily="18" charset="0"/>
              </a:rPr>
              <a:t>allows the audience to hear </a:t>
            </a:r>
            <a:r>
              <a:rPr lang="en-AU" sz="2200" i="1" dirty="0">
                <a:solidFill>
                  <a:schemeClr val="tx2"/>
                </a:solidFill>
                <a:effectLst/>
                <a:latin typeface="Calibri" panose="020F0502020204030204" pitchFamily="34" charset="0"/>
                <a:ea typeface="Calibri" panose="020F0502020204030204" pitchFamily="34" charset="0"/>
                <a:cs typeface="Times New Roman" panose="02020603050405020304" pitchFamily="18" charset="0"/>
              </a:rPr>
              <a:t>the voice of an elderly, real-life Molly.</a:t>
            </a:r>
          </a:p>
          <a:p>
            <a:pPr marL="0" indent="0" algn="ctr">
              <a:lnSpc>
                <a:spcPct val="107000"/>
              </a:lnSpc>
              <a:spcBef>
                <a:spcPts val="0"/>
              </a:spcBef>
              <a:buNone/>
            </a:pPr>
            <a:r>
              <a:rPr lang="en-AU" sz="2200" dirty="0">
                <a:solidFill>
                  <a:schemeClr val="tx2"/>
                </a:solidFill>
                <a:latin typeface="Calibri" panose="020F0502020204030204" pitchFamily="34" charset="0"/>
                <a:ea typeface="Calibri" panose="020F0502020204030204" pitchFamily="34" charset="0"/>
                <a:cs typeface="Times New Roman" panose="02020603050405020304" pitchFamily="18" charset="0"/>
              </a:rPr>
              <a:t>can </a:t>
            </a:r>
            <a:r>
              <a:rPr lang="en-AU" sz="2200" dirty="0">
                <a:solidFill>
                  <a:schemeClr val="tx2"/>
                </a:solidFill>
                <a:effectLst/>
                <a:latin typeface="Calibri" panose="020F0502020204030204" pitchFamily="34" charset="0"/>
                <a:ea typeface="Calibri" panose="020F0502020204030204" pitchFamily="34" charset="0"/>
                <a:cs typeface="Times New Roman" panose="02020603050405020304" pitchFamily="18" charset="0"/>
              </a:rPr>
              <a:t>become:</a:t>
            </a:r>
          </a:p>
          <a:p>
            <a:pPr marL="442913" indent="0">
              <a:lnSpc>
                <a:spcPct val="107000"/>
              </a:lnSpc>
              <a:spcBef>
                <a:spcPts val="0"/>
              </a:spcBef>
              <a:buNone/>
            </a:pPr>
            <a:r>
              <a:rPr lang="en-AU" sz="2200" i="1" dirty="0">
                <a:solidFill>
                  <a:srgbClr val="4472C4"/>
                </a:solidFill>
                <a:effectLst/>
                <a:latin typeface="Calibri" panose="020F0502020204030204" pitchFamily="34" charset="0"/>
                <a:ea typeface="Calibri" panose="020F0502020204030204" pitchFamily="34" charset="0"/>
                <a:cs typeface="Times New Roman" panose="02020603050405020304" pitchFamily="18" charset="0"/>
              </a:rPr>
              <a:t>At the end of the film, </a:t>
            </a:r>
            <a:r>
              <a:rPr lang="en-AU" sz="2200" i="1" dirty="0">
                <a:solidFill>
                  <a:srgbClr val="C00000"/>
                </a:solidFill>
                <a:effectLst/>
                <a:latin typeface="Calibri" panose="020F0502020204030204" pitchFamily="34" charset="0"/>
                <a:ea typeface="Calibri" panose="020F0502020204030204" pitchFamily="34" charset="0"/>
                <a:cs typeface="Times New Roman" panose="02020603050405020304" pitchFamily="18" charset="0"/>
              </a:rPr>
              <a:t>the non-diegetic voiceover of an elderly, real-life Molly </a:t>
            </a:r>
            <a:r>
              <a:rPr lang="en-AU" sz="2200" i="1" dirty="0">
                <a:solidFill>
                  <a:srgbClr val="00B050"/>
                </a:solidFill>
                <a:effectLst/>
                <a:latin typeface="Calibri" panose="020F0502020204030204" pitchFamily="34" charset="0"/>
                <a:ea typeface="Calibri" panose="020F0502020204030204" pitchFamily="34" charset="0"/>
                <a:cs typeface="Times New Roman" panose="02020603050405020304" pitchFamily="18" charset="0"/>
              </a:rPr>
              <a:t>reminds the audience</a:t>
            </a:r>
            <a:r>
              <a:rPr lang="en-AU" sz="2200" i="1" dirty="0">
                <a:solidFill>
                  <a:srgbClr val="70AD47"/>
                </a:solidFill>
                <a:effectLst/>
                <a:latin typeface="Calibri" panose="020F0502020204030204" pitchFamily="34" charset="0"/>
                <a:ea typeface="Calibri" panose="020F0502020204030204" pitchFamily="34" charset="0"/>
                <a:cs typeface="Times New Roman" panose="02020603050405020304" pitchFamily="18" charset="0"/>
              </a:rPr>
              <a:t> </a:t>
            </a:r>
            <a:r>
              <a:rPr lang="en-AU" sz="2200" i="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that this is a true story.</a:t>
            </a:r>
          </a:p>
          <a:p>
            <a:pPr marL="442913" indent="0">
              <a:lnSpc>
                <a:spcPct val="107000"/>
              </a:lnSpc>
              <a:spcBef>
                <a:spcPts val="0"/>
              </a:spcBef>
              <a:buNone/>
            </a:pPr>
            <a:endParaRPr lang="en-AU" sz="2200" i="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p>
            <a:pPr marL="442913" indent="0">
              <a:lnSpc>
                <a:spcPct val="107000"/>
              </a:lnSpc>
              <a:spcBef>
                <a:spcPts val="0"/>
              </a:spcBef>
              <a:spcAft>
                <a:spcPts val="0"/>
              </a:spcAft>
              <a:buNone/>
            </a:pPr>
            <a:r>
              <a:rPr lang="en-AU" sz="2200" i="1" dirty="0">
                <a:solidFill>
                  <a:srgbClr val="C00000"/>
                </a:solidFill>
                <a:effectLst/>
                <a:latin typeface="Calibri" panose="020F0502020204030204" pitchFamily="34" charset="0"/>
                <a:ea typeface="Calibri" panose="020F0502020204030204" pitchFamily="34" charset="0"/>
                <a:cs typeface="Times New Roman" panose="02020603050405020304" pitchFamily="18" charset="0"/>
              </a:rPr>
              <a:t>The text on the screen </a:t>
            </a:r>
            <a:r>
              <a:rPr lang="en-AU" sz="2200" i="1" dirty="0">
                <a:solidFill>
                  <a:srgbClr val="00B050"/>
                </a:solidFill>
                <a:effectLst/>
                <a:latin typeface="Calibri" panose="020F0502020204030204" pitchFamily="34" charset="0"/>
                <a:ea typeface="Calibri" panose="020F0502020204030204" pitchFamily="34" charset="0"/>
                <a:cs typeface="Times New Roman" panose="02020603050405020304" pitchFamily="18" charset="0"/>
              </a:rPr>
              <a:t>explains</a:t>
            </a:r>
            <a:r>
              <a:rPr lang="en-AU" sz="2200" i="1" dirty="0">
                <a:solidFill>
                  <a:srgbClr val="70AD47"/>
                </a:solidFill>
                <a:effectLst/>
                <a:latin typeface="Calibri" panose="020F0502020204030204" pitchFamily="34" charset="0"/>
                <a:ea typeface="Calibri" panose="020F0502020204030204" pitchFamily="34" charset="0"/>
                <a:cs typeface="Times New Roman" panose="02020603050405020304" pitchFamily="18" charset="0"/>
              </a:rPr>
              <a:t> </a:t>
            </a:r>
            <a:r>
              <a:rPr lang="en-AU" sz="2200" i="1" dirty="0">
                <a:effectLst/>
                <a:latin typeface="Calibri" panose="020F0502020204030204" pitchFamily="34" charset="0"/>
                <a:ea typeface="Calibri" panose="020F0502020204030204" pitchFamily="34" charset="0"/>
                <a:cs typeface="Times New Roman" panose="02020603050405020304" pitchFamily="18" charset="0"/>
              </a:rPr>
              <a:t>that AO Neville has the power to “remove any half-caste child” from their family.</a:t>
            </a:r>
          </a:p>
          <a:p>
            <a:pPr marL="442913" indent="0" algn="ctr">
              <a:lnSpc>
                <a:spcPct val="107000"/>
              </a:lnSpc>
              <a:spcBef>
                <a:spcPts val="0"/>
              </a:spcBef>
              <a:buNone/>
            </a:pPr>
            <a:r>
              <a:rPr lang="en-AU" sz="2200" dirty="0">
                <a:solidFill>
                  <a:schemeClr val="tx2"/>
                </a:solidFill>
                <a:latin typeface="Calibri" panose="020F0502020204030204" pitchFamily="34" charset="0"/>
                <a:ea typeface="Calibri" panose="020F0502020204030204" pitchFamily="34" charset="0"/>
                <a:cs typeface="Times New Roman" panose="02020603050405020304" pitchFamily="18" charset="0"/>
              </a:rPr>
              <a:t>can </a:t>
            </a:r>
            <a:r>
              <a:rPr lang="en-AU" sz="2200" dirty="0">
                <a:solidFill>
                  <a:schemeClr val="tx2"/>
                </a:solidFill>
                <a:effectLst/>
                <a:latin typeface="Calibri" panose="020F0502020204030204" pitchFamily="34" charset="0"/>
                <a:ea typeface="Calibri" panose="020F0502020204030204" pitchFamily="34" charset="0"/>
                <a:cs typeface="Times New Roman" panose="02020603050405020304" pitchFamily="18" charset="0"/>
              </a:rPr>
              <a:t>become:</a:t>
            </a:r>
          </a:p>
          <a:p>
            <a:pPr marL="442913" indent="0">
              <a:lnSpc>
                <a:spcPct val="107000"/>
              </a:lnSpc>
              <a:spcBef>
                <a:spcPts val="0"/>
              </a:spcBef>
              <a:buNone/>
            </a:pPr>
            <a:r>
              <a:rPr lang="en-AU" sz="2200" i="1" dirty="0">
                <a:solidFill>
                  <a:srgbClr val="C00000"/>
                </a:solidFill>
                <a:effectLst/>
                <a:latin typeface="Calibri" panose="020F0502020204030204" pitchFamily="34" charset="0"/>
                <a:ea typeface="Calibri" panose="020F0502020204030204" pitchFamily="34" charset="0"/>
                <a:cs typeface="Times New Roman" panose="02020603050405020304" pitchFamily="18" charset="0"/>
              </a:rPr>
              <a:t>The text on the screen explaining that AO Neville has the power to “remove any half-caste child” from their families </a:t>
            </a:r>
            <a:r>
              <a:rPr lang="en-AU" sz="2200" i="1" dirty="0">
                <a:solidFill>
                  <a:srgbClr val="00B050"/>
                </a:solidFill>
                <a:effectLst/>
                <a:latin typeface="Calibri" panose="020F0502020204030204" pitchFamily="34" charset="0"/>
                <a:ea typeface="Calibri" panose="020F0502020204030204" pitchFamily="34" charset="0"/>
                <a:cs typeface="Times New Roman" panose="02020603050405020304" pitchFamily="18" charset="0"/>
              </a:rPr>
              <a:t>foreshadows</a:t>
            </a:r>
            <a:r>
              <a:rPr lang="en-AU" sz="2200" i="1" dirty="0">
                <a:solidFill>
                  <a:srgbClr val="70AD47"/>
                </a:solidFill>
                <a:effectLst/>
                <a:latin typeface="Calibri" panose="020F0502020204030204" pitchFamily="34" charset="0"/>
                <a:ea typeface="Calibri" panose="020F0502020204030204" pitchFamily="34" charset="0"/>
                <a:cs typeface="Times New Roman" panose="02020603050405020304" pitchFamily="18" charset="0"/>
              </a:rPr>
              <a:t> </a:t>
            </a:r>
            <a:r>
              <a:rPr lang="en-AU" sz="2200" i="1" dirty="0">
                <a:effectLst/>
                <a:latin typeface="Calibri" panose="020F0502020204030204" pitchFamily="34" charset="0"/>
                <a:ea typeface="Calibri" panose="020F0502020204030204" pitchFamily="34" charset="0"/>
                <a:cs typeface="Times New Roman" panose="02020603050405020304" pitchFamily="18" charset="0"/>
              </a:rPr>
              <a:t>the shattering events to come.</a:t>
            </a:r>
          </a:p>
        </p:txBody>
      </p:sp>
    </p:spTree>
    <p:extLst>
      <p:ext uri="{BB962C8B-B14F-4D97-AF65-F5344CB8AC3E}">
        <p14:creationId xmlns:p14="http://schemas.microsoft.com/office/powerpoint/2010/main" val="168398719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FBD757-3742-440E-AE2D-2CD9067684D4}"/>
              </a:ext>
            </a:extLst>
          </p:cNvPr>
          <p:cNvSpPr>
            <a:spLocks noGrp="1"/>
          </p:cNvSpPr>
          <p:nvPr>
            <p:ph type="title"/>
          </p:nvPr>
        </p:nvSpPr>
        <p:spPr/>
        <p:txBody>
          <a:bodyPr/>
          <a:lstStyle/>
          <a:p>
            <a:r>
              <a:rPr lang="en-AU" sz="1800" b="1" dirty="0">
                <a:effectLst/>
                <a:latin typeface="Calibri" panose="020F0502020204030204" pitchFamily="34" charset="0"/>
                <a:ea typeface="Calibri" panose="020F0502020204030204" pitchFamily="34" charset="0"/>
                <a:cs typeface="Times New Roman" panose="02020603050405020304" pitchFamily="18" charset="0"/>
              </a:rPr>
              <a:t>Stretch goal: Moving elements around</a:t>
            </a:r>
            <a:endParaRPr lang="en-AU" dirty="0"/>
          </a:p>
        </p:txBody>
      </p:sp>
      <p:sp>
        <p:nvSpPr>
          <p:cNvPr id="3" name="Content Placeholder 2">
            <a:extLst>
              <a:ext uri="{FF2B5EF4-FFF2-40B4-BE49-F238E27FC236}">
                <a16:creationId xmlns:a16="http://schemas.microsoft.com/office/drawing/2014/main" id="{2ED0C459-27B7-4C01-BB02-D912069DFFBD}"/>
              </a:ext>
            </a:extLst>
          </p:cNvPr>
          <p:cNvSpPr>
            <a:spLocks noGrp="1"/>
          </p:cNvSpPr>
          <p:nvPr>
            <p:ph idx="1"/>
          </p:nvPr>
        </p:nvSpPr>
        <p:spPr>
          <a:xfrm>
            <a:off x="581192" y="2340864"/>
            <a:ext cx="11029615" cy="4309318"/>
          </a:xfrm>
        </p:spPr>
        <p:txBody>
          <a:bodyPr>
            <a:normAutofit lnSpcReduction="10000"/>
          </a:bodyPr>
          <a:lstStyle/>
          <a:p>
            <a:pPr marL="0" indent="0">
              <a:lnSpc>
                <a:spcPct val="107000"/>
              </a:lnSpc>
              <a:spcAft>
                <a:spcPts val="800"/>
              </a:spcAft>
              <a:buNone/>
            </a:pPr>
            <a:r>
              <a:rPr lang="en-AU" sz="2200" b="1" i="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Your turn:</a:t>
            </a:r>
          </a:p>
          <a:p>
            <a:pPr marL="0" indent="0">
              <a:lnSpc>
                <a:spcPct val="107000"/>
              </a:lnSpc>
              <a:spcAft>
                <a:spcPts val="800"/>
              </a:spcAft>
              <a:buNone/>
            </a:pPr>
            <a:r>
              <a:rPr lang="en-AU" sz="2200" dirty="0">
                <a:effectLst/>
                <a:latin typeface="Calibri" panose="020F0502020204030204" pitchFamily="34" charset="0"/>
                <a:ea typeface="Calibri" panose="020F0502020204030204" pitchFamily="34" charset="0"/>
                <a:cs typeface="Times New Roman" panose="02020603050405020304" pitchFamily="18" charset="0"/>
              </a:rPr>
              <a:t>Take any of your sentences above, and try to move some of the later details to become part of the nominal group.</a:t>
            </a:r>
          </a:p>
          <a:p>
            <a:pPr marL="0" indent="0">
              <a:lnSpc>
                <a:spcPct val="107000"/>
              </a:lnSpc>
              <a:spcAft>
                <a:spcPts val="800"/>
              </a:spcAft>
              <a:buNone/>
            </a:pPr>
            <a:r>
              <a:rPr lang="en-AU" sz="2200" i="1" dirty="0">
                <a:effectLst/>
                <a:latin typeface="Calibri" panose="020F0502020204030204" pitchFamily="34" charset="0"/>
                <a:ea typeface="Calibri" panose="020F0502020204030204" pitchFamily="34" charset="0"/>
                <a:cs typeface="Times New Roman" panose="02020603050405020304" pitchFamily="18" charset="0"/>
              </a:rPr>
              <a:t>Write these sentences in your notebook.</a:t>
            </a:r>
          </a:p>
          <a:p>
            <a:pPr marL="895350" indent="0">
              <a:lnSpc>
                <a:spcPct val="107000"/>
              </a:lnSpc>
              <a:spcAft>
                <a:spcPts val="800"/>
              </a:spcAft>
              <a:buNone/>
            </a:pPr>
            <a:r>
              <a:rPr lang="en-AU" sz="2200" dirty="0">
                <a:effectLst/>
                <a:latin typeface="Calibri" panose="020F0502020204030204" pitchFamily="34" charset="0"/>
                <a:ea typeface="Calibri" panose="020F0502020204030204" pitchFamily="34" charset="0"/>
                <a:cs typeface="Times New Roman" panose="02020603050405020304" pitchFamily="18" charset="0"/>
              </a:rPr>
              <a:t>1.	 </a:t>
            </a:r>
          </a:p>
          <a:p>
            <a:pPr marL="895350" indent="0">
              <a:lnSpc>
                <a:spcPct val="107000"/>
              </a:lnSpc>
              <a:spcAft>
                <a:spcPts val="800"/>
              </a:spcAft>
              <a:buNone/>
            </a:pPr>
            <a:r>
              <a:rPr lang="en-AU" sz="2200" dirty="0">
                <a:effectLst/>
                <a:latin typeface="Calibri" panose="020F0502020204030204" pitchFamily="34" charset="0"/>
                <a:ea typeface="Calibri" panose="020F0502020204030204" pitchFamily="34" charset="0"/>
                <a:cs typeface="Times New Roman" panose="02020603050405020304" pitchFamily="18" charset="0"/>
              </a:rPr>
              <a:t>2.	 </a:t>
            </a:r>
          </a:p>
          <a:p>
            <a:pPr marL="895350" indent="0">
              <a:lnSpc>
                <a:spcPct val="107000"/>
              </a:lnSpc>
              <a:spcAft>
                <a:spcPts val="800"/>
              </a:spcAft>
              <a:buNone/>
            </a:pPr>
            <a:r>
              <a:rPr lang="en-AU" sz="2200" dirty="0">
                <a:effectLst/>
                <a:latin typeface="Calibri" panose="020F0502020204030204" pitchFamily="34" charset="0"/>
                <a:ea typeface="Calibri" panose="020F0502020204030204" pitchFamily="34" charset="0"/>
                <a:cs typeface="Times New Roman" panose="02020603050405020304" pitchFamily="18" charset="0"/>
              </a:rPr>
              <a:t>3.	 </a:t>
            </a:r>
          </a:p>
          <a:p>
            <a:pPr marL="895350" indent="0">
              <a:lnSpc>
                <a:spcPct val="107000"/>
              </a:lnSpc>
              <a:spcAft>
                <a:spcPts val="800"/>
              </a:spcAft>
              <a:buNone/>
            </a:pPr>
            <a:r>
              <a:rPr lang="en-AU" sz="2200" dirty="0">
                <a:effectLst/>
                <a:latin typeface="Calibri" panose="020F0502020204030204" pitchFamily="34" charset="0"/>
                <a:ea typeface="Calibri" panose="020F0502020204030204" pitchFamily="34" charset="0"/>
                <a:cs typeface="Times New Roman" panose="02020603050405020304" pitchFamily="18" charset="0"/>
              </a:rPr>
              <a:t>4.	 </a:t>
            </a:r>
          </a:p>
          <a:p>
            <a:pPr marL="895350" indent="0">
              <a:lnSpc>
                <a:spcPct val="107000"/>
              </a:lnSpc>
              <a:spcAft>
                <a:spcPts val="800"/>
              </a:spcAft>
              <a:buNone/>
            </a:pPr>
            <a:r>
              <a:rPr lang="en-AU" sz="2200" dirty="0">
                <a:effectLst/>
                <a:latin typeface="Calibri" panose="020F0502020204030204" pitchFamily="34" charset="0"/>
                <a:ea typeface="Calibri" panose="020F0502020204030204" pitchFamily="34" charset="0"/>
                <a:cs typeface="Times New Roman" panose="02020603050405020304" pitchFamily="18" charset="0"/>
              </a:rPr>
              <a:t>5.	 </a:t>
            </a:r>
          </a:p>
        </p:txBody>
      </p:sp>
    </p:spTree>
    <p:extLst>
      <p:ext uri="{BB962C8B-B14F-4D97-AF65-F5344CB8AC3E}">
        <p14:creationId xmlns:p14="http://schemas.microsoft.com/office/powerpoint/2010/main" val="382794448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3B376C-8692-46C2-A082-B9178816A7BF}"/>
              </a:ext>
            </a:extLst>
          </p:cNvPr>
          <p:cNvSpPr>
            <a:spLocks noGrp="1"/>
          </p:cNvSpPr>
          <p:nvPr>
            <p:ph type="title"/>
          </p:nvPr>
        </p:nvSpPr>
        <p:spPr/>
        <p:txBody>
          <a:bodyPr/>
          <a:lstStyle/>
          <a:p>
            <a:r>
              <a:rPr lang="en-AU" dirty="0"/>
              <a:t>Review</a:t>
            </a:r>
          </a:p>
        </p:txBody>
      </p:sp>
      <p:sp>
        <p:nvSpPr>
          <p:cNvPr id="3" name="Text Placeholder 2">
            <a:extLst>
              <a:ext uri="{FF2B5EF4-FFF2-40B4-BE49-F238E27FC236}">
                <a16:creationId xmlns:a16="http://schemas.microsoft.com/office/drawing/2014/main" id="{6884ABAC-D3C6-4EE9-91C3-A1343232842B}"/>
              </a:ext>
            </a:extLst>
          </p:cNvPr>
          <p:cNvSpPr>
            <a:spLocks noGrp="1"/>
          </p:cNvSpPr>
          <p:nvPr>
            <p:ph type="body" idx="1"/>
          </p:nvPr>
        </p:nvSpPr>
        <p:spPr/>
        <p:txBody>
          <a:bodyPr/>
          <a:lstStyle/>
          <a:p>
            <a:r>
              <a:rPr lang="en-AU" dirty="0"/>
              <a:t>What have you learned?</a:t>
            </a:r>
          </a:p>
        </p:txBody>
      </p:sp>
    </p:spTree>
    <p:extLst>
      <p:ext uri="{BB962C8B-B14F-4D97-AF65-F5344CB8AC3E}">
        <p14:creationId xmlns:p14="http://schemas.microsoft.com/office/powerpoint/2010/main" val="203911231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F3EA9C-CCB4-42B8-ADB6-E632BDC963CD}"/>
              </a:ext>
            </a:extLst>
          </p:cNvPr>
          <p:cNvSpPr>
            <a:spLocks noGrp="1"/>
          </p:cNvSpPr>
          <p:nvPr>
            <p:ph type="title"/>
          </p:nvPr>
        </p:nvSpPr>
        <p:spPr/>
        <p:txBody>
          <a:bodyPr/>
          <a:lstStyle/>
          <a:p>
            <a:r>
              <a:rPr lang="en-AU" dirty="0"/>
              <a:t>Review: What have you learned?</a:t>
            </a:r>
          </a:p>
        </p:txBody>
      </p:sp>
      <p:sp>
        <p:nvSpPr>
          <p:cNvPr id="3" name="Content Placeholder 2">
            <a:extLst>
              <a:ext uri="{FF2B5EF4-FFF2-40B4-BE49-F238E27FC236}">
                <a16:creationId xmlns:a16="http://schemas.microsoft.com/office/drawing/2014/main" id="{FEE15127-4C7A-49BA-8C0F-A41F6EC07316}"/>
              </a:ext>
            </a:extLst>
          </p:cNvPr>
          <p:cNvSpPr>
            <a:spLocks noGrp="1"/>
          </p:cNvSpPr>
          <p:nvPr>
            <p:ph idx="1"/>
          </p:nvPr>
        </p:nvSpPr>
        <p:spPr>
          <a:xfrm>
            <a:off x="581192" y="2340864"/>
            <a:ext cx="5708772" cy="4253900"/>
          </a:xfrm>
        </p:spPr>
        <p:txBody>
          <a:bodyPr anchor="t">
            <a:normAutofit/>
          </a:bodyPr>
          <a:lstStyle/>
          <a:p>
            <a:pPr marL="0" indent="0">
              <a:buNone/>
            </a:pPr>
            <a:r>
              <a:rPr lang="en-AU" sz="2000" b="1" dirty="0"/>
              <a:t>You should now have completed all of the following tasks:</a:t>
            </a:r>
          </a:p>
          <a:p>
            <a:pPr marL="720725" indent="-360363">
              <a:buFont typeface="Wingdings" panose="05000000000000000000" pitchFamily="2" charset="2"/>
              <a:buChar char="q"/>
            </a:pPr>
            <a:r>
              <a:rPr lang="en-AU" sz="2000" dirty="0"/>
              <a:t>Written five sentences about the text</a:t>
            </a:r>
          </a:p>
          <a:p>
            <a:pPr marL="720725" indent="-360363">
              <a:buFont typeface="Wingdings" panose="05000000000000000000" pitchFamily="2" charset="2"/>
              <a:buChar char="q"/>
            </a:pPr>
            <a:r>
              <a:rPr lang="en-AU" sz="2000" dirty="0"/>
              <a:t>Added detail to sentences about the text</a:t>
            </a:r>
          </a:p>
          <a:p>
            <a:pPr marL="720725" indent="-360363">
              <a:buFont typeface="Wingdings" panose="05000000000000000000" pitchFamily="2" charset="2"/>
              <a:buChar char="q"/>
            </a:pPr>
            <a:r>
              <a:rPr lang="en-AU" sz="2000" dirty="0"/>
              <a:t>Written five sentences about character</a:t>
            </a:r>
          </a:p>
          <a:p>
            <a:pPr marL="720725" indent="-360363">
              <a:buFont typeface="Wingdings" panose="05000000000000000000" pitchFamily="2" charset="2"/>
              <a:buChar char="q"/>
            </a:pPr>
            <a:r>
              <a:rPr lang="en-AU" sz="2000" dirty="0"/>
              <a:t>Added prepositional phrases to sentences about character</a:t>
            </a:r>
          </a:p>
          <a:p>
            <a:pPr marL="720725" indent="-360363">
              <a:buFont typeface="Wingdings" panose="05000000000000000000" pitchFamily="2" charset="2"/>
              <a:buChar char="q"/>
            </a:pPr>
            <a:r>
              <a:rPr lang="en-AU" sz="2000" dirty="0"/>
              <a:t>Written five sentences about language</a:t>
            </a:r>
          </a:p>
          <a:p>
            <a:pPr marL="720725" indent="-360363">
              <a:buFont typeface="Wingdings" panose="05000000000000000000" pitchFamily="2" charset="2"/>
              <a:buChar char="q"/>
            </a:pPr>
            <a:r>
              <a:rPr lang="en-AU" sz="2000" dirty="0"/>
              <a:t>Written three sentences putting it all together</a:t>
            </a:r>
          </a:p>
        </p:txBody>
      </p:sp>
      <p:sp>
        <p:nvSpPr>
          <p:cNvPr id="4" name="Content Placeholder 2">
            <a:extLst>
              <a:ext uri="{FF2B5EF4-FFF2-40B4-BE49-F238E27FC236}">
                <a16:creationId xmlns:a16="http://schemas.microsoft.com/office/drawing/2014/main" id="{7DAFAC24-4725-47CF-8896-465B75665E22}"/>
              </a:ext>
            </a:extLst>
          </p:cNvPr>
          <p:cNvSpPr txBox="1">
            <a:spLocks/>
          </p:cNvSpPr>
          <p:nvPr/>
        </p:nvSpPr>
        <p:spPr>
          <a:xfrm>
            <a:off x="6788727" y="2262355"/>
            <a:ext cx="4341091" cy="4253900"/>
          </a:xfrm>
          <a:prstGeom prst="rect">
            <a:avLst/>
          </a:prstGeom>
        </p:spPr>
        <p:txBody>
          <a:bodyPr vert="horz" lIns="91440" tIns="45720" rIns="91440" bIns="45720" rtlCol="0" anchor="t">
            <a:normAutofit/>
          </a:bodyPr>
          <a:lstStyle>
            <a:lvl1pPr marL="306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Font typeface="Wingdings 2" panose="05020102010507070707" pitchFamily="18" charset="2"/>
              <a:buNone/>
            </a:pPr>
            <a:r>
              <a:rPr lang="en-AU" sz="2000" b="1" dirty="0"/>
              <a:t>You might have also completed the stretch goals.</a:t>
            </a:r>
          </a:p>
          <a:p>
            <a:pPr marL="442913" indent="-304800">
              <a:buFont typeface="Wingdings" panose="05000000000000000000" pitchFamily="2" charset="2"/>
              <a:buChar char="q"/>
            </a:pPr>
            <a:r>
              <a:rPr lang="en-AU" sz="2000" dirty="0"/>
              <a:t>Practised using analytic verbs</a:t>
            </a:r>
          </a:p>
          <a:p>
            <a:pPr marL="442913" indent="-304800">
              <a:buFont typeface="Wingdings" panose="05000000000000000000" pitchFamily="2" charset="2"/>
              <a:buChar char="q"/>
            </a:pPr>
            <a:r>
              <a:rPr lang="en-AU" sz="2000" dirty="0"/>
              <a:t>Added detail to your sentences by moving elements around</a:t>
            </a:r>
          </a:p>
        </p:txBody>
      </p:sp>
    </p:spTree>
    <p:extLst>
      <p:ext uri="{BB962C8B-B14F-4D97-AF65-F5344CB8AC3E}">
        <p14:creationId xmlns:p14="http://schemas.microsoft.com/office/powerpoint/2010/main" val="3915661752"/>
      </p:ext>
    </p:extLst>
  </p:cSld>
  <p:clrMapOvr>
    <a:masterClrMapping/>
  </p:clrMapOvr>
</p:sld>
</file>

<file path=ppt/theme/theme1.xml><?xml version="1.0" encoding="utf-8"?>
<a:theme xmlns:a="http://schemas.openxmlformats.org/drawingml/2006/main" name="DividendVTI">
  <a:themeElements>
    <a:clrScheme name="Aspect">
      <a:dk1>
        <a:sysClr val="windowText" lastClr="000000"/>
      </a:dk1>
      <a:lt1>
        <a:sysClr val="window" lastClr="FFFFFF"/>
      </a:lt1>
      <a:dk2>
        <a:srgbClr val="585753"/>
      </a:dk2>
      <a:lt2>
        <a:srgbClr val="EBDDC3"/>
      </a:lt2>
      <a:accent1>
        <a:srgbClr val="71B9E4"/>
      </a:accent1>
      <a:accent2>
        <a:srgbClr val="E25D3C"/>
      </a:accent2>
      <a:accent3>
        <a:srgbClr val="BDB59D"/>
      </a:accent3>
      <a:accent4>
        <a:srgbClr val="A5AB81"/>
      </a:accent4>
      <a:accent5>
        <a:srgbClr val="7BA79D"/>
      </a:accent5>
      <a:accent6>
        <a:srgbClr val="968C8C"/>
      </a:accent6>
      <a:hlink>
        <a:srgbClr val="F7B615"/>
      </a:hlink>
      <a:folHlink>
        <a:srgbClr val="704404"/>
      </a:folHlink>
    </a:clrScheme>
    <a:fontScheme name="Dividend">
      <a:majorFont>
        <a:latin typeface="Franklin Gothic Demi"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Override1.xml><?xml version="1.0" encoding="utf-8"?>
<a:themeOverride xmlns:a="http://schemas.openxmlformats.org/drawingml/2006/main">
  <a:clrScheme name="DividendVTI">
    <a:dk1>
      <a:sysClr val="windowText" lastClr="000000"/>
    </a:dk1>
    <a:lt1>
      <a:sysClr val="window" lastClr="FFFFFF"/>
    </a:lt1>
    <a:dk2>
      <a:srgbClr val="3D3D3D"/>
    </a:dk2>
    <a:lt2>
      <a:srgbClr val="EBEBEB"/>
    </a:lt2>
    <a:accent1>
      <a:srgbClr val="ED8428"/>
    </a:accent1>
    <a:accent2>
      <a:srgbClr val="E6C46D"/>
    </a:accent2>
    <a:accent3>
      <a:srgbClr val="537685"/>
    </a:accent3>
    <a:accent4>
      <a:srgbClr val="969FA7"/>
    </a:accent4>
    <a:accent5>
      <a:srgbClr val="A9C37C"/>
    </a:accent5>
    <a:accent6>
      <a:srgbClr val="5A8071"/>
    </a:accent6>
    <a:hlink>
      <a:srgbClr val="828282"/>
    </a:hlink>
    <a:folHlink>
      <a:srgbClr val="A5A5A5"/>
    </a:folHlink>
  </a:clrScheme>
</a:themeOverride>
</file>

<file path=ppt/theme/themeOverride2.xml><?xml version="1.0" encoding="utf-8"?>
<a:themeOverride xmlns:a="http://schemas.openxmlformats.org/drawingml/2006/main">
  <a:clrScheme name="DividendVTI">
    <a:dk1>
      <a:sysClr val="windowText" lastClr="000000"/>
    </a:dk1>
    <a:lt1>
      <a:sysClr val="window" lastClr="FFFFFF"/>
    </a:lt1>
    <a:dk2>
      <a:srgbClr val="3D3D3D"/>
    </a:dk2>
    <a:lt2>
      <a:srgbClr val="EBEBEB"/>
    </a:lt2>
    <a:accent1>
      <a:srgbClr val="ED8428"/>
    </a:accent1>
    <a:accent2>
      <a:srgbClr val="E6C46D"/>
    </a:accent2>
    <a:accent3>
      <a:srgbClr val="537685"/>
    </a:accent3>
    <a:accent4>
      <a:srgbClr val="969FA7"/>
    </a:accent4>
    <a:accent5>
      <a:srgbClr val="A9C37C"/>
    </a:accent5>
    <a:accent6>
      <a:srgbClr val="5A8071"/>
    </a:accent6>
    <a:hlink>
      <a:srgbClr val="828282"/>
    </a:hlink>
    <a:folHlink>
      <a:srgbClr val="A5A5A5"/>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F6DD71352A75C946BB20F54B03F82ED8" ma:contentTypeVersion="0" ma:contentTypeDescription="Create a new document." ma:contentTypeScope="" ma:versionID="eceeccfb90892b5bada9b120beb2cbcc">
  <xsd:schema xmlns:xsd="http://www.w3.org/2001/XMLSchema" xmlns:xs="http://www.w3.org/2001/XMLSchema" xmlns:p="http://schemas.microsoft.com/office/2006/metadata/properties" targetNamespace="http://schemas.microsoft.com/office/2006/metadata/properties" ma:root="true" ma:fieldsID="500c6692915ba10984c0aabd49f31b22">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96D12246-1A96-46DD-B376-C5C346F3ACD2}"/>
</file>

<file path=customXml/itemProps2.xml><?xml version="1.0" encoding="utf-8"?>
<ds:datastoreItem xmlns:ds="http://schemas.openxmlformats.org/officeDocument/2006/customXml" ds:itemID="{D8C6403A-684A-431F-8F36-A24C99E28661}">
  <ds:schemaRefs>
    <ds:schemaRef ds:uri="http://schemas.microsoft.com/sharepoint/v3/contenttype/forms"/>
  </ds:schemaRefs>
</ds:datastoreItem>
</file>

<file path=customXml/itemProps3.xml><?xml version="1.0" encoding="utf-8"?>
<ds:datastoreItem xmlns:ds="http://schemas.openxmlformats.org/officeDocument/2006/customXml" ds:itemID="{F2455B2D-BAB7-438A-85DA-0266A24CB79F}">
  <ds:schemaRefs>
    <ds:schemaRef ds:uri="71af3243-3dd4-4a8d-8c0d-dd76da1f02a5"/>
    <ds:schemaRef ds:uri="d89fc9d1-e054-49b4-b762-b16edc2174b1"/>
    <ds:schemaRef ds:uri="http://schemas.microsoft.com/office/2006/metadata/properties"/>
    <ds:schemaRef ds:uri="http://schemas.microsoft.com/office/infopath/2007/PartnerControls"/>
    <ds:schemaRef ds:uri="f8d971b4-57de-43d1-ab0d-aca6e346d126"/>
  </ds:schemaRefs>
</ds:datastoreItem>
</file>

<file path=docProps/app.xml><?xml version="1.0" encoding="utf-8"?>
<Properties xmlns="http://schemas.openxmlformats.org/officeDocument/2006/extended-properties" xmlns:vt="http://schemas.openxmlformats.org/officeDocument/2006/docPropsVTypes">
  <Template>{F54894CB-9147-4AF5-A337-BC8D23A840CC}tf11964407_win32</Template>
  <TotalTime>1851</TotalTime>
  <Words>2183</Words>
  <Application>Microsoft Office PowerPoint</Application>
  <PresentationFormat>Widescreen</PresentationFormat>
  <Paragraphs>216</Paragraphs>
  <Slides>30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30</vt:i4>
      </vt:variant>
    </vt:vector>
  </HeadingPairs>
  <TitlesOfParts>
    <vt:vector size="37" baseType="lpstr">
      <vt:lpstr>Calibri</vt:lpstr>
      <vt:lpstr>Franklin Gothic Book</vt:lpstr>
      <vt:lpstr>Franklin Gothic Demi</vt:lpstr>
      <vt:lpstr>Gill Sans MT</vt:lpstr>
      <vt:lpstr>Wingdings</vt:lpstr>
      <vt:lpstr>Wingdings 2</vt:lpstr>
      <vt:lpstr>DividendVTI</vt:lpstr>
      <vt:lpstr>Writing essay sentences</vt:lpstr>
      <vt:lpstr>Learning outcomes</vt:lpstr>
      <vt:lpstr>Nominal groups (also known as noun groups)</vt:lpstr>
      <vt:lpstr>Nominal groups (also known as noun groups)</vt:lpstr>
      <vt:lpstr>Choosing a focus for your sentence</vt:lpstr>
      <vt:lpstr>Lesson 1: focusing on text</vt:lpstr>
      <vt:lpstr>Lesson 1: focusing on text</vt:lpstr>
      <vt:lpstr>Lesson 1: focusing on text</vt:lpstr>
      <vt:lpstr>Lesson 1: Adding detail</vt:lpstr>
      <vt:lpstr>Lesson 1: adding detail</vt:lpstr>
      <vt:lpstr>Lesson 2: focusing on character</vt:lpstr>
      <vt:lpstr>Lesson 2: Focusing on character</vt:lpstr>
      <vt:lpstr>Lesson 2: Focusing on character</vt:lpstr>
      <vt:lpstr>Stretch goal: Choosing powerful verbS</vt:lpstr>
      <vt:lpstr>Stretch goal: Choosing powerful verbS</vt:lpstr>
      <vt:lpstr>Stretch goal: Choosing powerful verbS</vt:lpstr>
      <vt:lpstr>Lesson 2: Using prepositions</vt:lpstr>
      <vt:lpstr>Lesson 2: Using prepositions</vt:lpstr>
      <vt:lpstr>Lesson 2: Using prepositions</vt:lpstr>
      <vt:lpstr>Lesson 3: Focusing on language</vt:lpstr>
      <vt:lpstr>Lesson 3: Focusing on language</vt:lpstr>
      <vt:lpstr>Lesson 3: Focusing on language</vt:lpstr>
      <vt:lpstr>Lesson 3: Focusing on language</vt:lpstr>
      <vt:lpstr>Lesson 3: putting it all together</vt:lpstr>
      <vt:lpstr>Lesson 3: putting it all together</vt:lpstr>
      <vt:lpstr>Stretch goal: Moving elements around</vt:lpstr>
      <vt:lpstr>Stretch goal: Moving elements around</vt:lpstr>
      <vt:lpstr>Stretch goal: Moving elements around</vt:lpstr>
      <vt:lpstr>Review</vt:lpstr>
      <vt:lpstr>Review: What have you learned?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Writing essay sentences</dc:title>
  <dc:creator>Lincoln Le Fevre</dc:creator>
  <cp:lastModifiedBy>Lincoln LE FEVRE</cp:lastModifiedBy>
  <cp:revision>18</cp:revision>
  <dcterms:created xsi:type="dcterms:W3CDTF">2021-05-14T02:22:28Z</dcterms:created>
  <dcterms:modified xsi:type="dcterms:W3CDTF">2023-05-30T04:13:21Z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0x010100F6DD71352A75C946BB20F54B03F82ED8</vt:lpwstr>
  </property>
</Properties>
</file>