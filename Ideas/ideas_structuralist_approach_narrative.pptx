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23" r:id="rId2"/>
    <p:sldId id="324" r:id="rId3"/>
    <p:sldId id="335" r:id="rId4"/>
    <p:sldId id="325" r:id="rId5"/>
    <p:sldId id="334" r:id="rId6"/>
    <p:sldId id="336" r:id="rId7"/>
    <p:sldId id="326" r:id="rId8"/>
    <p:sldId id="338" r:id="rId9"/>
    <p:sldId id="337" r:id="rId10"/>
    <p:sldId id="339" r:id="rId11"/>
    <p:sldId id="327" r:id="rId12"/>
    <p:sldId id="340" r:id="rId13"/>
    <p:sldId id="342" r:id="rId14"/>
    <p:sldId id="341" r:id="rId15"/>
    <p:sldId id="343" r:id="rId16"/>
    <p:sldId id="344" r:id="rId17"/>
    <p:sldId id="34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76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5/17/2024</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911271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5/17/2024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7359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5/17/2024</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64464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5/17/2024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00327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5/17/2024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755402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5/17/2024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08709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5/17/2024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472546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5/17/2024</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169768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5/17/2024</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48449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5/17/2024</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2789913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6F176-1A3F-4043-8869-6CFF1F9ECB57}"/>
              </a:ext>
            </a:extLst>
          </p:cNvPr>
          <p:cNvSpPr>
            <a:spLocks noGrp="1"/>
          </p:cNvSpPr>
          <p:nvPr>
            <p:ph type="title"/>
          </p:nvPr>
        </p:nvSpPr>
        <p:spPr/>
        <p:txBody>
          <a:bodyPr/>
          <a:lstStyle/>
          <a:p>
            <a:r>
              <a:rPr lang="en-AU" dirty="0"/>
              <a:t>A Structuralist approach</a:t>
            </a:r>
          </a:p>
        </p:txBody>
      </p:sp>
      <p:sp>
        <p:nvSpPr>
          <p:cNvPr id="4" name="Text Placeholder 3">
            <a:extLst>
              <a:ext uri="{FF2B5EF4-FFF2-40B4-BE49-F238E27FC236}">
                <a16:creationId xmlns:a16="http://schemas.microsoft.com/office/drawing/2014/main" id="{38239ADE-4CB8-4E9B-B46C-C6588CAA5837}"/>
              </a:ext>
            </a:extLst>
          </p:cNvPr>
          <p:cNvSpPr>
            <a:spLocks noGrp="1"/>
          </p:cNvSpPr>
          <p:nvPr>
            <p:ph type="body" idx="1"/>
          </p:nvPr>
        </p:nvSpPr>
        <p:spPr/>
        <p:txBody>
          <a:bodyPr/>
          <a:lstStyle/>
          <a:p>
            <a:r>
              <a:rPr lang="en-AU" dirty="0"/>
              <a:t>Writing to express</a:t>
            </a:r>
          </a:p>
        </p:txBody>
      </p:sp>
    </p:spTree>
    <p:extLst>
      <p:ext uri="{BB962C8B-B14F-4D97-AF65-F5344CB8AC3E}">
        <p14:creationId xmlns:p14="http://schemas.microsoft.com/office/powerpoint/2010/main" val="2592281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E98F9-97A6-430A-97FC-3E6058210112}"/>
              </a:ext>
            </a:extLst>
          </p:cNvPr>
          <p:cNvSpPr>
            <a:spLocks noGrp="1"/>
          </p:cNvSpPr>
          <p:nvPr>
            <p:ph type="title"/>
          </p:nvPr>
        </p:nvSpPr>
        <p:spPr/>
        <p:txBody>
          <a:bodyPr/>
          <a:lstStyle/>
          <a:p>
            <a:r>
              <a:rPr lang="en-AU" dirty="0"/>
              <a:t>A Structuralist Approach</a:t>
            </a:r>
          </a:p>
        </p:txBody>
      </p:sp>
      <p:sp>
        <p:nvSpPr>
          <p:cNvPr id="3" name="Content Placeholder 2">
            <a:extLst>
              <a:ext uri="{FF2B5EF4-FFF2-40B4-BE49-F238E27FC236}">
                <a16:creationId xmlns:a16="http://schemas.microsoft.com/office/drawing/2014/main" id="{D04872DC-826A-44C7-9E3E-414763D1B584}"/>
              </a:ext>
            </a:extLst>
          </p:cNvPr>
          <p:cNvSpPr>
            <a:spLocks noGrp="1"/>
          </p:cNvSpPr>
          <p:nvPr>
            <p:ph idx="1"/>
          </p:nvPr>
        </p:nvSpPr>
        <p:spPr/>
        <p:txBody>
          <a:bodyPr vert="horz" lIns="91440" tIns="45720" rIns="91440" bIns="45720" rtlCol="0" anchor="t">
            <a:normAutofit lnSpcReduction="10000"/>
          </a:bodyPr>
          <a:lstStyle/>
          <a:p>
            <a:pPr marL="0" indent="0">
              <a:buNone/>
            </a:pPr>
            <a:r>
              <a:rPr lang="en-AU" sz="1800" b="1" dirty="0"/>
              <a:t>Consider this:</a:t>
            </a:r>
          </a:p>
          <a:p>
            <a:pPr marL="0" indent="0">
              <a:buNone/>
            </a:pPr>
            <a:r>
              <a:rPr lang="en-AU" sz="1800" dirty="0"/>
              <a:t>Ideas are only meaningful because they have opposing ideas. Day only means something if there is night. Happiness is meaningless without sadness.</a:t>
            </a:r>
          </a:p>
          <a:p>
            <a:pPr marL="0" indent="0">
              <a:buNone/>
            </a:pPr>
            <a:r>
              <a:rPr lang="en-AU" sz="1800" dirty="0"/>
              <a:t>Meaning exists in binaries (pairs of opposing ideas). Another word for this kind of pair of ideas is a </a:t>
            </a:r>
            <a:r>
              <a:rPr lang="en-AU" sz="1800" b="1" dirty="0"/>
              <a:t>dichotomy</a:t>
            </a:r>
            <a:r>
              <a:rPr lang="en-AU" sz="1800" dirty="0"/>
              <a:t>.</a:t>
            </a:r>
          </a:p>
          <a:p>
            <a:pPr marL="0" indent="0">
              <a:buNone/>
            </a:pPr>
            <a:r>
              <a:rPr lang="en-AU" sz="1800" dirty="0"/>
              <a:t>Examples of dichotomies in stories might include:</a:t>
            </a:r>
          </a:p>
          <a:p>
            <a:pPr marL="285750" indent="-285750"/>
            <a:r>
              <a:rPr lang="en-AU" sz="1800" dirty="0"/>
              <a:t>Freedom/entrapment</a:t>
            </a:r>
          </a:p>
          <a:p>
            <a:pPr marL="285750" indent="-285750">
              <a:buClr>
                <a:srgbClr val="262626"/>
              </a:buClr>
            </a:pPr>
            <a:r>
              <a:rPr lang="en-AU" sz="1800" dirty="0"/>
              <a:t>Connection/isolation</a:t>
            </a:r>
          </a:p>
          <a:p>
            <a:pPr marL="285750" indent="-285750">
              <a:buClr>
                <a:srgbClr val="262626"/>
              </a:buClr>
            </a:pPr>
            <a:r>
              <a:rPr lang="en-AU" sz="1800" dirty="0"/>
              <a:t>Acceptance/rejection</a:t>
            </a:r>
          </a:p>
          <a:p>
            <a:pPr marL="285750" indent="-285750">
              <a:buClr>
                <a:srgbClr val="262626"/>
              </a:buClr>
            </a:pPr>
            <a:r>
              <a:rPr lang="en-AU" sz="1800" dirty="0"/>
              <a:t>Science/religion</a:t>
            </a:r>
          </a:p>
          <a:p>
            <a:pPr marL="285750" indent="-285750">
              <a:buClr>
                <a:srgbClr val="262626"/>
              </a:buClr>
            </a:pPr>
            <a:endParaRPr lang="en-AU" sz="1800" dirty="0"/>
          </a:p>
        </p:txBody>
      </p:sp>
    </p:spTree>
    <p:extLst>
      <p:ext uri="{BB962C8B-B14F-4D97-AF65-F5344CB8AC3E}">
        <p14:creationId xmlns:p14="http://schemas.microsoft.com/office/powerpoint/2010/main" val="811552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E98F9-97A6-430A-97FC-3E6058210112}"/>
              </a:ext>
            </a:extLst>
          </p:cNvPr>
          <p:cNvSpPr>
            <a:spLocks noGrp="1"/>
          </p:cNvSpPr>
          <p:nvPr>
            <p:ph type="title"/>
          </p:nvPr>
        </p:nvSpPr>
        <p:spPr/>
        <p:txBody>
          <a:bodyPr/>
          <a:lstStyle/>
          <a:p>
            <a:r>
              <a:rPr lang="en-AU" dirty="0"/>
              <a:t>A Structuralist Approach</a:t>
            </a:r>
          </a:p>
        </p:txBody>
      </p:sp>
      <p:sp>
        <p:nvSpPr>
          <p:cNvPr id="3" name="Content Placeholder 2">
            <a:extLst>
              <a:ext uri="{FF2B5EF4-FFF2-40B4-BE49-F238E27FC236}">
                <a16:creationId xmlns:a16="http://schemas.microsoft.com/office/drawing/2014/main" id="{D04872DC-826A-44C7-9E3E-414763D1B584}"/>
              </a:ext>
            </a:extLst>
          </p:cNvPr>
          <p:cNvSpPr>
            <a:spLocks noGrp="1"/>
          </p:cNvSpPr>
          <p:nvPr>
            <p:ph idx="1"/>
          </p:nvPr>
        </p:nvSpPr>
        <p:spPr/>
        <p:txBody>
          <a:bodyPr vert="horz" lIns="91440" tIns="45720" rIns="91440" bIns="45720" rtlCol="0" anchor="t">
            <a:normAutofit fontScale="92500"/>
          </a:bodyPr>
          <a:lstStyle/>
          <a:p>
            <a:pPr marL="0" indent="0">
              <a:buNone/>
            </a:pPr>
            <a:r>
              <a:rPr lang="en-AU" sz="2000" dirty="0"/>
              <a:t>Short story writers can use this theory to improve efficiency and depth in a story. </a:t>
            </a:r>
            <a:endParaRPr lang="en-US" sz="1600" dirty="0"/>
          </a:p>
          <a:p>
            <a:pPr marL="0" indent="0">
              <a:buNone/>
            </a:pPr>
            <a:r>
              <a:rPr lang="en-AU" sz="2000" dirty="0"/>
              <a:t>If you wanted to write about the importance of sadness, you don’t need to write about happiness as well, because that idea is already contained within ‘sadness’ as its opposite.</a:t>
            </a:r>
            <a:endParaRPr lang="en-US" sz="1600" dirty="0"/>
          </a:p>
          <a:p>
            <a:pPr marL="0" indent="0">
              <a:buNone/>
            </a:pPr>
            <a:r>
              <a:rPr lang="en-AU" sz="2000" dirty="0"/>
              <a:t>Alternatively, an author can use symbolism to express the dichotomy so that they don’t have to explicitly mentioned either.</a:t>
            </a:r>
          </a:p>
          <a:p>
            <a:pPr marL="0" indent="0">
              <a:buNone/>
            </a:pPr>
            <a:r>
              <a:rPr lang="en-AU" sz="2000" dirty="0"/>
              <a:t>For example, if an author wanted to focus on the dichotomy of life and death, they might include descriptions of seedlings and eggs hatching, along with rotting things and bones.</a:t>
            </a:r>
          </a:p>
          <a:p>
            <a:pPr marL="0" indent="0">
              <a:buNone/>
            </a:pPr>
            <a:r>
              <a:rPr lang="en-AU" sz="2000" dirty="0"/>
              <a:t>A dichotomy of freedom/imprisonment might describe birds and fences, chains and the sky.</a:t>
            </a:r>
          </a:p>
        </p:txBody>
      </p:sp>
    </p:spTree>
    <p:extLst>
      <p:ext uri="{BB962C8B-B14F-4D97-AF65-F5344CB8AC3E}">
        <p14:creationId xmlns:p14="http://schemas.microsoft.com/office/powerpoint/2010/main" val="769618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E98F9-97A6-430A-97FC-3E6058210112}"/>
              </a:ext>
            </a:extLst>
          </p:cNvPr>
          <p:cNvSpPr>
            <a:spLocks noGrp="1"/>
          </p:cNvSpPr>
          <p:nvPr>
            <p:ph type="title"/>
          </p:nvPr>
        </p:nvSpPr>
        <p:spPr/>
        <p:txBody>
          <a:bodyPr/>
          <a:lstStyle/>
          <a:p>
            <a:r>
              <a:rPr lang="en-AU" dirty="0"/>
              <a:t>A Structuralist Approach</a:t>
            </a:r>
          </a:p>
        </p:txBody>
      </p:sp>
      <p:sp>
        <p:nvSpPr>
          <p:cNvPr id="3" name="Content Placeholder 2">
            <a:extLst>
              <a:ext uri="{FF2B5EF4-FFF2-40B4-BE49-F238E27FC236}">
                <a16:creationId xmlns:a16="http://schemas.microsoft.com/office/drawing/2014/main" id="{D04872DC-826A-44C7-9E3E-414763D1B584}"/>
              </a:ext>
            </a:extLst>
          </p:cNvPr>
          <p:cNvSpPr>
            <a:spLocks noGrp="1"/>
          </p:cNvSpPr>
          <p:nvPr>
            <p:ph idx="1"/>
          </p:nvPr>
        </p:nvSpPr>
        <p:spPr/>
        <p:txBody>
          <a:bodyPr>
            <a:normAutofit fontScale="92500" lnSpcReduction="10000"/>
          </a:bodyPr>
          <a:lstStyle/>
          <a:p>
            <a:pPr marL="0" indent="0">
              <a:buNone/>
            </a:pPr>
            <a:r>
              <a:rPr lang="en-AU" sz="1800" b="1" dirty="0"/>
              <a:t>Hills like White Elephants</a:t>
            </a:r>
          </a:p>
          <a:p>
            <a:r>
              <a:rPr lang="en-AU" sz="1800" dirty="0"/>
              <a:t>Ernest Hemingway’s short story ‘Hills like White Elephants’ is, on the surface, a conversation between a man and a woman about a ‘simple operation’ that the woman is about to have, and where they drink and discuss the scenery while waiting for a train.</a:t>
            </a:r>
          </a:p>
          <a:p>
            <a:r>
              <a:rPr lang="en-AU" sz="1800" dirty="0"/>
              <a:t>But once we unlock the symbolism, the story takes on a much deeper meaning.</a:t>
            </a:r>
          </a:p>
          <a:p>
            <a:r>
              <a:rPr lang="en-AU" sz="1800" dirty="0"/>
              <a:t>The hills on one side of the valley are green and verdant, while the hills to the other side are bare, like ‘white elephants.’ One side is fertile, and the other is barren. The drink is called ‘anise del </a:t>
            </a:r>
            <a:r>
              <a:rPr lang="en-AU" sz="1800" dirty="0" err="1"/>
              <a:t>toro</a:t>
            </a:r>
            <a:r>
              <a:rPr lang="en-AU" sz="1800" dirty="0"/>
              <a:t>,’ or loosely translated, the ‘seed of the bull’. The bull (not to mention the bull’s ‘seed’) are commonly used symbols pertaining to male potency.</a:t>
            </a:r>
          </a:p>
          <a:p>
            <a:pPr marL="0" indent="0">
              <a:buNone/>
            </a:pPr>
            <a:r>
              <a:rPr lang="en-AU" sz="1800" i="1" dirty="0"/>
              <a:t>So given the dichotomy of fertility/potency and infertility, what do you think the ‘simple operation’ is that the man is encouraging the woman to have? </a:t>
            </a:r>
          </a:p>
          <a:p>
            <a:pPr marL="0" indent="0">
              <a:buNone/>
            </a:pPr>
            <a:r>
              <a:rPr lang="en-AU" sz="1800" i="1" dirty="0"/>
              <a:t>The story has taken on a much deeper, and emotional meaning.</a:t>
            </a:r>
          </a:p>
        </p:txBody>
      </p:sp>
    </p:spTree>
    <p:extLst>
      <p:ext uri="{BB962C8B-B14F-4D97-AF65-F5344CB8AC3E}">
        <p14:creationId xmlns:p14="http://schemas.microsoft.com/office/powerpoint/2010/main" val="4157144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2E2A95-1A08-4118-83C6-B1CA5648E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panose="02020404030301010803"/>
              <a:ea typeface="+mn-ea"/>
              <a:cs typeface="+mn-cs"/>
            </a:endParaRPr>
          </a:p>
        </p:txBody>
      </p:sp>
      <p:sp>
        <p:nvSpPr>
          <p:cNvPr id="14" name="Rectangle 13">
            <a:extLst>
              <a:ext uri="{FF2B5EF4-FFF2-40B4-BE49-F238E27FC236}">
                <a16:creationId xmlns:a16="http://schemas.microsoft.com/office/drawing/2014/main" id="{68DC0EC7-60EA-4BD3-BC04-D547DE1B2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0122" y="413053"/>
            <a:ext cx="8212114" cy="6064596"/>
          </a:xfrm>
          <a:prstGeom prst="rect">
            <a:avLst/>
          </a:prstGeom>
          <a:noFill/>
          <a:ln w="6350" cap="sq" cmpd="sng" algn="ctr">
            <a:solidFill>
              <a:srgbClr val="404040"/>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venir Next LT Pro" panose="02020404030301010803"/>
              <a:ea typeface="+mn-ea"/>
              <a:cs typeface="+mn-cs"/>
            </a:endParaRPr>
          </a:p>
        </p:txBody>
      </p:sp>
      <p:pic>
        <p:nvPicPr>
          <p:cNvPr id="5" name="Content Placeholder 4" descr="Diagram&#10;&#10;Description automatically generated">
            <a:extLst>
              <a:ext uri="{FF2B5EF4-FFF2-40B4-BE49-F238E27FC236}">
                <a16:creationId xmlns:a16="http://schemas.microsoft.com/office/drawing/2014/main" id="{C223178C-F004-44B7-B75E-22AF1A204558}"/>
              </a:ext>
            </a:extLst>
          </p:cNvPr>
          <p:cNvPicPr>
            <a:picLocks noChangeAspect="1"/>
          </p:cNvPicPr>
          <p:nvPr/>
        </p:nvPicPr>
        <p:blipFill>
          <a:blip r:embed="rId2"/>
          <a:stretch>
            <a:fillRect/>
          </a:stretch>
        </p:blipFill>
        <p:spPr>
          <a:xfrm>
            <a:off x="1165205" y="882398"/>
            <a:ext cx="6716868" cy="5121612"/>
          </a:xfrm>
          <a:prstGeom prst="rect">
            <a:avLst/>
          </a:prstGeom>
        </p:spPr>
      </p:pic>
      <p:sp>
        <p:nvSpPr>
          <p:cNvPr id="16" name="Rectangle 15">
            <a:extLst>
              <a:ext uri="{FF2B5EF4-FFF2-40B4-BE49-F238E27FC236}">
                <a16:creationId xmlns:a16="http://schemas.microsoft.com/office/drawing/2014/main" id="{2FFEFC7E-85EE-4AC9-A351-FBEB13A1D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0386" y="237744"/>
            <a:ext cx="2926080"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venir Next LT Pro" panose="02020404030301010803"/>
              <a:ea typeface="+mn-ea"/>
              <a:cs typeface="+mn-cs"/>
            </a:endParaRPr>
          </a:p>
        </p:txBody>
      </p:sp>
      <p:sp>
        <p:nvSpPr>
          <p:cNvPr id="18" name="Rectangle 17">
            <a:extLst>
              <a:ext uri="{FF2B5EF4-FFF2-40B4-BE49-F238E27FC236}">
                <a16:creationId xmlns:a16="http://schemas.microsoft.com/office/drawing/2014/main" id="{CB2511BB-FC4C-45F3-94EB-661D6806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56699" y="413053"/>
            <a:ext cx="2616201" cy="606459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panose="02020404030301010803"/>
              <a:ea typeface="+mn-ea"/>
              <a:cs typeface="+mn-cs"/>
            </a:endParaRPr>
          </a:p>
        </p:txBody>
      </p:sp>
      <p:sp>
        <p:nvSpPr>
          <p:cNvPr id="2" name="Title 1">
            <a:extLst>
              <a:ext uri="{FF2B5EF4-FFF2-40B4-BE49-F238E27FC236}">
                <a16:creationId xmlns:a16="http://schemas.microsoft.com/office/drawing/2014/main" id="{2BABD886-9176-4F99-A8F1-6DBBC228E4BE}"/>
              </a:ext>
            </a:extLst>
          </p:cNvPr>
          <p:cNvSpPr>
            <a:spLocks noGrp="1"/>
          </p:cNvSpPr>
          <p:nvPr>
            <p:ph type="title"/>
          </p:nvPr>
        </p:nvSpPr>
        <p:spPr>
          <a:xfrm>
            <a:off x="9321801" y="612843"/>
            <a:ext cx="2312480" cy="1499738"/>
          </a:xfrm>
        </p:spPr>
        <p:txBody>
          <a:bodyPr anchor="b">
            <a:normAutofit/>
          </a:bodyPr>
          <a:lstStyle/>
          <a:p>
            <a:r>
              <a:rPr lang="en-AU" sz="2800" dirty="0"/>
              <a:t>Hills like White Elephants</a:t>
            </a:r>
          </a:p>
        </p:txBody>
      </p:sp>
      <p:sp>
        <p:nvSpPr>
          <p:cNvPr id="9" name="Content Placeholder 8">
            <a:extLst>
              <a:ext uri="{FF2B5EF4-FFF2-40B4-BE49-F238E27FC236}">
                <a16:creationId xmlns:a16="http://schemas.microsoft.com/office/drawing/2014/main" id="{F7B176E7-78FC-2E1E-F154-D1F822A5E74C}"/>
              </a:ext>
            </a:extLst>
          </p:cNvPr>
          <p:cNvSpPr>
            <a:spLocks noGrp="1"/>
          </p:cNvSpPr>
          <p:nvPr>
            <p:ph idx="1"/>
          </p:nvPr>
        </p:nvSpPr>
        <p:spPr>
          <a:xfrm>
            <a:off x="9321801" y="2149813"/>
            <a:ext cx="2312479" cy="3854197"/>
          </a:xfrm>
        </p:spPr>
        <p:txBody>
          <a:bodyPr>
            <a:normAutofit/>
          </a:bodyPr>
          <a:lstStyle/>
          <a:p>
            <a:pPr marL="0" indent="0">
              <a:buNone/>
            </a:pPr>
            <a:r>
              <a:rPr lang="en-US" sz="1400" dirty="0">
                <a:solidFill>
                  <a:schemeClr val="tx1">
                    <a:lumMod val="85000"/>
                    <a:lumOff val="15000"/>
                  </a:schemeClr>
                </a:solidFill>
              </a:rPr>
              <a:t>We can map the use of the dichotomy fertile/infertile.</a:t>
            </a:r>
          </a:p>
          <a:p>
            <a:pPr marL="0" indent="0">
              <a:buNone/>
            </a:pPr>
            <a:r>
              <a:rPr lang="en-US" sz="1400" dirty="0">
                <a:solidFill>
                  <a:schemeClr val="tx1">
                    <a:lumMod val="85000"/>
                    <a:lumOff val="15000"/>
                  </a:schemeClr>
                </a:solidFill>
              </a:rPr>
              <a:t>In the circle, we can see the central characters and the external characters.</a:t>
            </a:r>
          </a:p>
          <a:p>
            <a:pPr marL="0" indent="0">
              <a:buNone/>
            </a:pPr>
            <a:r>
              <a:rPr lang="en-US" sz="1400" dirty="0">
                <a:solidFill>
                  <a:schemeClr val="tx1">
                    <a:lumMod val="85000"/>
                    <a:lumOff val="15000"/>
                  </a:schemeClr>
                </a:solidFill>
              </a:rPr>
              <a:t>Outside the circle we can explore the symbolism that represents each side of the binary.</a:t>
            </a:r>
          </a:p>
        </p:txBody>
      </p:sp>
    </p:spTree>
    <p:extLst>
      <p:ext uri="{BB962C8B-B14F-4D97-AF65-F5344CB8AC3E}">
        <p14:creationId xmlns:p14="http://schemas.microsoft.com/office/powerpoint/2010/main" val="833833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E70-FB7A-1597-F4E1-8F924D5EE89A}"/>
              </a:ext>
            </a:extLst>
          </p:cNvPr>
          <p:cNvSpPr>
            <a:spLocks noGrp="1"/>
          </p:cNvSpPr>
          <p:nvPr>
            <p:ph type="title"/>
          </p:nvPr>
        </p:nvSpPr>
        <p:spPr/>
        <p:txBody>
          <a:bodyPr/>
          <a:lstStyle/>
          <a:p>
            <a:r>
              <a:rPr lang="en-AU" dirty="0"/>
              <a:t>Ideas around protest</a:t>
            </a:r>
          </a:p>
        </p:txBody>
      </p:sp>
      <p:sp>
        <p:nvSpPr>
          <p:cNvPr id="3" name="Content Placeholder 2">
            <a:extLst>
              <a:ext uri="{FF2B5EF4-FFF2-40B4-BE49-F238E27FC236}">
                <a16:creationId xmlns:a16="http://schemas.microsoft.com/office/drawing/2014/main" id="{0C64AFAD-5464-DDBC-4AC7-196667704F1A}"/>
              </a:ext>
            </a:extLst>
          </p:cNvPr>
          <p:cNvSpPr>
            <a:spLocks noGrp="1"/>
          </p:cNvSpPr>
          <p:nvPr>
            <p:ph idx="1"/>
          </p:nvPr>
        </p:nvSpPr>
        <p:spPr/>
        <p:txBody>
          <a:bodyPr>
            <a:normAutofit/>
          </a:bodyPr>
          <a:lstStyle/>
          <a:p>
            <a:pPr marL="0" indent="0">
              <a:buNone/>
            </a:pPr>
            <a:r>
              <a:rPr lang="en-AU" sz="2000" dirty="0"/>
              <a:t>Think of some dichotomies that relate to </a:t>
            </a:r>
            <a:r>
              <a:rPr lang="en-AU" sz="2000" b="1" dirty="0"/>
              <a:t>protests</a:t>
            </a:r>
            <a:r>
              <a:rPr lang="en-AU" sz="2000" dirty="0"/>
              <a:t> and </a:t>
            </a:r>
            <a:r>
              <a:rPr lang="en-AU" sz="2000" b="1" dirty="0"/>
              <a:t>protesting</a:t>
            </a:r>
            <a:r>
              <a:rPr lang="en-AU" sz="2000" dirty="0"/>
              <a:t>.</a:t>
            </a:r>
          </a:p>
          <a:p>
            <a:pPr marL="452438" indent="-182563"/>
            <a:r>
              <a:rPr lang="en-AU" sz="2000" dirty="0"/>
              <a:t>Silence vs activism</a:t>
            </a:r>
          </a:p>
          <a:p>
            <a:pPr marL="452438" indent="-182563"/>
            <a:r>
              <a:rPr lang="en-AU" sz="2000" dirty="0"/>
              <a:t>The voiceless vs the loudest</a:t>
            </a:r>
          </a:p>
          <a:p>
            <a:pPr marL="452438" indent="-182563"/>
            <a:r>
              <a:rPr lang="en-AU" sz="2000" dirty="0"/>
              <a:t>Violence vs peace</a:t>
            </a:r>
          </a:p>
          <a:p>
            <a:pPr marL="452438" indent="-182563"/>
            <a:r>
              <a:rPr lang="en-AU" sz="2000" dirty="0"/>
              <a:t>Money vs morality</a:t>
            </a:r>
          </a:p>
          <a:p>
            <a:pPr marL="452438" indent="-182563"/>
            <a:r>
              <a:rPr lang="en-AU" sz="2000" dirty="0"/>
              <a:t>Belonging vs exclusion</a:t>
            </a:r>
          </a:p>
        </p:txBody>
      </p:sp>
    </p:spTree>
    <p:extLst>
      <p:ext uri="{BB962C8B-B14F-4D97-AF65-F5344CB8AC3E}">
        <p14:creationId xmlns:p14="http://schemas.microsoft.com/office/powerpoint/2010/main" val="3063909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E9EDDFA-8F05-462B-8D3E-5B9C4FBC73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43F9A23-3237-4ED6-A1E9-C0E6530E05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1267" y="255102"/>
            <a:ext cx="5342133" cy="6361598"/>
          </a:xfrm>
          <a:prstGeom prst="rect">
            <a:avLst/>
          </a:prstGeom>
          <a:solidFill>
            <a:schemeClr val="bg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63CD46D-4335-4BA4-842A-BF835A99C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9100" y="393365"/>
            <a:ext cx="5018211" cy="6035547"/>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0D5D6F-7A90-4F5B-AF90-3607DB6DAA03}"/>
              </a:ext>
            </a:extLst>
          </p:cNvPr>
          <p:cNvSpPr>
            <a:spLocks noGrp="1"/>
          </p:cNvSpPr>
          <p:nvPr>
            <p:ph type="title"/>
          </p:nvPr>
        </p:nvSpPr>
        <p:spPr>
          <a:xfrm>
            <a:off x="7064082" y="642594"/>
            <a:ext cx="4472921" cy="1371600"/>
          </a:xfrm>
        </p:spPr>
        <p:txBody>
          <a:bodyPr>
            <a:normAutofit/>
          </a:bodyPr>
          <a:lstStyle/>
          <a:p>
            <a:r>
              <a:rPr lang="en-AU"/>
              <a:t>A Structuralist Approach</a:t>
            </a:r>
            <a:endParaRPr lang="en-AU" dirty="0"/>
          </a:p>
        </p:txBody>
      </p:sp>
      <p:sp>
        <p:nvSpPr>
          <p:cNvPr id="3" name="Content Placeholder 2">
            <a:extLst>
              <a:ext uri="{FF2B5EF4-FFF2-40B4-BE49-F238E27FC236}">
                <a16:creationId xmlns:a16="http://schemas.microsoft.com/office/drawing/2014/main" id="{372028C0-0E30-4B53-AC5D-B36D9BA00A6A}"/>
              </a:ext>
            </a:extLst>
          </p:cNvPr>
          <p:cNvSpPr>
            <a:spLocks noGrp="1"/>
          </p:cNvSpPr>
          <p:nvPr>
            <p:ph idx="1"/>
          </p:nvPr>
        </p:nvSpPr>
        <p:spPr>
          <a:xfrm>
            <a:off x="7064082" y="2103120"/>
            <a:ext cx="4472922" cy="3931920"/>
          </a:xfrm>
        </p:spPr>
        <p:txBody>
          <a:bodyPr>
            <a:normAutofit/>
          </a:bodyPr>
          <a:lstStyle/>
          <a:p>
            <a:pPr marL="0" indent="0">
              <a:buNone/>
            </a:pPr>
            <a:r>
              <a:rPr lang="en-AU" sz="2000" dirty="0"/>
              <a:t>We can map our story using a structuralist approach.</a:t>
            </a:r>
          </a:p>
          <a:p>
            <a:r>
              <a:rPr lang="en-AU" sz="2000" dirty="0"/>
              <a:t>Let’s the binary of peace and violence to write a story about domestic abuse.</a:t>
            </a:r>
          </a:p>
          <a:p>
            <a:r>
              <a:rPr lang="en-AU" sz="2000" dirty="0"/>
              <a:t>We start with a circle inside a circle. On one side we have </a:t>
            </a:r>
            <a:r>
              <a:rPr lang="en-AU" sz="2000" b="1" dirty="0"/>
              <a:t>peace</a:t>
            </a:r>
            <a:r>
              <a:rPr lang="en-AU" sz="2000" dirty="0"/>
              <a:t>, </a:t>
            </a:r>
            <a:r>
              <a:rPr lang="en-AU" sz="2000" b="1" dirty="0"/>
              <a:t>self-control</a:t>
            </a:r>
            <a:r>
              <a:rPr lang="en-AU" sz="2000" dirty="0"/>
              <a:t> and </a:t>
            </a:r>
            <a:r>
              <a:rPr lang="en-AU" sz="2000" b="1" dirty="0"/>
              <a:t>survival</a:t>
            </a:r>
            <a:r>
              <a:rPr lang="en-AU" sz="2000" dirty="0"/>
              <a:t>, and on the other, </a:t>
            </a:r>
            <a:r>
              <a:rPr lang="en-AU" sz="2000" b="1" dirty="0"/>
              <a:t>violence</a:t>
            </a:r>
            <a:r>
              <a:rPr lang="en-AU" sz="2000" dirty="0"/>
              <a:t>, </a:t>
            </a:r>
            <a:r>
              <a:rPr lang="en-AU" sz="2000" b="1" dirty="0"/>
              <a:t>lack of control </a:t>
            </a:r>
            <a:r>
              <a:rPr lang="en-AU" sz="2000" dirty="0"/>
              <a:t>and </a:t>
            </a:r>
            <a:r>
              <a:rPr lang="en-AU" sz="2000" b="1" dirty="0"/>
              <a:t>abuse</a:t>
            </a:r>
            <a:r>
              <a:rPr lang="en-AU" sz="2000" dirty="0"/>
              <a:t>.</a:t>
            </a:r>
          </a:p>
        </p:txBody>
      </p:sp>
      <p:pic>
        <p:nvPicPr>
          <p:cNvPr id="14" name="Picture 13">
            <a:extLst>
              <a:ext uri="{FF2B5EF4-FFF2-40B4-BE49-F238E27FC236}">
                <a16:creationId xmlns:a16="http://schemas.microsoft.com/office/drawing/2014/main" id="{C943EBAA-D3BA-AEC7-03F4-EB7AE213EB30}"/>
              </a:ext>
            </a:extLst>
          </p:cNvPr>
          <p:cNvPicPr>
            <a:picLocks noChangeAspect="1"/>
          </p:cNvPicPr>
          <p:nvPr/>
        </p:nvPicPr>
        <p:blipFill>
          <a:blip r:embed="rId2"/>
          <a:stretch>
            <a:fillRect/>
          </a:stretch>
        </p:blipFill>
        <p:spPr>
          <a:xfrm>
            <a:off x="319528" y="787815"/>
            <a:ext cx="6013759" cy="5296172"/>
          </a:xfrm>
          <a:prstGeom prst="rect">
            <a:avLst/>
          </a:prstGeom>
        </p:spPr>
      </p:pic>
    </p:spTree>
    <p:extLst>
      <p:ext uri="{BB962C8B-B14F-4D97-AF65-F5344CB8AC3E}">
        <p14:creationId xmlns:p14="http://schemas.microsoft.com/office/powerpoint/2010/main" val="1964750465"/>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4E9EDDFA-8F05-462B-8D3E-5B9C4FBC73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circle with words&#10;&#10;Description automatically generated">
            <a:extLst>
              <a:ext uri="{FF2B5EF4-FFF2-40B4-BE49-F238E27FC236}">
                <a16:creationId xmlns:a16="http://schemas.microsoft.com/office/drawing/2014/main" id="{B7A6CD73-5E77-3B4D-DDCF-0A802531C8B1}"/>
              </a:ext>
            </a:extLst>
          </p:cNvPr>
          <p:cNvPicPr>
            <a:picLocks noChangeAspect="1"/>
          </p:cNvPicPr>
          <p:nvPr/>
        </p:nvPicPr>
        <p:blipFill>
          <a:blip r:embed="rId2"/>
          <a:stretch>
            <a:fillRect/>
          </a:stretch>
        </p:blipFill>
        <p:spPr>
          <a:xfrm>
            <a:off x="727654" y="1013471"/>
            <a:ext cx="5367165" cy="4843865"/>
          </a:xfrm>
          <a:prstGeom prst="rect">
            <a:avLst/>
          </a:prstGeom>
        </p:spPr>
      </p:pic>
      <p:sp>
        <p:nvSpPr>
          <p:cNvPr id="34" name="Rectangle 33">
            <a:extLst>
              <a:ext uri="{FF2B5EF4-FFF2-40B4-BE49-F238E27FC236}">
                <a16:creationId xmlns:a16="http://schemas.microsoft.com/office/drawing/2014/main" id="{143F9A23-3237-4ED6-A1E9-C0E6530E05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1267" y="255102"/>
            <a:ext cx="5342133" cy="6361598"/>
          </a:xfrm>
          <a:prstGeom prst="rect">
            <a:avLst/>
          </a:prstGeom>
          <a:solidFill>
            <a:schemeClr val="bg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C63CD46D-4335-4BA4-842A-BF835A99C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9100" y="393365"/>
            <a:ext cx="5018211" cy="6035547"/>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0D5D6F-7A90-4F5B-AF90-3607DB6DAA03}"/>
              </a:ext>
            </a:extLst>
          </p:cNvPr>
          <p:cNvSpPr>
            <a:spLocks noGrp="1"/>
          </p:cNvSpPr>
          <p:nvPr>
            <p:ph type="title"/>
          </p:nvPr>
        </p:nvSpPr>
        <p:spPr>
          <a:xfrm>
            <a:off x="7064082" y="642594"/>
            <a:ext cx="4472921" cy="1371600"/>
          </a:xfrm>
        </p:spPr>
        <p:txBody>
          <a:bodyPr>
            <a:normAutofit/>
          </a:bodyPr>
          <a:lstStyle/>
          <a:p>
            <a:r>
              <a:rPr lang="en-AU"/>
              <a:t>A Structuralist Approach</a:t>
            </a:r>
            <a:endParaRPr lang="en-AU" dirty="0"/>
          </a:p>
        </p:txBody>
      </p:sp>
      <p:sp>
        <p:nvSpPr>
          <p:cNvPr id="3" name="Content Placeholder 2">
            <a:extLst>
              <a:ext uri="{FF2B5EF4-FFF2-40B4-BE49-F238E27FC236}">
                <a16:creationId xmlns:a16="http://schemas.microsoft.com/office/drawing/2014/main" id="{372028C0-0E30-4B53-AC5D-B36D9BA00A6A}"/>
              </a:ext>
            </a:extLst>
          </p:cNvPr>
          <p:cNvSpPr>
            <a:spLocks noGrp="1"/>
          </p:cNvSpPr>
          <p:nvPr>
            <p:ph idx="1"/>
          </p:nvPr>
        </p:nvSpPr>
        <p:spPr>
          <a:xfrm>
            <a:off x="7064082" y="2103120"/>
            <a:ext cx="4472922" cy="3931920"/>
          </a:xfrm>
        </p:spPr>
        <p:txBody>
          <a:bodyPr>
            <a:normAutofit fontScale="92500" lnSpcReduction="10000"/>
          </a:bodyPr>
          <a:lstStyle/>
          <a:p>
            <a:pPr marL="0" indent="0">
              <a:buNone/>
            </a:pPr>
            <a:r>
              <a:rPr lang="en-AU" sz="2000" dirty="0"/>
              <a:t>A short story should have a maximum of 2-3 main characters. If we need others, then we don’t give them names or descriptions.</a:t>
            </a:r>
          </a:p>
          <a:p>
            <a:pPr marL="0" indent="0">
              <a:buNone/>
            </a:pPr>
            <a:r>
              <a:rPr lang="en-AU" sz="2000" dirty="0"/>
              <a:t>In this story, we’ll have </a:t>
            </a:r>
            <a:r>
              <a:rPr lang="en-AU" sz="2000" b="1" dirty="0"/>
              <a:t>two central characters</a:t>
            </a:r>
            <a:r>
              <a:rPr lang="en-AU" sz="2000" dirty="0"/>
              <a:t>, each representing a different side of the conflict. </a:t>
            </a:r>
          </a:p>
          <a:p>
            <a:pPr marL="0" indent="0">
              <a:buNone/>
            </a:pPr>
            <a:r>
              <a:rPr lang="en-AU" sz="2000" dirty="0"/>
              <a:t>Let’s add a </a:t>
            </a:r>
            <a:r>
              <a:rPr lang="en-AU" sz="2000" b="1" dirty="0"/>
              <a:t>child</a:t>
            </a:r>
            <a:r>
              <a:rPr lang="en-AU" sz="2000" dirty="0"/>
              <a:t> that is caught in the middle.</a:t>
            </a:r>
          </a:p>
          <a:p>
            <a:pPr marL="0" indent="0">
              <a:buNone/>
            </a:pPr>
            <a:r>
              <a:rPr lang="en-AU" sz="2000" dirty="0"/>
              <a:t>We might also have some minor characters on the outside. These don’t get names or descriptions in the story.</a:t>
            </a:r>
          </a:p>
          <a:p>
            <a:pPr marL="0" indent="0">
              <a:buNone/>
            </a:pPr>
            <a:endParaRPr lang="en-AU" sz="2000" dirty="0"/>
          </a:p>
        </p:txBody>
      </p:sp>
    </p:spTree>
    <p:extLst>
      <p:ext uri="{BB962C8B-B14F-4D97-AF65-F5344CB8AC3E}">
        <p14:creationId xmlns:p14="http://schemas.microsoft.com/office/powerpoint/2010/main" val="1814899383"/>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E9EDDFA-8F05-462B-8D3E-5B9C4FBC73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EB242CF-8C1E-99D2-35C9-F0CC44E3AEA7}"/>
              </a:ext>
            </a:extLst>
          </p:cNvPr>
          <p:cNvPicPr>
            <a:picLocks noChangeAspect="1"/>
          </p:cNvPicPr>
          <p:nvPr/>
        </p:nvPicPr>
        <p:blipFill>
          <a:blip r:embed="rId2"/>
          <a:stretch>
            <a:fillRect/>
          </a:stretch>
        </p:blipFill>
        <p:spPr>
          <a:xfrm>
            <a:off x="727654" y="1127524"/>
            <a:ext cx="5367165" cy="4615760"/>
          </a:xfrm>
          <a:prstGeom prst="rect">
            <a:avLst/>
          </a:prstGeom>
        </p:spPr>
      </p:pic>
      <p:sp>
        <p:nvSpPr>
          <p:cNvPr id="26" name="Rectangle 25">
            <a:extLst>
              <a:ext uri="{FF2B5EF4-FFF2-40B4-BE49-F238E27FC236}">
                <a16:creationId xmlns:a16="http://schemas.microsoft.com/office/drawing/2014/main" id="{143F9A23-3237-4ED6-A1E9-C0E6530E05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1267" y="255102"/>
            <a:ext cx="5342133" cy="6361598"/>
          </a:xfrm>
          <a:prstGeom prst="rect">
            <a:avLst/>
          </a:prstGeom>
          <a:solidFill>
            <a:schemeClr val="bg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63CD46D-4335-4BA4-842A-BF835A99C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9100" y="393365"/>
            <a:ext cx="5018211" cy="6035547"/>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0D5D6F-7A90-4F5B-AF90-3607DB6DAA03}"/>
              </a:ext>
            </a:extLst>
          </p:cNvPr>
          <p:cNvSpPr>
            <a:spLocks noGrp="1"/>
          </p:cNvSpPr>
          <p:nvPr>
            <p:ph type="title"/>
          </p:nvPr>
        </p:nvSpPr>
        <p:spPr>
          <a:xfrm>
            <a:off x="7064082" y="642594"/>
            <a:ext cx="4472921" cy="1371600"/>
          </a:xfrm>
        </p:spPr>
        <p:txBody>
          <a:bodyPr>
            <a:normAutofit/>
          </a:bodyPr>
          <a:lstStyle/>
          <a:p>
            <a:r>
              <a:rPr lang="en-AU"/>
              <a:t>A Structuralist Approach</a:t>
            </a:r>
            <a:endParaRPr lang="en-AU" dirty="0"/>
          </a:p>
        </p:txBody>
      </p:sp>
      <p:sp>
        <p:nvSpPr>
          <p:cNvPr id="3" name="Content Placeholder 2">
            <a:extLst>
              <a:ext uri="{FF2B5EF4-FFF2-40B4-BE49-F238E27FC236}">
                <a16:creationId xmlns:a16="http://schemas.microsoft.com/office/drawing/2014/main" id="{372028C0-0E30-4B53-AC5D-B36D9BA00A6A}"/>
              </a:ext>
            </a:extLst>
          </p:cNvPr>
          <p:cNvSpPr>
            <a:spLocks noGrp="1"/>
          </p:cNvSpPr>
          <p:nvPr>
            <p:ph idx="1"/>
          </p:nvPr>
        </p:nvSpPr>
        <p:spPr>
          <a:xfrm>
            <a:off x="7064082" y="2103120"/>
            <a:ext cx="4472922" cy="3931920"/>
          </a:xfrm>
        </p:spPr>
        <p:txBody>
          <a:bodyPr>
            <a:normAutofit/>
          </a:bodyPr>
          <a:lstStyle/>
          <a:p>
            <a:pPr marL="0" indent="0">
              <a:buNone/>
            </a:pPr>
            <a:r>
              <a:rPr lang="en-AU" sz="2000" dirty="0"/>
              <a:t>Lastly, we need to include symbols and motifs to help explore the conflict.</a:t>
            </a:r>
          </a:p>
          <a:p>
            <a:pPr marL="0" indent="0">
              <a:buNone/>
            </a:pPr>
            <a:r>
              <a:rPr lang="en-AU" sz="2000" dirty="0"/>
              <a:t>To represent peace and self-control, we might use a white, bright colour palette, the symbol of the mirror and the motif of breath.</a:t>
            </a:r>
          </a:p>
          <a:p>
            <a:pPr marL="0" indent="0">
              <a:buNone/>
            </a:pPr>
            <a:r>
              <a:rPr lang="en-AU" sz="2000" dirty="0"/>
              <a:t>On the side of violence, we’ll use fire, the colour red, bottles and </a:t>
            </a:r>
            <a:r>
              <a:rPr lang="en-AU" sz="2000"/>
              <a:t>broken glass.</a:t>
            </a:r>
            <a:endParaRPr lang="en-AU" sz="2000" dirty="0"/>
          </a:p>
        </p:txBody>
      </p:sp>
    </p:spTree>
    <p:extLst>
      <p:ext uri="{BB962C8B-B14F-4D97-AF65-F5344CB8AC3E}">
        <p14:creationId xmlns:p14="http://schemas.microsoft.com/office/powerpoint/2010/main" val="4183575354"/>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6AC16-7EB7-A1D3-58E6-10743A9CBCAC}"/>
              </a:ext>
            </a:extLst>
          </p:cNvPr>
          <p:cNvSpPr>
            <a:spLocks noGrp="1"/>
          </p:cNvSpPr>
          <p:nvPr>
            <p:ph type="title"/>
          </p:nvPr>
        </p:nvSpPr>
        <p:spPr/>
        <p:txBody>
          <a:bodyPr/>
          <a:lstStyle/>
          <a:p>
            <a:r>
              <a:rPr lang="en-AU" dirty="0"/>
              <a:t>A structuralist approach</a:t>
            </a:r>
          </a:p>
        </p:txBody>
      </p:sp>
      <p:sp>
        <p:nvSpPr>
          <p:cNvPr id="3" name="Content Placeholder 2">
            <a:extLst>
              <a:ext uri="{FF2B5EF4-FFF2-40B4-BE49-F238E27FC236}">
                <a16:creationId xmlns:a16="http://schemas.microsoft.com/office/drawing/2014/main" id="{5A0FFBFC-7AAF-A907-4D0D-05CDDF2B1F65}"/>
              </a:ext>
            </a:extLst>
          </p:cNvPr>
          <p:cNvSpPr>
            <a:spLocks noGrp="1"/>
          </p:cNvSpPr>
          <p:nvPr>
            <p:ph idx="1"/>
          </p:nvPr>
        </p:nvSpPr>
        <p:spPr/>
        <p:txBody>
          <a:bodyPr>
            <a:normAutofit fontScale="92500" lnSpcReduction="20000"/>
          </a:bodyPr>
          <a:lstStyle/>
          <a:p>
            <a:pPr marL="0" indent="0">
              <a:buNone/>
            </a:pPr>
            <a:r>
              <a:rPr lang="en-AU" sz="2800" dirty="0"/>
              <a:t>Once you have the story mapped out like this, then it almost tells itself.</a:t>
            </a:r>
          </a:p>
          <a:p>
            <a:pPr marL="0" indent="0">
              <a:buNone/>
            </a:pPr>
            <a:endParaRPr lang="en-AU" sz="2800" dirty="0"/>
          </a:p>
          <a:p>
            <a:pPr marL="0" indent="0">
              <a:buNone/>
            </a:pPr>
            <a:r>
              <a:rPr lang="en-AU" sz="2800" dirty="0"/>
              <a:t>There’s two people in a relationship. The setting is described as bright, with glass and mirrors in the house. Tension builds, leading to a violent escalation. Glass breaks, peace is shattered, etc.</a:t>
            </a:r>
          </a:p>
          <a:p>
            <a:pPr marL="0" indent="0">
              <a:buNone/>
            </a:pPr>
            <a:endParaRPr lang="en-AU" sz="2800" dirty="0"/>
          </a:p>
          <a:p>
            <a:pPr marL="0" indent="0">
              <a:buNone/>
            </a:pPr>
            <a:r>
              <a:rPr lang="en-AU" sz="2800" dirty="0"/>
              <a:t>But this is just one model.</a:t>
            </a:r>
          </a:p>
        </p:txBody>
      </p:sp>
    </p:spTree>
    <p:extLst>
      <p:ext uri="{BB962C8B-B14F-4D97-AF65-F5344CB8AC3E}">
        <p14:creationId xmlns:p14="http://schemas.microsoft.com/office/powerpoint/2010/main" val="616433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72656B2-89D5-D52C-B706-31E4612C35EB}"/>
              </a:ext>
            </a:extLst>
          </p:cNvPr>
          <p:cNvPicPr>
            <a:picLocks noChangeAspect="1"/>
          </p:cNvPicPr>
          <p:nvPr/>
        </p:nvPicPr>
        <p:blipFill rotWithShape="1">
          <a:blip r:embed="rId2"/>
          <a:srcRect l="24955" t="26930" r="9090" b="13609"/>
          <a:stretch/>
        </p:blipFill>
        <p:spPr>
          <a:xfrm>
            <a:off x="5734789" y="-9973"/>
            <a:ext cx="8845235" cy="6857999"/>
          </a:xfrm>
          <a:prstGeom prst="rect">
            <a:avLst/>
          </a:prstGeom>
        </p:spPr>
      </p:pic>
      <p:sp>
        <p:nvSpPr>
          <p:cNvPr id="12" name="Rectangle 11">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7615" y="253548"/>
            <a:ext cx="5612193" cy="6361598"/>
          </a:xfrm>
          <a:prstGeom prst="rect">
            <a:avLst/>
          </a:prstGeom>
          <a:solidFill>
            <a:schemeClr val="bg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448"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99989C-D003-422A-983D-41D00F3F501D}"/>
              </a:ext>
            </a:extLst>
          </p:cNvPr>
          <p:cNvSpPr>
            <a:spLocks noGrp="1"/>
          </p:cNvSpPr>
          <p:nvPr>
            <p:ph type="title"/>
          </p:nvPr>
        </p:nvSpPr>
        <p:spPr>
          <a:xfrm>
            <a:off x="774043" y="727626"/>
            <a:ext cx="4602152" cy="1718225"/>
          </a:xfrm>
        </p:spPr>
        <p:txBody>
          <a:bodyPr>
            <a:normAutofit/>
          </a:bodyPr>
          <a:lstStyle/>
          <a:p>
            <a:r>
              <a:rPr lang="en-AU" sz="4400" dirty="0"/>
              <a:t>External conflict</a:t>
            </a:r>
          </a:p>
        </p:txBody>
      </p:sp>
      <p:sp>
        <p:nvSpPr>
          <p:cNvPr id="3" name="Content Placeholder 2">
            <a:extLst>
              <a:ext uri="{FF2B5EF4-FFF2-40B4-BE49-F238E27FC236}">
                <a16:creationId xmlns:a16="http://schemas.microsoft.com/office/drawing/2014/main" id="{167D7001-DD56-402B-A620-D71D017B2AE9}"/>
              </a:ext>
            </a:extLst>
          </p:cNvPr>
          <p:cNvSpPr>
            <a:spLocks noGrp="1"/>
          </p:cNvSpPr>
          <p:nvPr>
            <p:ph idx="1"/>
          </p:nvPr>
        </p:nvSpPr>
        <p:spPr>
          <a:xfrm>
            <a:off x="774043" y="2538920"/>
            <a:ext cx="4602152" cy="3480066"/>
          </a:xfrm>
        </p:spPr>
        <p:txBody>
          <a:bodyPr>
            <a:normAutofit fontScale="92500" lnSpcReduction="10000"/>
          </a:bodyPr>
          <a:lstStyle/>
          <a:p>
            <a:r>
              <a:rPr lang="en-AU" sz="2400" dirty="0"/>
              <a:t>In this case, we are creating a story with an external conflict. This conflict is represented in the inner circle.</a:t>
            </a:r>
          </a:p>
          <a:p>
            <a:r>
              <a:rPr lang="en-AU" sz="2400" dirty="0"/>
              <a:t>This one is a </a:t>
            </a:r>
            <a:r>
              <a:rPr lang="en-AU" sz="2400" i="1" dirty="0">
                <a:solidFill>
                  <a:schemeClr val="accent1">
                    <a:lumMod val="75000"/>
                  </a:schemeClr>
                </a:solidFill>
              </a:rPr>
              <a:t>person vs person </a:t>
            </a:r>
            <a:r>
              <a:rPr lang="en-AU" sz="2400" dirty="0"/>
              <a:t>conflict.</a:t>
            </a:r>
          </a:p>
          <a:p>
            <a:r>
              <a:rPr lang="en-AU" sz="2400" dirty="0"/>
              <a:t>You could also write a story containing a </a:t>
            </a:r>
            <a:r>
              <a:rPr lang="en-AU" sz="2400" i="1" dirty="0">
                <a:solidFill>
                  <a:schemeClr val="accent1">
                    <a:lumMod val="75000"/>
                  </a:schemeClr>
                </a:solidFill>
              </a:rPr>
              <a:t>person vs machine</a:t>
            </a:r>
            <a:r>
              <a:rPr lang="en-AU" sz="2400" dirty="0">
                <a:solidFill>
                  <a:schemeClr val="accent1">
                    <a:lumMod val="75000"/>
                  </a:schemeClr>
                </a:solidFill>
              </a:rPr>
              <a:t> </a:t>
            </a:r>
            <a:r>
              <a:rPr lang="en-AU" sz="2400" dirty="0"/>
              <a:t>or </a:t>
            </a:r>
            <a:r>
              <a:rPr lang="en-AU" sz="2400" i="1" dirty="0">
                <a:solidFill>
                  <a:schemeClr val="accent1">
                    <a:lumMod val="75000"/>
                  </a:schemeClr>
                </a:solidFill>
              </a:rPr>
              <a:t>person vs nature</a:t>
            </a:r>
            <a:r>
              <a:rPr lang="en-AU" sz="2400" dirty="0">
                <a:solidFill>
                  <a:schemeClr val="accent1">
                    <a:lumMod val="75000"/>
                  </a:schemeClr>
                </a:solidFill>
              </a:rPr>
              <a:t> </a:t>
            </a:r>
            <a:r>
              <a:rPr lang="en-AU" sz="2400" dirty="0"/>
              <a:t>conflict.</a:t>
            </a:r>
          </a:p>
        </p:txBody>
      </p:sp>
    </p:spTree>
    <p:extLst>
      <p:ext uri="{BB962C8B-B14F-4D97-AF65-F5344CB8AC3E}">
        <p14:creationId xmlns:p14="http://schemas.microsoft.com/office/powerpoint/2010/main" val="3485370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D5D6F-7A90-4F5B-AF90-3607DB6DAA03}"/>
              </a:ext>
            </a:extLst>
          </p:cNvPr>
          <p:cNvSpPr>
            <a:spLocks noGrp="1"/>
          </p:cNvSpPr>
          <p:nvPr>
            <p:ph type="title"/>
          </p:nvPr>
        </p:nvSpPr>
        <p:spPr>
          <a:xfrm>
            <a:off x="6579450" y="727627"/>
            <a:ext cx="4957553" cy="1645920"/>
          </a:xfrm>
        </p:spPr>
        <p:txBody>
          <a:bodyPr>
            <a:normAutofit/>
          </a:bodyPr>
          <a:lstStyle/>
          <a:p>
            <a:r>
              <a:rPr lang="en-AU"/>
              <a:t>Internal conflict</a:t>
            </a:r>
            <a:endParaRPr lang="en-AU" dirty="0"/>
          </a:p>
        </p:txBody>
      </p:sp>
      <p:sp>
        <p:nvSpPr>
          <p:cNvPr id="21" name="Rectangle 20">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AU"/>
          </a:p>
        </p:txBody>
      </p:sp>
      <p:sp>
        <p:nvSpPr>
          <p:cNvPr id="22" name="Rectangle 21">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AU"/>
          </a:p>
        </p:txBody>
      </p:sp>
      <p:pic>
        <p:nvPicPr>
          <p:cNvPr id="5" name="Picture 4">
            <a:extLst>
              <a:ext uri="{FF2B5EF4-FFF2-40B4-BE49-F238E27FC236}">
                <a16:creationId xmlns:a16="http://schemas.microsoft.com/office/drawing/2014/main" id="{5B7C0C77-8858-815D-4E99-2FC77B06DD2A}"/>
              </a:ext>
            </a:extLst>
          </p:cNvPr>
          <p:cNvPicPr>
            <a:picLocks noChangeAspect="1"/>
          </p:cNvPicPr>
          <p:nvPr/>
        </p:nvPicPr>
        <p:blipFill>
          <a:blip r:embed="rId2"/>
          <a:stretch>
            <a:fillRect/>
          </a:stretch>
        </p:blipFill>
        <p:spPr>
          <a:xfrm>
            <a:off x="1205256" y="1457104"/>
            <a:ext cx="4414438" cy="3961957"/>
          </a:xfrm>
          <a:prstGeom prst="rect">
            <a:avLst/>
          </a:prstGeom>
        </p:spPr>
      </p:pic>
      <p:sp>
        <p:nvSpPr>
          <p:cNvPr id="3" name="Content Placeholder 2">
            <a:extLst>
              <a:ext uri="{FF2B5EF4-FFF2-40B4-BE49-F238E27FC236}">
                <a16:creationId xmlns:a16="http://schemas.microsoft.com/office/drawing/2014/main" id="{372028C0-0E30-4B53-AC5D-B36D9BA00A6A}"/>
              </a:ext>
            </a:extLst>
          </p:cNvPr>
          <p:cNvSpPr>
            <a:spLocks noGrp="1"/>
          </p:cNvSpPr>
          <p:nvPr>
            <p:ph idx="1"/>
          </p:nvPr>
        </p:nvSpPr>
        <p:spPr>
          <a:xfrm>
            <a:off x="6579450" y="2538919"/>
            <a:ext cx="4957554" cy="3496120"/>
          </a:xfrm>
        </p:spPr>
        <p:txBody>
          <a:bodyPr>
            <a:normAutofit/>
          </a:bodyPr>
          <a:lstStyle/>
          <a:p>
            <a:pPr marL="0" indent="0">
              <a:buNone/>
            </a:pPr>
            <a:r>
              <a:rPr lang="en-AU" sz="2000" dirty="0"/>
              <a:t>The other model is based on a sole central character and deals with an internal conflict.</a:t>
            </a:r>
          </a:p>
          <a:p>
            <a:pPr marL="0" indent="0">
              <a:buNone/>
            </a:pPr>
            <a:r>
              <a:rPr lang="en-AU" sz="2000" dirty="0"/>
              <a:t>The tension is created when a character is stuck, or pulled between two ideas.</a:t>
            </a:r>
          </a:p>
          <a:p>
            <a:pPr marL="0" indent="0">
              <a:buNone/>
            </a:pPr>
            <a:r>
              <a:rPr lang="en-AU" sz="2000" dirty="0"/>
              <a:t>Consider this story, where we explore the conflict between belonging and exclusion for an indigenous character.</a:t>
            </a:r>
          </a:p>
        </p:txBody>
      </p:sp>
    </p:spTree>
    <p:extLst>
      <p:ext uri="{BB962C8B-B14F-4D97-AF65-F5344CB8AC3E}">
        <p14:creationId xmlns:p14="http://schemas.microsoft.com/office/powerpoint/2010/main" val="4123546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D5D6F-7A90-4F5B-AF90-3607DB6DAA03}"/>
              </a:ext>
            </a:extLst>
          </p:cNvPr>
          <p:cNvSpPr>
            <a:spLocks noGrp="1"/>
          </p:cNvSpPr>
          <p:nvPr>
            <p:ph type="title"/>
          </p:nvPr>
        </p:nvSpPr>
        <p:spPr>
          <a:xfrm>
            <a:off x="6579450" y="727627"/>
            <a:ext cx="4957553" cy="1645920"/>
          </a:xfrm>
        </p:spPr>
        <p:txBody>
          <a:bodyPr>
            <a:normAutofit/>
          </a:bodyPr>
          <a:lstStyle/>
          <a:p>
            <a:r>
              <a:rPr lang="en-AU" dirty="0"/>
              <a:t>Internal conflict</a:t>
            </a:r>
          </a:p>
        </p:txBody>
      </p:sp>
      <p:sp>
        <p:nvSpPr>
          <p:cNvPr id="26" name="Rectangle 25">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AU"/>
          </a:p>
        </p:txBody>
      </p:sp>
      <p:sp>
        <p:nvSpPr>
          <p:cNvPr id="28" name="Rectangle 27">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AU"/>
          </a:p>
        </p:txBody>
      </p:sp>
      <p:pic>
        <p:nvPicPr>
          <p:cNvPr id="7" name="Picture 6">
            <a:extLst>
              <a:ext uri="{FF2B5EF4-FFF2-40B4-BE49-F238E27FC236}">
                <a16:creationId xmlns:a16="http://schemas.microsoft.com/office/drawing/2014/main" id="{80E92F14-7F95-5F55-9C4D-A0FEC1C85280}"/>
              </a:ext>
            </a:extLst>
          </p:cNvPr>
          <p:cNvPicPr>
            <a:picLocks noChangeAspect="1"/>
          </p:cNvPicPr>
          <p:nvPr/>
        </p:nvPicPr>
        <p:blipFill>
          <a:blip r:embed="rId2"/>
          <a:stretch>
            <a:fillRect/>
          </a:stretch>
        </p:blipFill>
        <p:spPr>
          <a:xfrm>
            <a:off x="1205256" y="1606091"/>
            <a:ext cx="4414438" cy="3663982"/>
          </a:xfrm>
          <a:prstGeom prst="rect">
            <a:avLst/>
          </a:prstGeom>
        </p:spPr>
      </p:pic>
      <p:sp>
        <p:nvSpPr>
          <p:cNvPr id="3" name="Content Placeholder 2">
            <a:extLst>
              <a:ext uri="{FF2B5EF4-FFF2-40B4-BE49-F238E27FC236}">
                <a16:creationId xmlns:a16="http://schemas.microsoft.com/office/drawing/2014/main" id="{372028C0-0E30-4B53-AC5D-B36D9BA00A6A}"/>
              </a:ext>
            </a:extLst>
          </p:cNvPr>
          <p:cNvSpPr>
            <a:spLocks noGrp="1"/>
          </p:cNvSpPr>
          <p:nvPr>
            <p:ph idx="1"/>
          </p:nvPr>
        </p:nvSpPr>
        <p:spPr>
          <a:xfrm>
            <a:off x="6579450" y="2538919"/>
            <a:ext cx="4957554" cy="3496120"/>
          </a:xfrm>
        </p:spPr>
        <p:txBody>
          <a:bodyPr>
            <a:normAutofit/>
          </a:bodyPr>
          <a:lstStyle/>
          <a:p>
            <a:pPr marL="0" indent="0">
              <a:buNone/>
            </a:pPr>
            <a:r>
              <a:rPr lang="en-AU" sz="1800" dirty="0"/>
              <a:t>The character (Dana) goes in the centre. </a:t>
            </a:r>
          </a:p>
          <a:p>
            <a:pPr marL="0" indent="0">
              <a:buNone/>
            </a:pPr>
            <a:r>
              <a:rPr lang="en-AU" sz="1800" dirty="0"/>
              <a:t>They are pulled between two ideas. In this case, they are pulled between staying at home where they feel a sense of belonging, and moving to the city to play football for a club.</a:t>
            </a:r>
          </a:p>
          <a:p>
            <a:pPr marL="0" indent="0">
              <a:buNone/>
            </a:pPr>
            <a:r>
              <a:rPr lang="en-AU" sz="1800" dirty="0"/>
              <a:t>Their coach occupies the tension with them. They want the best for the player no matter what they decide.</a:t>
            </a:r>
          </a:p>
        </p:txBody>
      </p:sp>
    </p:spTree>
    <p:extLst>
      <p:ext uri="{BB962C8B-B14F-4D97-AF65-F5344CB8AC3E}">
        <p14:creationId xmlns:p14="http://schemas.microsoft.com/office/powerpoint/2010/main" val="838409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D5D6F-7A90-4F5B-AF90-3607DB6DAA03}"/>
              </a:ext>
            </a:extLst>
          </p:cNvPr>
          <p:cNvSpPr>
            <a:spLocks noGrp="1"/>
          </p:cNvSpPr>
          <p:nvPr>
            <p:ph type="title"/>
          </p:nvPr>
        </p:nvSpPr>
        <p:spPr>
          <a:xfrm>
            <a:off x="6579450" y="727627"/>
            <a:ext cx="4957553" cy="1645920"/>
          </a:xfrm>
        </p:spPr>
        <p:txBody>
          <a:bodyPr>
            <a:normAutofit/>
          </a:bodyPr>
          <a:lstStyle/>
          <a:p>
            <a:r>
              <a:rPr lang="en-AU" dirty="0"/>
              <a:t>Internal conflict</a:t>
            </a:r>
          </a:p>
        </p:txBody>
      </p:sp>
      <p:sp>
        <p:nvSpPr>
          <p:cNvPr id="9" name="Rectangle 8">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AU"/>
          </a:p>
        </p:txBody>
      </p:sp>
      <p:sp>
        <p:nvSpPr>
          <p:cNvPr id="11" name="Rectangle 10">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AU"/>
          </a:p>
        </p:txBody>
      </p:sp>
      <p:pic>
        <p:nvPicPr>
          <p:cNvPr id="4" name="Picture 3" descr="A diagram of a circle with text&#10;&#10;Description automatically generated">
            <a:extLst>
              <a:ext uri="{FF2B5EF4-FFF2-40B4-BE49-F238E27FC236}">
                <a16:creationId xmlns:a16="http://schemas.microsoft.com/office/drawing/2014/main" id="{B221B2CD-0841-1607-E278-88D2189EDEF4}"/>
              </a:ext>
            </a:extLst>
          </p:cNvPr>
          <p:cNvPicPr>
            <a:picLocks noChangeAspect="1"/>
          </p:cNvPicPr>
          <p:nvPr/>
        </p:nvPicPr>
        <p:blipFill>
          <a:blip r:embed="rId2"/>
          <a:stretch>
            <a:fillRect/>
          </a:stretch>
        </p:blipFill>
        <p:spPr>
          <a:xfrm>
            <a:off x="1205256" y="1666789"/>
            <a:ext cx="4414438" cy="3542586"/>
          </a:xfrm>
          <a:prstGeom prst="rect">
            <a:avLst/>
          </a:prstGeom>
        </p:spPr>
      </p:pic>
      <p:sp>
        <p:nvSpPr>
          <p:cNvPr id="3" name="Content Placeholder 2">
            <a:extLst>
              <a:ext uri="{FF2B5EF4-FFF2-40B4-BE49-F238E27FC236}">
                <a16:creationId xmlns:a16="http://schemas.microsoft.com/office/drawing/2014/main" id="{372028C0-0E30-4B53-AC5D-B36D9BA00A6A}"/>
              </a:ext>
            </a:extLst>
          </p:cNvPr>
          <p:cNvSpPr>
            <a:spLocks noGrp="1"/>
          </p:cNvSpPr>
          <p:nvPr>
            <p:ph idx="1"/>
          </p:nvPr>
        </p:nvSpPr>
        <p:spPr>
          <a:xfrm>
            <a:off x="6579450" y="2538919"/>
            <a:ext cx="4957554" cy="3496120"/>
          </a:xfrm>
        </p:spPr>
        <p:txBody>
          <a:bodyPr>
            <a:normAutofit/>
          </a:bodyPr>
          <a:lstStyle/>
          <a:p>
            <a:pPr marL="0" indent="0">
              <a:buNone/>
            </a:pPr>
            <a:r>
              <a:rPr lang="en-AU" sz="2000" dirty="0"/>
              <a:t>We can flesh out the story with symbols and a colour palette.</a:t>
            </a:r>
          </a:p>
          <a:p>
            <a:pPr marL="0" indent="0">
              <a:buNone/>
            </a:pPr>
            <a:r>
              <a:rPr lang="en-AU" sz="2000" dirty="0"/>
              <a:t>Again, the story almost writes itself.</a:t>
            </a:r>
          </a:p>
        </p:txBody>
      </p:sp>
    </p:spTree>
    <p:extLst>
      <p:ext uri="{BB962C8B-B14F-4D97-AF65-F5344CB8AC3E}">
        <p14:creationId xmlns:p14="http://schemas.microsoft.com/office/powerpoint/2010/main" val="1548783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A91BA-0567-03E0-C894-5B7D55C2FFA8}"/>
              </a:ext>
            </a:extLst>
          </p:cNvPr>
          <p:cNvSpPr>
            <a:spLocks noGrp="1"/>
          </p:cNvSpPr>
          <p:nvPr>
            <p:ph type="title"/>
          </p:nvPr>
        </p:nvSpPr>
        <p:spPr/>
        <p:txBody>
          <a:bodyPr/>
          <a:lstStyle/>
          <a:p>
            <a:r>
              <a:rPr lang="en-AU" dirty="0"/>
              <a:t>The point of climax</a:t>
            </a:r>
          </a:p>
        </p:txBody>
      </p:sp>
      <p:sp>
        <p:nvSpPr>
          <p:cNvPr id="3" name="Text Placeholder 2">
            <a:extLst>
              <a:ext uri="{FF2B5EF4-FFF2-40B4-BE49-F238E27FC236}">
                <a16:creationId xmlns:a16="http://schemas.microsoft.com/office/drawing/2014/main" id="{22E96AD2-533D-1147-34BB-DC3181DCC472}"/>
              </a:ext>
            </a:extLst>
          </p:cNvPr>
          <p:cNvSpPr>
            <a:spLocks noGrp="1"/>
          </p:cNvSpPr>
          <p:nvPr>
            <p:ph type="body" idx="1"/>
          </p:nvPr>
        </p:nvSpPr>
        <p:spPr/>
        <p:txBody>
          <a:bodyPr/>
          <a:lstStyle/>
          <a:p>
            <a:r>
              <a:rPr lang="en-AU" dirty="0"/>
              <a:t>How to build the structure</a:t>
            </a:r>
          </a:p>
        </p:txBody>
      </p:sp>
    </p:spTree>
    <p:extLst>
      <p:ext uri="{BB962C8B-B14F-4D97-AF65-F5344CB8AC3E}">
        <p14:creationId xmlns:p14="http://schemas.microsoft.com/office/powerpoint/2010/main" val="500661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AD3F9-EC12-ECCF-1F82-775760B83EE6}"/>
              </a:ext>
            </a:extLst>
          </p:cNvPr>
          <p:cNvSpPr>
            <a:spLocks noGrp="1"/>
          </p:cNvSpPr>
          <p:nvPr>
            <p:ph type="title"/>
          </p:nvPr>
        </p:nvSpPr>
        <p:spPr/>
        <p:txBody>
          <a:bodyPr/>
          <a:lstStyle/>
          <a:p>
            <a:r>
              <a:rPr lang="en-AU" dirty="0"/>
              <a:t>The point of climax</a:t>
            </a:r>
          </a:p>
        </p:txBody>
      </p:sp>
      <p:sp>
        <p:nvSpPr>
          <p:cNvPr id="3" name="Content Placeholder 2">
            <a:extLst>
              <a:ext uri="{FF2B5EF4-FFF2-40B4-BE49-F238E27FC236}">
                <a16:creationId xmlns:a16="http://schemas.microsoft.com/office/drawing/2014/main" id="{0E4EF9AC-D89C-D88E-F454-C3EDF81D8A00}"/>
              </a:ext>
            </a:extLst>
          </p:cNvPr>
          <p:cNvSpPr>
            <a:spLocks noGrp="1"/>
          </p:cNvSpPr>
          <p:nvPr>
            <p:ph idx="1"/>
          </p:nvPr>
        </p:nvSpPr>
        <p:spPr/>
        <p:txBody>
          <a:bodyPr>
            <a:normAutofit/>
          </a:bodyPr>
          <a:lstStyle/>
          <a:p>
            <a:pPr marL="0" indent="0">
              <a:buNone/>
            </a:pPr>
            <a:r>
              <a:rPr lang="en-AU" sz="2400" dirty="0"/>
              <a:t>According to the basic rules of a short story, your narrative should:</a:t>
            </a:r>
          </a:p>
          <a:p>
            <a:pPr marL="534988" indent="-360363"/>
            <a:r>
              <a:rPr lang="en-AU" sz="2400" dirty="0"/>
              <a:t>Only describe 2-3 characters. If there are other characters required to tell the story of the main character, then avoid giving them names or descriptions. They’re not needed.</a:t>
            </a:r>
          </a:p>
          <a:p>
            <a:pPr marL="534988" indent="-360363"/>
            <a:r>
              <a:rPr lang="en-AU" sz="2400" dirty="0"/>
              <a:t>Only describe the events of a few hours at a maximum – especially in an extra short piece like the one you’ll be writing.</a:t>
            </a:r>
          </a:p>
          <a:p>
            <a:pPr marL="534988" indent="-360363"/>
            <a:r>
              <a:rPr lang="en-AU" sz="2400" dirty="0"/>
              <a:t>There needs to be a point of maximum tension. </a:t>
            </a:r>
          </a:p>
        </p:txBody>
      </p:sp>
    </p:spTree>
    <p:extLst>
      <p:ext uri="{BB962C8B-B14F-4D97-AF65-F5344CB8AC3E}">
        <p14:creationId xmlns:p14="http://schemas.microsoft.com/office/powerpoint/2010/main" val="854465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90563-E2B7-B50E-6226-31D3D446F0AD}"/>
              </a:ext>
            </a:extLst>
          </p:cNvPr>
          <p:cNvSpPr>
            <a:spLocks noGrp="1"/>
          </p:cNvSpPr>
          <p:nvPr>
            <p:ph type="title"/>
          </p:nvPr>
        </p:nvSpPr>
        <p:spPr/>
        <p:txBody>
          <a:bodyPr/>
          <a:lstStyle/>
          <a:p>
            <a:r>
              <a:rPr lang="en-AU" dirty="0"/>
              <a:t>The point of climax</a:t>
            </a:r>
          </a:p>
        </p:txBody>
      </p:sp>
      <p:sp>
        <p:nvSpPr>
          <p:cNvPr id="3" name="Content Placeholder 2">
            <a:extLst>
              <a:ext uri="{FF2B5EF4-FFF2-40B4-BE49-F238E27FC236}">
                <a16:creationId xmlns:a16="http://schemas.microsoft.com/office/drawing/2014/main" id="{66DFF861-1ADE-9AB5-C537-8A6F0F4383CB}"/>
              </a:ext>
            </a:extLst>
          </p:cNvPr>
          <p:cNvSpPr>
            <a:spLocks noGrp="1"/>
          </p:cNvSpPr>
          <p:nvPr>
            <p:ph idx="1"/>
          </p:nvPr>
        </p:nvSpPr>
        <p:spPr/>
        <p:txBody>
          <a:bodyPr anchor="ctr">
            <a:normAutofit/>
          </a:bodyPr>
          <a:lstStyle/>
          <a:p>
            <a:pPr marL="0" indent="0">
              <a:buNone/>
            </a:pPr>
            <a:r>
              <a:rPr lang="en-AU" sz="2200" dirty="0"/>
              <a:t>Think about the point of maximum tension.</a:t>
            </a:r>
          </a:p>
          <a:p>
            <a:pPr marL="0" indent="0">
              <a:buNone/>
            </a:pPr>
            <a:r>
              <a:rPr lang="en-AU" sz="2200" dirty="0"/>
              <a:t>This will be the point at which both sides of your dichotomy come together.</a:t>
            </a:r>
          </a:p>
          <a:p>
            <a:pPr marL="0" indent="0">
              <a:buNone/>
            </a:pPr>
            <a:endParaRPr lang="en-AU" sz="2200" dirty="0"/>
          </a:p>
          <a:p>
            <a:pPr marL="360363" indent="-182563"/>
            <a:r>
              <a:rPr lang="en-AU" sz="2200" b="1" dirty="0"/>
              <a:t>Freedom/entrapment</a:t>
            </a:r>
            <a:r>
              <a:rPr lang="en-AU" sz="2200" dirty="0"/>
              <a:t>? Someone is caught, or someone breaks out.</a:t>
            </a:r>
          </a:p>
          <a:p>
            <a:pPr marL="360363" indent="-182563"/>
            <a:r>
              <a:rPr lang="en-AU" sz="2200" b="1" dirty="0"/>
              <a:t>Peace/violence</a:t>
            </a:r>
            <a:r>
              <a:rPr lang="en-AU" sz="2200" dirty="0"/>
              <a:t>? The exact moment when the protest becomes a riot.</a:t>
            </a:r>
          </a:p>
          <a:p>
            <a:pPr marL="360363" indent="-182563"/>
            <a:r>
              <a:rPr lang="en-AU" sz="2200" b="1" dirty="0"/>
              <a:t>Connection/isolation</a:t>
            </a:r>
            <a:r>
              <a:rPr lang="en-AU" sz="2200" dirty="0"/>
              <a:t>? All connection is lost. Or they finally fall in love.</a:t>
            </a:r>
          </a:p>
        </p:txBody>
      </p:sp>
    </p:spTree>
    <p:extLst>
      <p:ext uri="{BB962C8B-B14F-4D97-AF65-F5344CB8AC3E}">
        <p14:creationId xmlns:p14="http://schemas.microsoft.com/office/powerpoint/2010/main" val="32037784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6DD71352A75C946BB20F54B03F82ED8" ma:contentTypeVersion="0" ma:contentTypeDescription="Create a new document." ma:contentTypeScope="" ma:versionID="eceeccfb90892b5bada9b120beb2cbcc">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3161677-F0D3-4AEF-B53C-CF8774DD0FC8}"/>
</file>

<file path=customXml/itemProps2.xml><?xml version="1.0" encoding="utf-8"?>
<ds:datastoreItem xmlns:ds="http://schemas.openxmlformats.org/officeDocument/2006/customXml" ds:itemID="{E2D77E45-E29D-4E3F-BA53-FC3A981B033C}"/>
</file>

<file path=customXml/itemProps3.xml><?xml version="1.0" encoding="utf-8"?>
<ds:datastoreItem xmlns:ds="http://schemas.openxmlformats.org/officeDocument/2006/customXml" ds:itemID="{29A8A70B-8984-4407-8A9D-952A4BA8DA5B}"/>
</file>

<file path=docProps/app.xml><?xml version="1.0" encoding="utf-8"?>
<Properties xmlns="http://schemas.openxmlformats.org/officeDocument/2006/extended-properties" xmlns:vt="http://schemas.openxmlformats.org/officeDocument/2006/docPropsVTypes">
  <TotalTime>110</TotalTime>
  <Words>1115</Words>
  <Application>Microsoft Office PowerPoint</Application>
  <PresentationFormat>Widescreen</PresentationFormat>
  <Paragraphs>83</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Avenir Next LT Pro</vt:lpstr>
      <vt:lpstr>Avenir Next LT Pro Light</vt:lpstr>
      <vt:lpstr>Garamond</vt:lpstr>
      <vt:lpstr>SavonVTI</vt:lpstr>
      <vt:lpstr>A Structuralist approach</vt:lpstr>
      <vt:lpstr>A Structuralist Approach</vt:lpstr>
      <vt:lpstr>A Structuralist Approach</vt:lpstr>
      <vt:lpstr>A Structuralist Approach</vt:lpstr>
      <vt:lpstr>Hills like White Elephants</vt:lpstr>
      <vt:lpstr>Ideas around protest</vt:lpstr>
      <vt:lpstr>A Structuralist Approach</vt:lpstr>
      <vt:lpstr>A Structuralist Approach</vt:lpstr>
      <vt:lpstr>A Structuralist Approach</vt:lpstr>
      <vt:lpstr>A structuralist approach</vt:lpstr>
      <vt:lpstr>External conflict</vt:lpstr>
      <vt:lpstr>Internal conflict</vt:lpstr>
      <vt:lpstr>Internal conflict</vt:lpstr>
      <vt:lpstr>Internal conflict</vt:lpstr>
      <vt:lpstr>The point of climax</vt:lpstr>
      <vt:lpstr>The point of climax</vt:lpstr>
      <vt:lpstr>The point of climax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Structuralist approach</dc:title>
  <dc:creator>Lincoln LE FEVRE</dc:creator>
  <cp:lastModifiedBy>Lincoln LE FEVRE</cp:lastModifiedBy>
  <cp:revision>4</cp:revision>
  <dcterms:created xsi:type="dcterms:W3CDTF">2024-05-15T03:00:04Z</dcterms:created>
  <dcterms:modified xsi:type="dcterms:W3CDTF">2024-05-17T04:09:16Z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0x010100F6DD71352A75C946BB20F54B03F82ED8</vt:lpwstr>
  </property>
</Properties>
</file>