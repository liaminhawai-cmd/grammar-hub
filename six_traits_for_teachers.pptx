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6" r:id="rId2"/>
  </p:sldMasterIdLst>
  <p:sldIdLst>
    <p:sldId id="256" r:id="rId3"/>
    <p:sldId id="263" r:id="rId4"/>
    <p:sldId id="259" r:id="rId5"/>
    <p:sldId id="257" r:id="rId6"/>
    <p:sldId id="260" r:id="rId7"/>
    <p:sldId id="258" r:id="rId8"/>
    <p:sldId id="261" r:id="rId9"/>
    <p:sldId id="262" r:id="rId10"/>
    <p:sldId id="264" r:id="rId11"/>
    <p:sldId id="265" r:id="rId12"/>
    <p:sldId id="267" r:id="rId13"/>
    <p:sldId id="266" r:id="rId14"/>
    <p:sldId id="268" r:id="rId15"/>
    <p:sldId id="272" r:id="rId16"/>
    <p:sldId id="273" r:id="rId17"/>
    <p:sldId id="269" r:id="rId18"/>
    <p:sldId id="270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ix traits" id="{33F8FAC6-0D93-4DAF-A5D7-35C5118A93FD}">
          <p14:sldIdLst>
            <p14:sldId id="256"/>
            <p14:sldId id="263"/>
            <p14:sldId id="259"/>
            <p14:sldId id="257"/>
            <p14:sldId id="260"/>
            <p14:sldId id="258"/>
            <p14:sldId id="261"/>
            <p14:sldId id="262"/>
          </p14:sldIdLst>
        </p14:section>
        <p14:section name="Scaffolds" id="{BBCFFB8B-7625-49C7-8885-90F214573BB3}">
          <p14:sldIdLst>
            <p14:sldId id="264"/>
            <p14:sldId id="265"/>
            <p14:sldId id="267"/>
            <p14:sldId id="266"/>
            <p14:sldId id="268"/>
            <p14:sldId id="272"/>
            <p14:sldId id="273"/>
            <p14:sldId id="269"/>
            <p14:sldId id="270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5F13"/>
    <a:srgbClr val="BB5611"/>
    <a:srgbClr val="DA0000"/>
    <a:srgbClr val="7737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7E5C3-190C-4F4B-E7E0-DCD0DA5B7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4C996-EDFD-F790-C25D-9E7FDB8CD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DD90C-715F-44A7-96CE-BA3511B02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2B4D3-3554-3195-FC5C-D637ADD8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2230C-CB6C-377F-7095-38F6DBD7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4318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A248-3A97-1708-AE07-D42A92998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A9972-DD18-FCDC-4182-57B20A4BA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A860C-1CFA-CDA0-0FC3-5B2085339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36DF9-CB00-86C4-56CC-2DB8A085C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721FD-9101-DFC1-B5EF-98FC9225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710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4F0C-9970-DBBD-751A-D6EB980C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5A9A5-80F8-BEFC-C879-E042C21EC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7AD0B-8943-683C-D407-BA5CE1FD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C3428-AD07-60B4-E653-E267CEBFA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567A9-78CD-4346-9CFD-C8C06EC8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932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7E58-A3BF-28A1-4CCB-602AD692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DF450-251D-4166-31A4-504F602CE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91949-8D63-A050-8D91-5986C9938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811E8-479E-04C8-8E51-9D0B00DA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93BBE-8B4B-C06F-E506-8EBFCF79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C46FF-AE6D-4344-43AF-4695676D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890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4561-4CDF-1A63-C3FD-7E6A87B1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B8652-2926-CB9A-DDF6-B0FEA4190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3AAA3-8FF8-9376-EFA3-60C0AB87D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31C56-C623-50AB-5D04-26CB15406C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875057-14AE-C62B-13D4-9FF029D2B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41B8C-E7DD-595B-5F6C-74A6202BA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ACB8D-3926-ECFE-FB3F-0D36AB83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575A7-B643-2092-525C-D0837245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780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E679-3330-6773-EE8E-7D9E01A1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AF9B1-E52E-8C45-6BE2-758B99A92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4EB70-C800-21A2-4D07-4F99FB5C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C3AE9-E4A1-197E-D180-4A9FC030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266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4D1B74-19DD-D8F8-2657-54630F74A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3CE58-FA97-B315-6812-B05316AA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58FB4-D16C-352A-0630-A9E32B9FA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49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6FF7-A116-43C6-460C-DA5239B25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C924B-9B5C-EC98-C952-7459EA87F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4D292-861D-D161-D8BA-3870524F3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0BC3C-5F77-B485-19E8-1802F6968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7EB0B-AF3E-E974-DB53-A6706C6E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AB6CF-ED38-A910-FF85-6D03F30F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8375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1453A-DF22-CD0C-6FD5-4F3FC31F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0D5459-7ABE-8813-AD66-876FC3982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47F88-CD5B-EF75-0F51-C41862A61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954C4-6843-866A-F841-EBA805C3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A4E58-28DF-C14B-92B5-88F12871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4C15C-93CF-8786-B50D-F4279B48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514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0266-6059-43FF-0283-0F962BDB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579BA-9F5E-F569-8663-883F26F52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05169-DD51-7DC1-234B-F94866C0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123D7-940D-7CB8-CC11-0EF6D7CF9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7D3B8-C811-67EE-ACF9-0210CD21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701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07539-45D8-B600-26A3-5A2B6FD68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0BBD6-447A-AAB0-A6DF-3697EE5F6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704F1-7AF9-F4A6-0210-E2F5645A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5ED39-4888-27E2-2C48-4EF7F01C5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147-A22B-6A05-40CE-C6910288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2365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7353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9535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7695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8218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7559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755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899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7499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49200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2707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152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191D4-E80C-FF60-385E-4F8E59D62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913FC-77A5-F187-B423-30B19EC0D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A775B-DB33-789C-A67A-00EA2B4D2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97467-3A96-A6C2-E464-BAFD4650C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D3858-A2DC-7EA4-8619-B6CFF5C93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2806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9A22A-B904-49D4-B7B1-EC43E1916590}" type="datetimeFigureOut">
              <a:rPr lang="en-AU" smtClean="0"/>
              <a:t>1/09/2023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D2EA8-184C-4328-B056-67200343C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49270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padlet.com/lincolnlefevre/six-traits-of-writing-14fub4kog9o9nw2n" TargetMode="Externa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padlet.com/lincolnlefevre/six-traits-of-writing-14fub4kog9o9nw2n" TargetMode="External"/><Relationship Id="rId1" Type="http://schemas.openxmlformats.org/officeDocument/2006/relationships/slideLayout" Target="../slideLayouts/slideLayout13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adlet.com/lincolnlefevre/six-traits-of-writing-14fub4kog9o9nw2n" TargetMode="External"/><Relationship Id="rId1" Type="http://schemas.openxmlformats.org/officeDocument/2006/relationships/slideLayout" Target="../slideLayouts/slideLayout13.xml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adlet.com/lincolnlefevre/six-traits-of-writing-14fub4kog9o9nw2n" TargetMode="External"/><Relationship Id="rId1" Type="http://schemas.openxmlformats.org/officeDocument/2006/relationships/slideLayout" Target="../slideLayouts/slideLayout13.xml"/><Relationship Id="rId4" Type="http://schemas.microsoft.com/office/2007/relationships/hdphoto" Target="../media/hdphoto4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padlet.com/lincolnlefevre/six-traits-of-writing-14fub4kog9o9nw2n" TargetMode="External"/><Relationship Id="rId1" Type="http://schemas.openxmlformats.org/officeDocument/2006/relationships/slideLayout" Target="../slideLayouts/slideLayout13.xml"/><Relationship Id="rId4" Type="http://schemas.microsoft.com/office/2007/relationships/hdphoto" Target="../media/hdphoto5.wdp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writing and writing&#10;&#10;Description automatically generated with medium confidence">
            <a:extLst>
              <a:ext uri="{FF2B5EF4-FFF2-40B4-BE49-F238E27FC236}">
                <a16:creationId xmlns:a16="http://schemas.microsoft.com/office/drawing/2014/main" id="{5AAEBFFC-08E3-8F28-BC0A-500CB38B8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253" y="68704"/>
            <a:ext cx="9498465" cy="67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88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EF6B6-071D-61B0-7C8C-5E8DC32D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b="1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9990B-9C42-838A-3195-9B6FA1D8B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936750"/>
            <a:ext cx="5157787" cy="823912"/>
          </a:xfrm>
        </p:spPr>
        <p:txBody>
          <a:bodyPr/>
          <a:lstStyle/>
          <a:p>
            <a:pPr algn="ctr"/>
            <a:r>
              <a:rPr lang="en-AU" dirty="0">
                <a:solidFill>
                  <a:srgbClr val="BB5611"/>
                </a:solidFill>
              </a:rPr>
              <a:t>Learning intentions: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CC686-240F-421B-F69F-3370FBBCC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006725"/>
            <a:ext cx="5157787" cy="3182937"/>
          </a:xfrm>
        </p:spPr>
        <p:txBody>
          <a:bodyPr/>
          <a:lstStyle/>
          <a:p>
            <a:r>
              <a:rPr lang="en-AU" dirty="0"/>
              <a:t>To understand the “six traits of writing” framework.</a:t>
            </a:r>
          </a:p>
          <a:p>
            <a:r>
              <a:rPr lang="en-AU" dirty="0"/>
              <a:t>To improve our ability to scaffold students at different stages of a writing task.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E0618-1513-EC7F-B0A9-EB4184EB4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936750"/>
            <a:ext cx="5183188" cy="823912"/>
          </a:xfrm>
        </p:spPr>
        <p:txBody>
          <a:bodyPr/>
          <a:lstStyle/>
          <a:p>
            <a:pPr algn="ctr"/>
            <a:r>
              <a:rPr lang="en-AU" dirty="0">
                <a:solidFill>
                  <a:srgbClr val="BB5611"/>
                </a:solidFill>
              </a:rPr>
              <a:t>I will be successful when: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CC674E-2862-6ED7-A7AA-708B884AC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3006725"/>
            <a:ext cx="5183188" cy="3684588"/>
          </a:xfrm>
        </p:spPr>
        <p:txBody>
          <a:bodyPr/>
          <a:lstStyle/>
          <a:p>
            <a:r>
              <a:rPr lang="en-AU" dirty="0"/>
              <a:t>I can identify each of the six traits in a text.</a:t>
            </a:r>
          </a:p>
          <a:p>
            <a:r>
              <a:rPr lang="en-AU" dirty="0"/>
              <a:t>I can think of ways to support students at each stage.</a:t>
            </a:r>
          </a:p>
        </p:txBody>
      </p:sp>
    </p:spTree>
    <p:extLst>
      <p:ext uri="{BB962C8B-B14F-4D97-AF65-F5344CB8AC3E}">
        <p14:creationId xmlns:p14="http://schemas.microsoft.com/office/powerpoint/2010/main" val="327842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4037C1C0-FADA-40C7-B923-037899A24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0998B-A5F0-BC7C-0E8A-48FD57B8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86184"/>
            <a:ext cx="5721484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 dirty="0"/>
              <a:t>1. Ideas</a:t>
            </a:r>
          </a:p>
        </p:txBody>
      </p:sp>
      <p:pic>
        <p:nvPicPr>
          <p:cNvPr id="6" name="Content Placeholder 5" descr="A light bulb with a hand drawn lightbulb&#10;&#10;Description automatically generated">
            <a:extLst>
              <a:ext uri="{FF2B5EF4-FFF2-40B4-BE49-F238E27FC236}">
                <a16:creationId xmlns:a16="http://schemas.microsoft.com/office/drawing/2014/main" id="{43A99E5A-86DB-BE63-77E8-BC4C7510A2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583" b="97250" l="2905" r="97822">
                        <a14:foregroundMark x1="7884" y1="24583" x2="7884" y2="24583"/>
                        <a14:foregroundMark x1="9440" y1="46333" x2="9440" y2="46333"/>
                        <a14:foregroundMark x1="3112" y1="22500" x2="3112" y2="22500"/>
                        <a14:foregroundMark x1="24793" y1="9583" x2="24793" y2="9583"/>
                        <a14:foregroundMark x1="54668" y1="5417" x2="54668" y2="5417"/>
                        <a14:foregroundMark x1="80498" y1="13250" x2="80498" y2="13250"/>
                        <a14:foregroundMark x1="89419" y1="32917" x2="89419" y2="32917"/>
                        <a14:foregroundMark x1="87863" y1="49083" x2="87863" y2="49083"/>
                        <a14:foregroundMark x1="95021" y1="50833" x2="95021" y2="50833"/>
                        <a14:foregroundMark x1="98029" y1="29250" x2="98029" y2="29250"/>
                        <a14:foregroundMark x1="25415" y1="57750" x2="25415" y2="57750"/>
                        <a14:foregroundMark x1="64938" y1="66083" x2="64938" y2="66083"/>
                        <a14:foregroundMark x1="41701" y1="84750" x2="41701" y2="84750"/>
                        <a14:foregroundMark x1="41494" y1="90333" x2="41494" y2="90333"/>
                        <a14:foregroundMark x1="42739" y1="97250" x2="42739" y2="97250"/>
                        <a14:foregroundMark x1="54668" y1="1583" x2="54668" y2="15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5" r="3065" b="2"/>
          <a:stretch/>
        </p:blipFill>
        <p:spPr>
          <a:xfrm>
            <a:off x="838200" y="643467"/>
            <a:ext cx="4261337" cy="5533496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36" name="Arc 35">
            <a:extLst>
              <a:ext uri="{FF2B5EF4-FFF2-40B4-BE49-F238E27FC236}">
                <a16:creationId xmlns:a16="http://schemas.microsoft.com/office/drawing/2014/main" id="{4B56CC07-3AFD-4C79-AFB2-0428FBBD7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943208">
            <a:off x="-619225" y="5190398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B01D7-D38A-A4D7-CCD4-37FF5DD05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7048" y="1946684"/>
            <a:ext cx="5721484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All the learning that takes place before the writing task.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BB5611"/>
                </a:solidFill>
              </a:rPr>
              <a:t>In </a:t>
            </a:r>
            <a:r>
              <a:rPr lang="en-US" sz="2200" b="1" dirty="0">
                <a:solidFill>
                  <a:srgbClr val="BB5611"/>
                </a:solidFill>
              </a:rPr>
              <a:t>Science</a:t>
            </a:r>
            <a:r>
              <a:rPr lang="en-US" sz="2200" dirty="0">
                <a:solidFill>
                  <a:srgbClr val="BB5611"/>
                </a:solidFill>
              </a:rPr>
              <a:t>, this might include the experiment and the results.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In 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Humanities</a:t>
            </a: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, the ideas might be students’ historical understanding.</a:t>
            </a:r>
            <a:endParaRPr lang="en-US" sz="22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200" b="1" i="1" dirty="0"/>
              <a:t>Questions for students might include:</a:t>
            </a:r>
          </a:p>
          <a:p>
            <a:pPr marL="625475" lvl="1" indent="-173038"/>
            <a:r>
              <a:rPr lang="en-US" sz="2200" dirty="0"/>
              <a:t>What will you write about?</a:t>
            </a:r>
          </a:p>
          <a:p>
            <a:pPr marL="625475" lvl="1" indent="-173038"/>
            <a:r>
              <a:rPr lang="en-US" sz="2200" dirty="0"/>
              <a:t>What research have you done?</a:t>
            </a:r>
          </a:p>
          <a:p>
            <a:pPr marL="625475" lvl="1" indent="-173038"/>
            <a:r>
              <a:rPr lang="en-US" sz="2200" dirty="0"/>
              <a:t>What details can you add</a:t>
            </a:r>
          </a:p>
        </p:txBody>
      </p:sp>
    </p:spTree>
    <p:extLst>
      <p:ext uri="{BB962C8B-B14F-4D97-AF65-F5344CB8AC3E}">
        <p14:creationId xmlns:p14="http://schemas.microsoft.com/office/powerpoint/2010/main" val="213671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0998B-A5F0-BC7C-0E8A-48FD57B8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/>
              <a:t>2. Organisation</a:t>
            </a:r>
            <a:endParaRPr lang="en-US" sz="60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B01D7-D38A-A4D7-CCD4-37FF5DD05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5393361" cy="435133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The way the ideas will be sequenced and structured.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In </a:t>
            </a:r>
            <a:r>
              <a:rPr lang="en-US" sz="2200" b="1" dirty="0">
                <a:solidFill>
                  <a:schemeClr val="accent1"/>
                </a:solidFill>
              </a:rPr>
              <a:t>English</a:t>
            </a:r>
            <a:r>
              <a:rPr lang="en-US" sz="2200" dirty="0">
                <a:solidFill>
                  <a:schemeClr val="accent1"/>
                </a:solidFill>
              </a:rPr>
              <a:t>, this might be the structure of a hard news article.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C00000"/>
                </a:solidFill>
              </a:rPr>
              <a:t>In </a:t>
            </a:r>
            <a:r>
              <a:rPr lang="en-US" sz="2200" b="1" dirty="0">
                <a:solidFill>
                  <a:srgbClr val="C00000"/>
                </a:solidFill>
              </a:rPr>
              <a:t>Foods</a:t>
            </a:r>
            <a:r>
              <a:rPr lang="en-US" sz="2200" dirty="0">
                <a:solidFill>
                  <a:srgbClr val="C00000"/>
                </a:solidFill>
              </a:rPr>
              <a:t>, students might write their own recipe.</a:t>
            </a:r>
            <a:endParaRPr lang="en-US" sz="22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200" b="1" i="1" dirty="0"/>
              <a:t>Questions for students might include:</a:t>
            </a:r>
          </a:p>
          <a:p>
            <a:pPr marL="625475" lvl="1" indent="-173038"/>
            <a:r>
              <a:rPr lang="en-AU" sz="2200" dirty="0"/>
              <a:t>How will you put your ideas in order?</a:t>
            </a:r>
          </a:p>
          <a:p>
            <a:pPr marL="625475" lvl="1" indent="-173038"/>
            <a:r>
              <a:rPr lang="en-AU" sz="2200" dirty="0"/>
              <a:t>Does each paragraph have one clear idea?</a:t>
            </a:r>
          </a:p>
          <a:p>
            <a:pPr marL="625475" lvl="1" indent="-173038"/>
            <a:r>
              <a:rPr lang="en-AU" sz="2200" dirty="0"/>
              <a:t>How is this kind of text structured?</a:t>
            </a:r>
            <a:endParaRPr lang="en-US" sz="2200" dirty="0"/>
          </a:p>
        </p:txBody>
      </p:sp>
      <p:sp>
        <p:nvSpPr>
          <p:cNvPr id="20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Content Placeholder 9" descr="A drawing of a diagram&#10;&#10;Description automatically generated">
            <a:extLst>
              <a:ext uri="{FF2B5EF4-FFF2-40B4-BE49-F238E27FC236}">
                <a16:creationId xmlns:a16="http://schemas.microsoft.com/office/drawing/2014/main" id="{94F83C66-6CA6-6CC3-99EC-BB11765075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039" b="97087" l="9618" r="89919">
                        <a14:foregroundMark x1="45539" y1="7160" x2="45539" y2="7160"/>
                        <a14:foregroundMark x1="17149" y1="91505" x2="17149" y2="91505"/>
                        <a14:foregroundMark x1="16686" y1="96238" x2="16686" y2="96238"/>
                        <a14:foregroundMark x1="48320" y1="95874" x2="48320" y2="95874"/>
                        <a14:foregroundMark x1="83314" y1="97087" x2="83314" y2="970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758" y="1439453"/>
            <a:ext cx="4155683" cy="3967883"/>
          </a:xfrm>
        </p:spPr>
      </p:pic>
    </p:spTree>
    <p:extLst>
      <p:ext uri="{BB962C8B-B14F-4D97-AF65-F5344CB8AC3E}">
        <p14:creationId xmlns:p14="http://schemas.microsoft.com/office/powerpoint/2010/main" val="400813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0998B-A5F0-BC7C-0E8A-48FD57B8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 dirty="0"/>
              <a:t>4. Register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B01D7-D38A-A4D7-CCD4-37FF5DD05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4"/>
            <a:ext cx="5889859" cy="4527049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Sometimes called </a:t>
            </a:r>
            <a:r>
              <a:rPr lang="en-US" b="1" dirty="0"/>
              <a:t>voice</a:t>
            </a:r>
            <a:r>
              <a:rPr lang="en-US" dirty="0"/>
              <a:t>, this is about using right language for the audience and purpose of the text.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Humanities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, this might involve the use of formal analytic language in an essay.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English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, students might create characters that speak using different words.</a:t>
            </a:r>
            <a:endParaRPr lang="en-US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i="1" dirty="0"/>
              <a:t>Questions for students might include:</a:t>
            </a:r>
          </a:p>
          <a:p>
            <a:pPr marL="625475" lvl="1" indent="-173038"/>
            <a:r>
              <a:rPr lang="en-AU" dirty="0"/>
              <a:t>Who is your audience?</a:t>
            </a:r>
          </a:p>
          <a:p>
            <a:pPr marL="625475" lvl="1" indent="-173038"/>
            <a:r>
              <a:rPr lang="en-AU" dirty="0"/>
              <a:t>Does your voice appeal to your audience?</a:t>
            </a:r>
          </a:p>
          <a:p>
            <a:pPr marL="625475" lvl="1" indent="-173038"/>
            <a:r>
              <a:rPr lang="en-AU" dirty="0"/>
              <a:t>Does your tone help to achieve your purpose?</a:t>
            </a:r>
            <a:endParaRPr lang="en-US" dirty="0"/>
          </a:p>
        </p:txBody>
      </p:sp>
      <p:sp>
        <p:nvSpPr>
          <p:cNvPr id="20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 descr="A green and black megaphone&#10;&#10;Description automatically generated">
            <a:extLst>
              <a:ext uri="{FF2B5EF4-FFF2-40B4-BE49-F238E27FC236}">
                <a16:creationId xmlns:a16="http://schemas.microsoft.com/office/drawing/2014/main" id="{70D33258-C0CF-1920-2E31-F9D6FB54B0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8" b="97574" l="3319" r="96571">
                        <a14:foregroundMark x1="3429" y1="57384" x2="3429" y2="57384"/>
                        <a14:foregroundMark x1="44248" y1="97679" x2="44248" y2="97679"/>
                        <a14:foregroundMark x1="87500" y1="43038" x2="87500" y2="43038"/>
                        <a14:foregroundMark x1="96571" y1="45464" x2="96571" y2="45464"/>
                        <a14:foregroundMark x1="93695" y1="28270" x2="93695" y2="28270"/>
                        <a14:foregroundMark x1="84292" y1="16350" x2="84292" y2="16350"/>
                        <a14:foregroundMark x1="75996" y1="4008" x2="75996" y2="40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463" y="1135780"/>
            <a:ext cx="4427298" cy="4642785"/>
          </a:xfrm>
        </p:spPr>
      </p:pic>
    </p:spTree>
    <p:extLst>
      <p:ext uri="{BB962C8B-B14F-4D97-AF65-F5344CB8AC3E}">
        <p14:creationId xmlns:p14="http://schemas.microsoft.com/office/powerpoint/2010/main" val="20199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0998B-A5F0-BC7C-0E8A-48FD57B8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Word Choice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Content Placeholder 7" descr="A purple book with black letters&#10;&#10;Description automatically generated">
            <a:extLst>
              <a:ext uri="{FF2B5EF4-FFF2-40B4-BE49-F238E27FC236}">
                <a16:creationId xmlns:a16="http://schemas.microsoft.com/office/drawing/2014/main" id="{E648079E-2AE2-6D9C-B9A3-BA931DE6A6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545" b="99579" l="898" r="98653">
                        <a14:foregroundMark x1="898" y1="22612" x2="20359" y2="12500"/>
                        <a14:foregroundMark x1="20359" y1="12500" x2="28293" y2="21208"/>
                        <a14:foregroundMark x1="28293" y1="21208" x2="26497" y2="39326"/>
                        <a14:foregroundMark x1="26497" y1="39326" x2="45060" y2="44522"/>
                        <a14:foregroundMark x1="45060" y1="44522" x2="35329" y2="62921"/>
                        <a14:foregroundMark x1="35329" y1="62921" x2="49251" y2="76264"/>
                        <a14:foregroundMark x1="49251" y1="76264" x2="13623" y2="84270"/>
                        <a14:foregroundMark x1="13623" y1="84270" x2="54491" y2="95927"/>
                        <a14:foregroundMark x1="54491" y1="95927" x2="82186" y2="95084"/>
                        <a14:foregroundMark x1="82186" y1="95084" x2="88501" y2="86234"/>
                        <a14:foregroundMark x1="94382" y1="73275" x2="93413" y2="54775"/>
                        <a14:foregroundMark x1="93413" y1="54775" x2="99551" y2="18539"/>
                        <a14:foregroundMark x1="99551" y1="18539" x2="86826" y2="4354"/>
                        <a14:foregroundMark x1="86826" y1="4354" x2="52395" y2="1404"/>
                        <a14:foregroundMark x1="52395" y1="1404" x2="6886" y2="7584"/>
                        <a14:foregroundMark x1="6886" y1="7584" x2="51198" y2="30056"/>
                        <a14:foregroundMark x1="51198" y1="30056" x2="64671" y2="22893"/>
                        <a14:foregroundMark x1="64671" y1="22893" x2="47156" y2="40449"/>
                        <a14:foregroundMark x1="47156" y1="40449" x2="38473" y2="69101"/>
                        <a14:foregroundMark x1="38473" y1="69101" x2="11527" y2="67416"/>
                        <a14:foregroundMark x1="11527" y1="67416" x2="2395" y2="55758"/>
                        <a14:foregroundMark x1="2395" y1="55758" x2="1347" y2="72472"/>
                        <a14:foregroundMark x1="1347" y1="72472" x2="9581" y2="89045"/>
                        <a14:foregroundMark x1="9581" y1="89045" x2="48353" y2="92697"/>
                        <a14:foregroundMark x1="48353" y1="92697" x2="79341" y2="82444"/>
                        <a14:foregroundMark x1="79341" y1="82444" x2="86078" y2="62781"/>
                        <a14:foregroundMark x1="86078" y1="62781" x2="85928" y2="23315"/>
                        <a14:foregroundMark x1="43263" y1="38904" x2="44910" y2="33427"/>
                        <a14:foregroundMark x1="43263" y1="27669" x2="45359" y2="41573"/>
                        <a14:foregroundMark x1="27096" y1="24298" x2="19461" y2="45787"/>
                        <a14:foregroundMark x1="19461" y1="45787" x2="27695" y2="43258"/>
                        <a14:foregroundMark x1="22006" y1="49719" x2="45958" y2="61236"/>
                        <a14:foregroundMark x1="22006" y1="28933" x2="17515" y2="15169"/>
                        <a14:foregroundMark x1="61527" y1="33848" x2="54341" y2="46348"/>
                        <a14:foregroundMark x1="54341" y1="46348" x2="69910" y2="55056"/>
                        <a14:foregroundMark x1="69910" y1="55056" x2="79192" y2="46067"/>
                        <a14:foregroundMark x1="79192" y1="46067" x2="74401" y2="33146"/>
                        <a14:foregroundMark x1="74401" y1="33146" x2="63174" y2="31882"/>
                        <a14:foregroundMark x1="63174" y1="31882" x2="56737" y2="34691"/>
                        <a14:foregroundMark x1="51796" y1="42416" x2="57186" y2="35253"/>
                        <a14:foregroundMark x1="70808" y1="37781" x2="68114" y2="47753"/>
                        <a14:foregroundMark x1="71856" y1="38062" x2="72605" y2="48596"/>
                        <a14:foregroundMark x1="77545" y1="49719" x2="77545" y2="49719"/>
                        <a14:foregroundMark x1="95808" y1="25140" x2="96707" y2="60955"/>
                        <a14:foregroundMark x1="96707" y1="60955" x2="84431" y2="89466"/>
                        <a14:foregroundMark x1="84431" y1="89466" x2="96707" y2="95927"/>
                        <a14:foregroundMark x1="98802" y1="36798" x2="98802" y2="36798"/>
                        <a14:foregroundMark x1="95509" y1="4073" x2="95509" y2="4073"/>
                        <a14:foregroundMark x1="88772" y1="1685" x2="88772" y2="1685"/>
                        <a14:foregroundMark x1="94012" y1="3230" x2="87425" y2="2107"/>
                        <a14:foregroundMark x1="97305" y1="6180" x2="98503" y2="11376"/>
                        <a14:foregroundMark x1="91098" y1="76352" x2="89970" y2="77669"/>
                        <a14:foregroundMark x1="97305" y1="69101" x2="92816" y2="74344"/>
                        <a14:foregroundMark x1="89311" y1="85910" x2="89072" y2="88904"/>
                        <a14:foregroundMark x1="89970" y1="77669" x2="89891" y2="78652"/>
                        <a14:foregroundMark x1="89072" y1="88904" x2="94012" y2="99157"/>
                        <a14:foregroundMark x1="94012" y1="99157" x2="86078" y2="95365"/>
                        <a14:foregroundMark x1="82335" y1="97893" x2="27096" y2="97612"/>
                        <a14:foregroundMark x1="27096" y1="97612" x2="10928" y2="91152"/>
                        <a14:foregroundMark x1="10928" y1="91152" x2="3443" y2="76124"/>
                        <a14:foregroundMark x1="3443" y1="76124" x2="4790" y2="12360"/>
                        <a14:foregroundMark x1="4790" y1="12360" x2="18563" y2="2949"/>
                        <a14:foregroundMark x1="18563" y1="2949" x2="57186" y2="1966"/>
                        <a14:foregroundMark x1="57186" y1="1966" x2="84880" y2="5056"/>
                        <a14:foregroundMark x1="84880" y1="5056" x2="94611" y2="21489"/>
                        <a14:foregroundMark x1="94611" y1="21489" x2="96407" y2="60674"/>
                        <a14:foregroundMark x1="96407" y1="60674" x2="93862" y2="71770"/>
                        <a14:foregroundMark x1="90890" y1="76286" x2="87575" y2="81320"/>
                        <a14:foregroundMark x1="93862" y1="71770" x2="92253" y2="74215"/>
                        <a14:foregroundMark x1="87533" y1="85024" x2="87425" y2="94522"/>
                        <a14:foregroundMark x1="87575" y1="81320" x2="87537" y2="84696"/>
                        <a14:foregroundMark x1="87425" y1="94522" x2="82036" y2="99719"/>
                        <a14:foregroundMark x1="75449" y1="90028" x2="49102" y2="53652"/>
                        <a14:foregroundMark x1="73204" y1="72051" x2="61976" y2="73315"/>
                        <a14:foregroundMark x1="61976" y1="73315" x2="43114" y2="69242"/>
                        <a14:foregroundMark x1="43114" y1="69242" x2="10329" y2="72893"/>
                        <a14:foregroundMark x1="10329" y1="72893" x2="6737" y2="80478"/>
                        <a14:foregroundMark x1="58383" y1="76124" x2="22754" y2="77949"/>
                        <a14:foregroundMark x1="17814" y1="78230" x2="6138" y2="83567"/>
                        <a14:foregroundMark x1="6138" y1="83567" x2="7784" y2="95506"/>
                        <a14:foregroundMark x1="7784" y1="95506" x2="21108" y2="99719"/>
                        <a14:foregroundMark x1="21108" y1="99719" x2="21108" y2="99719"/>
                        <a14:foregroundMark x1="4940" y1="88343" x2="4940" y2="88343"/>
                        <a14:foregroundMark x1="3892" y1="87781" x2="3892" y2="87781"/>
                        <a14:foregroundMark x1="1946" y1="81742" x2="6287" y2="89185"/>
                        <a14:foregroundMark x1="46407" y1="84129" x2="79341" y2="74157"/>
                        <a14:foregroundMark x1="62874" y1="83006" x2="34880" y2="81601"/>
                        <a14:foregroundMark x1="36677" y1="86798" x2="70808" y2="82022"/>
                        <a14:foregroundMark x1="34431" y1="84551" x2="34431" y2="84551"/>
                        <a14:foregroundMark x1="31138" y1="83287" x2="35180" y2="82865"/>
                        <a14:foregroundMark x1="29491" y1="83848" x2="32934" y2="90449"/>
                        <a14:foregroundMark x1="66317" y1="92978" x2="81138" y2="84551"/>
                        <a14:foregroundMark x1="80689" y1="86798" x2="78892" y2="96770"/>
                        <a14:foregroundMark x1="77246" y1="77528" x2="77246" y2="77528"/>
                        <a14:foregroundMark x1="1946" y1="28933" x2="1946" y2="28933"/>
                        <a14:foregroundMark x1="1497" y1="28933" x2="898" y2="57303"/>
                        <a14:foregroundMark x1="63772" y1="91292" x2="61826" y2="91994"/>
                        <a14:foregroundMark x1="43114" y1="91152" x2="52545" y2="90309"/>
                        <a14:foregroundMark x1="72754" y1="81320" x2="84581" y2="73174"/>
                        <a14:backgroundMark x1="93263" y1="78652" x2="93263" y2="78652"/>
                        <a14:backgroundMark x1="93263" y1="78652" x2="93263" y2="82022"/>
                        <a14:backgroundMark x1="90569" y1="82865" x2="92365" y2="85112"/>
                        <a14:backgroundMark x1="94910" y1="76685" x2="94461" y2="79213"/>
                        <a14:backgroundMark x1="94461" y1="75843" x2="94461" y2="75843"/>
                        <a14:backgroundMark x1="94461" y1="76545" x2="95958" y2="75421"/>
                        <a14:backgroundMark x1="92216" y1="81601" x2="92365" y2="85815"/>
                        <a14:backgroundMark x1="92216" y1="76685" x2="94461" y2="75702"/>
                        <a14:backgroundMark x1="95060" y1="74860" x2="94461" y2="771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3" y="1337912"/>
            <a:ext cx="4269518" cy="455415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B01D7-D38A-A4D7-CCD4-37FF5DD05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3402" y="1984442"/>
            <a:ext cx="5790398" cy="4464483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3000" dirty="0"/>
              <a:t>Choosing the right words to convey an idea with sophistication, detail and clarity.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7030A0"/>
                </a:solidFill>
              </a:rPr>
              <a:t>In </a:t>
            </a:r>
            <a:r>
              <a:rPr lang="en-US" sz="2400" b="1" dirty="0">
                <a:solidFill>
                  <a:srgbClr val="7030A0"/>
                </a:solidFill>
              </a:rPr>
              <a:t>a narrative</a:t>
            </a:r>
            <a:r>
              <a:rPr lang="en-US" sz="2400" dirty="0">
                <a:solidFill>
                  <a:srgbClr val="7030A0"/>
                </a:solidFill>
              </a:rPr>
              <a:t>, this might include descriptive language, simile and metaphor.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Health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, this might include using the new jargon or metalanguage.</a:t>
            </a:r>
            <a:endParaRPr lang="en-US" sz="24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i="1" dirty="0"/>
              <a:t>Questions for students might include:</a:t>
            </a:r>
          </a:p>
          <a:p>
            <a:pPr marL="625475" lvl="1" indent="-173038"/>
            <a:r>
              <a:rPr lang="en-AU" dirty="0"/>
              <a:t>Are your words interesting?</a:t>
            </a:r>
          </a:p>
          <a:p>
            <a:pPr marL="625475" lvl="1" indent="-173038"/>
            <a:r>
              <a:rPr lang="en-AU" dirty="0"/>
              <a:t>Are your words specific or general?</a:t>
            </a:r>
          </a:p>
          <a:p>
            <a:pPr marL="625475" lvl="1" indent="-173038"/>
            <a:r>
              <a:rPr lang="en-AU" dirty="0"/>
              <a:t>Have you used emotive language?</a:t>
            </a:r>
          </a:p>
          <a:p>
            <a:pPr marL="625475" lvl="1" indent="-173038"/>
            <a:r>
              <a:rPr lang="en-AU" dirty="0"/>
              <a:t>How have you described places, people and actions?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656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0998B-A5F0-BC7C-0E8A-48FD57B8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2139" y="479493"/>
            <a:ext cx="6525927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Sentence Fluency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Content Placeholder 7" descr="A notepad with a pen&#10;&#10;Description automatically generated">
            <a:extLst>
              <a:ext uri="{FF2B5EF4-FFF2-40B4-BE49-F238E27FC236}">
                <a16:creationId xmlns:a16="http://schemas.microsoft.com/office/drawing/2014/main" id="{41B7F7AC-313D-D596-09BD-24421082BB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3" y="1289785"/>
            <a:ext cx="4145154" cy="484813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B01D7-D38A-A4D7-CCD4-37FF5DD05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141" y="1984443"/>
            <a:ext cx="6194659" cy="4300854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3000" dirty="0"/>
              <a:t>Students must understand how to write simple, compound and complex sentences and how these involve different types of clauses.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DA0000"/>
                </a:solidFill>
              </a:rPr>
              <a:t>In </a:t>
            </a:r>
            <a:r>
              <a:rPr lang="en-US" sz="2400" b="1" dirty="0">
                <a:solidFill>
                  <a:srgbClr val="DA0000"/>
                </a:solidFill>
              </a:rPr>
              <a:t>Design</a:t>
            </a:r>
            <a:r>
              <a:rPr lang="en-US" sz="2400" dirty="0">
                <a:solidFill>
                  <a:srgbClr val="DA0000"/>
                </a:solidFill>
              </a:rPr>
              <a:t>, this might include writing fragmented instructions that begin with a verb.</a:t>
            </a:r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BB5611"/>
                </a:solidFill>
              </a:rPr>
              <a:t>In </a:t>
            </a:r>
            <a:r>
              <a:rPr lang="en-US" sz="2400" b="1" dirty="0">
                <a:solidFill>
                  <a:srgbClr val="BB5611"/>
                </a:solidFill>
              </a:rPr>
              <a:t>History</a:t>
            </a:r>
            <a:r>
              <a:rPr lang="en-US" sz="2400" dirty="0">
                <a:solidFill>
                  <a:srgbClr val="BB5611"/>
                </a:solidFill>
              </a:rPr>
              <a:t>, students will use complex sentences to explain cause and effect.</a:t>
            </a:r>
            <a:endParaRPr lang="en-US" sz="2400" b="1" dirty="0">
              <a:solidFill>
                <a:srgbClr val="BB561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i="1" dirty="0"/>
              <a:t>Questions for students might include:</a:t>
            </a:r>
          </a:p>
          <a:p>
            <a:pPr marL="625475" lvl="1" indent="-173038">
              <a:lnSpc>
                <a:spcPct val="110000"/>
              </a:lnSpc>
            </a:pPr>
            <a:r>
              <a:rPr lang="en-AU" dirty="0"/>
              <a:t>Are your sentences simple, compound or complex?</a:t>
            </a:r>
          </a:p>
          <a:p>
            <a:pPr marL="625475" lvl="1" indent="-173038">
              <a:lnSpc>
                <a:spcPct val="110000"/>
              </a:lnSpc>
            </a:pPr>
            <a:r>
              <a:rPr lang="en-AU" dirty="0"/>
              <a:t>Does each sentence have a clear purpose?</a:t>
            </a:r>
          </a:p>
          <a:p>
            <a:pPr marL="625475" lvl="1" indent="-173038">
              <a:lnSpc>
                <a:spcPct val="110000"/>
              </a:lnSpc>
            </a:pPr>
            <a:r>
              <a:rPr lang="en-AU" dirty="0"/>
              <a:t>Does each clause convey a clear idea?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56315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Content Placeholder 7" descr="A magnifying glass over a spiral notebook&#10;&#10;Description automatically generated">
            <a:extLst>
              <a:ext uri="{FF2B5EF4-FFF2-40B4-BE49-F238E27FC236}">
                <a16:creationId xmlns:a16="http://schemas.microsoft.com/office/drawing/2014/main" id="{02751F29-2E14-B5FC-964B-16688CC1D1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14" b="99862" l="1777" r="96701">
                        <a14:foregroundMark x1="18782" y1="6906" x2="18782" y2="6906"/>
                        <a14:foregroundMark x1="7360" y1="6630" x2="7360" y2="6630"/>
                        <a14:foregroundMark x1="14975" y1="5663" x2="11802" y2="85497"/>
                        <a14:foregroundMark x1="11802" y1="85497" x2="6472" y2="95718"/>
                        <a14:foregroundMark x1="6472" y1="95718" x2="6472" y2="95718"/>
                        <a14:foregroundMark x1="6218" y1="2901" x2="54695" y2="6630"/>
                        <a14:foregroundMark x1="54695" y1="6630" x2="68147" y2="19199"/>
                        <a14:foregroundMark x1="68147" y1="19199" x2="70812" y2="96961"/>
                        <a14:foregroundMark x1="70812" y1="96961" x2="53680" y2="95028"/>
                        <a14:foregroundMark x1="53680" y1="95028" x2="39848" y2="99171"/>
                        <a14:foregroundMark x1="39848" y1="99171" x2="6599" y2="96961"/>
                        <a14:foregroundMark x1="6599" y1="96961" x2="3553" y2="98895"/>
                        <a14:foregroundMark x1="83249" y1="64641" x2="83249" y2="64641"/>
                        <a14:foregroundMark x1="97081" y1="84530" x2="87056" y2="77348"/>
                        <a14:foregroundMark x1="87056" y1="77348" x2="79442" y2="63260"/>
                        <a14:foregroundMark x1="79442" y1="63260" x2="97208" y2="80387"/>
                        <a14:foregroundMark x1="97208" y1="80387" x2="94670" y2="86188"/>
                        <a14:foregroundMark x1="25635" y1="22376" x2="24239" y2="39917"/>
                        <a14:foregroundMark x1="24239" y1="39917" x2="32107" y2="72099"/>
                        <a14:foregroundMark x1="32107" y1="72099" x2="43401" y2="73066"/>
                        <a14:foregroundMark x1="43401" y1="73066" x2="59772" y2="24309"/>
                        <a14:foregroundMark x1="59772" y1="24309" x2="58503" y2="20304"/>
                        <a14:foregroundMark x1="63832" y1="63950" x2="40990" y2="79282"/>
                        <a14:foregroundMark x1="40990" y1="79282" x2="23223" y2="81630"/>
                        <a14:foregroundMark x1="23223" y1="81630" x2="14213" y2="73204"/>
                        <a14:foregroundMark x1="14213" y1="73204" x2="6726" y2="58840"/>
                        <a14:foregroundMark x1="6726" y1="58840" x2="6726" y2="18232"/>
                        <a14:foregroundMark x1="44289" y1="82182" x2="44289" y2="82182"/>
                        <a14:foregroundMark x1="35787" y1="50276" x2="42766" y2="48066"/>
                        <a14:foregroundMark x1="55330" y1="83011" x2="28807" y2="79972"/>
                        <a14:foregroundMark x1="4949" y1="1519" x2="41117" y2="5249"/>
                        <a14:foregroundMark x1="41117" y1="5249" x2="58122" y2="3315"/>
                        <a14:foregroundMark x1="58122" y1="3315" x2="68782" y2="5249"/>
                        <a14:foregroundMark x1="68782" y1="5249" x2="69416" y2="16575"/>
                        <a14:foregroundMark x1="72970" y1="27624" x2="74873" y2="32459"/>
                        <a14:foregroundMark x1="1777" y1="16989" x2="1777" y2="16989"/>
                        <a14:foregroundMark x1="71320" y1="72514" x2="71320" y2="72514"/>
                        <a14:foregroundMark x1="71701" y1="59807" x2="71066" y2="82735"/>
                        <a14:foregroundMark x1="71701" y1="82735" x2="71827" y2="95442"/>
                        <a14:foregroundMark x1="71827" y1="95442" x2="61675" y2="99448"/>
                        <a14:foregroundMark x1="61675" y1="99448" x2="6218" y2="99862"/>
                        <a14:foregroundMark x1="6218" y1="99862" x2="6218" y2="99862"/>
                        <a14:foregroundMark x1="3934" y1="92956" x2="3680" y2="79282"/>
                        <a14:foregroundMark x1="8249" y1="1105" x2="52665" y2="414"/>
                        <a14:foregroundMark x1="72208" y1="23066" x2="71701" y2="323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053" y="1145050"/>
            <a:ext cx="4777381" cy="439519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1" name="Arc 30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0998B-A5F0-BC7C-0E8A-48FD57B8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 Conventions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B01D7-D38A-A4D7-CCD4-37FF5DD05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1984443"/>
            <a:ext cx="5257800" cy="419252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The proof-reading process to make sure that the writing is clear and accurate.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This includes spelling, grammar and punctuation and formatting.</a:t>
            </a:r>
          </a:p>
          <a:p>
            <a:pPr marL="0" indent="0">
              <a:buNone/>
            </a:pPr>
            <a:r>
              <a:rPr lang="en-US" sz="2200" b="1" i="1" dirty="0"/>
              <a:t>Questions for students might include:</a:t>
            </a:r>
          </a:p>
          <a:p>
            <a:pPr marL="625475" lvl="1" indent="-173038"/>
            <a:r>
              <a:rPr lang="en-AU" sz="2200" dirty="0"/>
              <a:t>Is your writing free of errors?</a:t>
            </a:r>
          </a:p>
          <a:p>
            <a:pPr marL="625475" lvl="1" indent="-173038"/>
            <a:r>
              <a:rPr lang="en-AU" sz="2200" dirty="0"/>
              <a:t>Have you used capitals for names, places, texts, etc?</a:t>
            </a:r>
          </a:p>
          <a:p>
            <a:pPr marL="625475" lvl="1" indent="-173038"/>
            <a:r>
              <a:rPr lang="en-AU" sz="2200" dirty="0"/>
              <a:t>Have you included correct referencing?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10361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D1017-F34B-DDEA-9B77-C9AE95B3E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Scaffolding students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EB26A-B9CE-3381-1D76-61F8163BC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600" y="4782320"/>
            <a:ext cx="7644627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3200" kern="1200" dirty="0">
                <a:solidFill>
                  <a:srgbClr val="BB5611"/>
                </a:solidFill>
                <a:latin typeface="+mn-lt"/>
                <a:ea typeface="+mn-ea"/>
                <a:cs typeface="+mn-cs"/>
              </a:rPr>
              <a:t>using the six traits of writing</a:t>
            </a:r>
          </a:p>
        </p:txBody>
      </p:sp>
    </p:spTree>
    <p:extLst>
      <p:ext uri="{BB962C8B-B14F-4D97-AF65-F5344CB8AC3E}">
        <p14:creationId xmlns:p14="http://schemas.microsoft.com/office/powerpoint/2010/main" val="2682765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A7E8-496F-834F-39B7-E3AD996E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E531E-0736-D1D1-0334-E2ADEE1ED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AU" dirty="0"/>
              <a:t>This is the area that we do really well!</a:t>
            </a:r>
          </a:p>
          <a:p>
            <a:pPr marL="0" indent="0">
              <a:buNone/>
            </a:pPr>
            <a:r>
              <a:rPr lang="en-AU" b="1" dirty="0">
                <a:hlinkClick r:id="rId2"/>
              </a:rPr>
              <a:t>What do we already do?</a:t>
            </a:r>
            <a:endParaRPr lang="en-AU" b="1" dirty="0"/>
          </a:p>
          <a:p>
            <a:pPr marL="722313" indent="-411163"/>
            <a:r>
              <a:rPr lang="en-AU" dirty="0"/>
              <a:t>Discuss ideas</a:t>
            </a:r>
          </a:p>
          <a:p>
            <a:pPr marL="722313" indent="-411163"/>
            <a:r>
              <a:rPr lang="en-AU" dirty="0"/>
              <a:t>Brainstorms, </a:t>
            </a:r>
            <a:r>
              <a:rPr lang="en-AU" dirty="0" err="1"/>
              <a:t>mindmaps</a:t>
            </a:r>
            <a:r>
              <a:rPr lang="en-AU" dirty="0"/>
              <a:t>, etc</a:t>
            </a:r>
          </a:p>
          <a:p>
            <a:pPr marL="722313" indent="-411163"/>
            <a:r>
              <a:rPr lang="en-AU" dirty="0"/>
              <a:t>Have students complete short-answer exercises</a:t>
            </a:r>
          </a:p>
          <a:p>
            <a:pPr marL="722313" indent="-411163"/>
            <a:r>
              <a:rPr lang="en-AU" dirty="0"/>
              <a:t>Experiment with ideas and concepts</a:t>
            </a:r>
          </a:p>
          <a:p>
            <a:pPr marL="722313" indent="-411163"/>
            <a:r>
              <a:rPr lang="en-AU" dirty="0"/>
              <a:t>Read a range of information</a:t>
            </a:r>
          </a:p>
          <a:p>
            <a:pPr marL="722313" indent="-411163">
              <a:spcAft>
                <a:spcPts val="1200"/>
              </a:spcAft>
            </a:pPr>
            <a:r>
              <a:rPr lang="en-AU" dirty="0"/>
              <a:t>Low-stakes writing tasks</a:t>
            </a:r>
          </a:p>
        </p:txBody>
      </p:sp>
      <p:pic>
        <p:nvPicPr>
          <p:cNvPr id="4" name="Picture 3" descr="A light bulb with a hand drawn lightbulb&#10;&#10;Description automatically generated">
            <a:extLst>
              <a:ext uri="{FF2B5EF4-FFF2-40B4-BE49-F238E27FC236}">
                <a16:creationId xmlns:a16="http://schemas.microsoft.com/office/drawing/2014/main" id="{B8567960-6836-9B43-836F-270F93531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0" b="96500" l="2905" r="95954">
                        <a14:foregroundMark x1="3112" y1="45833" x2="3112" y2="45833"/>
                        <a14:foregroundMark x1="8402" y1="24750" x2="8402" y2="24750"/>
                        <a14:foregroundMark x1="23963" y1="9333" x2="23963" y2="9333"/>
                        <a14:foregroundMark x1="56328" y1="4000" x2="56328" y2="4000"/>
                        <a14:foregroundMark x1="80498" y1="13917" x2="80498" y2="13917"/>
                        <a14:foregroundMark x1="87863" y1="32000" x2="87863" y2="32000"/>
                        <a14:foregroundMark x1="96058" y1="29667" x2="96058" y2="29667"/>
                        <a14:foregroundMark x1="90353" y1="49417" x2="90353" y2="49417"/>
                        <a14:foregroundMark x1="27282" y1="60917" x2="27282" y2="60917"/>
                        <a14:foregroundMark x1="64523" y1="65917" x2="64523" y2="65917"/>
                        <a14:foregroundMark x1="44917" y1="96500" x2="44917" y2="96500"/>
                        <a14:foregroundMark x1="40768" y1="88917" x2="40768" y2="88917"/>
                        <a14:foregroundMark x1="37137" y1="82667" x2="37137" y2="8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4246" y="295561"/>
            <a:ext cx="2349904" cy="292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18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A7E8-496F-834F-39B7-E3AD996E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E531E-0736-D1D1-0334-E2ADEE1ED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b="1" dirty="0">
                <a:solidFill>
                  <a:srgbClr val="BB5611"/>
                </a:solidFill>
              </a:rPr>
              <a:t>“I don’t know what to write!”</a:t>
            </a:r>
            <a:endParaRPr lang="en-AU" dirty="0">
              <a:solidFill>
                <a:srgbClr val="BB5611"/>
              </a:solidFill>
            </a:endParaRPr>
          </a:p>
          <a:p>
            <a:pPr marL="0" indent="0">
              <a:buNone/>
            </a:pPr>
            <a:r>
              <a:rPr lang="en-AU" dirty="0"/>
              <a:t>How do we support those students?</a:t>
            </a:r>
          </a:p>
          <a:p>
            <a:pPr marL="0" indent="0">
              <a:buNone/>
            </a:pPr>
            <a:r>
              <a:rPr lang="en-AU" dirty="0"/>
              <a:t>How else can we help them to get started with an idea?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Common language:</a:t>
            </a:r>
          </a:p>
          <a:p>
            <a:pPr marL="625475"/>
            <a:r>
              <a:rPr lang="en-AU" dirty="0"/>
              <a:t>Identify, describe, explain, analyse</a:t>
            </a:r>
          </a:p>
          <a:p>
            <a:pPr marL="625475"/>
            <a:r>
              <a:rPr lang="en-AU" dirty="0"/>
              <a:t>Argument, contention, claim, intention</a:t>
            </a:r>
          </a:p>
          <a:p>
            <a:pPr marL="625475"/>
            <a:r>
              <a:rPr lang="en-AU" dirty="0"/>
              <a:t>Low-stakes writing</a:t>
            </a:r>
          </a:p>
          <a:p>
            <a:endParaRPr lang="en-AU" dirty="0"/>
          </a:p>
        </p:txBody>
      </p:sp>
      <p:pic>
        <p:nvPicPr>
          <p:cNvPr id="4" name="Picture 3" descr="A light bulb with a hand drawn lightbulb&#10;&#10;Description automatically generated">
            <a:extLst>
              <a:ext uri="{FF2B5EF4-FFF2-40B4-BE49-F238E27FC236}">
                <a16:creationId xmlns:a16="http://schemas.microsoft.com/office/drawing/2014/main" id="{0FF281EF-1079-1B6E-6091-F6F00425F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500" l="2905" r="95954">
                        <a14:foregroundMark x1="3112" y1="45833" x2="3112" y2="45833"/>
                        <a14:foregroundMark x1="8402" y1="24750" x2="8402" y2="24750"/>
                        <a14:foregroundMark x1="23963" y1="9333" x2="23963" y2="9333"/>
                        <a14:foregroundMark x1="56328" y1="4000" x2="56328" y2="4000"/>
                        <a14:foregroundMark x1="80498" y1="13917" x2="80498" y2="13917"/>
                        <a14:foregroundMark x1="87863" y1="32000" x2="87863" y2="32000"/>
                        <a14:foregroundMark x1="96058" y1="29667" x2="96058" y2="29667"/>
                        <a14:foregroundMark x1="90353" y1="49417" x2="90353" y2="49417"/>
                        <a14:foregroundMark x1="27282" y1="60917" x2="27282" y2="60917"/>
                        <a14:foregroundMark x1="64523" y1="65917" x2="64523" y2="65917"/>
                        <a14:foregroundMark x1="44917" y1="96500" x2="44917" y2="96500"/>
                        <a14:foregroundMark x1="40768" y1="88917" x2="40768" y2="88917"/>
                        <a14:foregroundMark x1="37137" y1="82667" x2="37137" y2="8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4246" y="295561"/>
            <a:ext cx="2349904" cy="292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36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A0AA-5AC1-FB99-87DE-304B96B6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Organisation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0B03-21D4-DDA3-A7F8-DB3F0EBD2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600" dirty="0"/>
              <a:t>You probably have a clear idea of how ideas should be</a:t>
            </a:r>
            <a:br>
              <a:rPr lang="en-AU" sz="2600" dirty="0"/>
            </a:br>
            <a:r>
              <a:rPr lang="en-AU" sz="2600" dirty="0"/>
              <a:t>structured in your written tasks.</a:t>
            </a:r>
          </a:p>
          <a:p>
            <a:pPr marL="0" indent="0">
              <a:buNone/>
            </a:pPr>
            <a:r>
              <a:rPr lang="en-AU" sz="2600" b="1" dirty="0">
                <a:solidFill>
                  <a:srgbClr val="BB5611"/>
                </a:solidFill>
              </a:rPr>
              <a:t>These structures must be taught explicitly and reinforced</a:t>
            </a:r>
            <a:br>
              <a:rPr lang="en-AU" sz="2600" b="1" dirty="0">
                <a:solidFill>
                  <a:srgbClr val="BB5611"/>
                </a:solidFill>
              </a:rPr>
            </a:br>
            <a:r>
              <a:rPr lang="en-AU" sz="2600" b="1" dirty="0">
                <a:solidFill>
                  <a:srgbClr val="BB5611"/>
                </a:solidFill>
              </a:rPr>
              <a:t>throughout the unit.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600" dirty="0"/>
              <a:t>Students should be given a chance to experiment and receive feedback on their structured writing.</a:t>
            </a:r>
          </a:p>
          <a:p>
            <a:pPr marL="0" indent="0">
              <a:buNone/>
            </a:pPr>
            <a:r>
              <a:rPr lang="en-AU" sz="2600" b="1" dirty="0">
                <a:hlinkClick r:id="rId2"/>
              </a:rPr>
              <a:t>What do you already provide for your written tasks?</a:t>
            </a:r>
            <a:endParaRPr lang="en-AU" sz="2600" b="1" dirty="0"/>
          </a:p>
          <a:p>
            <a:pPr marL="539750" indent="-315913"/>
            <a:r>
              <a:rPr lang="en-AU" sz="2600" dirty="0"/>
              <a:t>Mentor texts</a:t>
            </a:r>
          </a:p>
          <a:p>
            <a:pPr marL="539750" indent="-315913"/>
            <a:r>
              <a:rPr lang="en-AU" sz="2600" dirty="0"/>
              <a:t>Templates</a:t>
            </a:r>
          </a:p>
        </p:txBody>
      </p:sp>
      <p:pic>
        <p:nvPicPr>
          <p:cNvPr id="7" name="Picture 6" descr="A drawing of a diagram&#10;&#10;Description automatically generated">
            <a:extLst>
              <a:ext uri="{FF2B5EF4-FFF2-40B4-BE49-F238E27FC236}">
                <a16:creationId xmlns:a16="http://schemas.microsoft.com/office/drawing/2014/main" id="{3E7FE80A-9EA9-145B-0558-2581DF164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12" b="96966" l="9733" r="89919">
                        <a14:foregroundMark x1="50058" y1="4733" x2="50058" y2="4733"/>
                        <a14:foregroundMark x1="19815" y1="95631" x2="19815" y2="95631"/>
                        <a14:foregroundMark x1="84473" y1="96966" x2="84473" y2="96966"/>
                        <a14:foregroundMark x1="53882" y1="96481" x2="53882" y2="964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291" y="595713"/>
            <a:ext cx="2293600" cy="218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98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A0AA-5AC1-FB99-87DE-304B96B6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Organisation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0B03-21D4-DDA3-A7F8-DB3F0EBD2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2600" b="1" dirty="0">
                <a:solidFill>
                  <a:srgbClr val="BB5611"/>
                </a:solidFill>
              </a:rPr>
              <a:t>Other scaffolds might include:</a:t>
            </a:r>
          </a:p>
          <a:p>
            <a:pPr marL="539750" indent="-357188"/>
            <a:r>
              <a:rPr lang="en-AU" sz="2600" dirty="0"/>
              <a:t>Providing annotated mentor texts</a:t>
            </a:r>
          </a:p>
          <a:p>
            <a:pPr marL="539750" indent="-357188"/>
            <a:r>
              <a:rPr lang="en-AU" sz="2600" dirty="0"/>
              <a:t>Reverse outlining</a:t>
            </a:r>
          </a:p>
          <a:p>
            <a:pPr marL="539750" indent="-357188"/>
            <a:r>
              <a:rPr lang="en-AU" sz="2600" dirty="0"/>
              <a:t>Partly completed writing tasks</a:t>
            </a:r>
          </a:p>
          <a:p>
            <a:pPr marL="0" indent="0">
              <a:buNone/>
            </a:pPr>
            <a:endParaRPr lang="en-AU" sz="2600" dirty="0"/>
          </a:p>
          <a:p>
            <a:pPr marL="0" indent="0">
              <a:buNone/>
            </a:pPr>
            <a:r>
              <a:rPr lang="en-AU" sz="2600" b="1" dirty="0"/>
              <a:t>Common language:</a:t>
            </a:r>
          </a:p>
          <a:p>
            <a:pPr marL="452438" indent="-269875">
              <a:tabLst>
                <a:tab pos="87313" algn="l"/>
              </a:tabLst>
            </a:pPr>
            <a:r>
              <a:rPr lang="en-AU" sz="2600" dirty="0"/>
              <a:t>Mentor text</a:t>
            </a:r>
          </a:p>
          <a:p>
            <a:pPr marL="452438" indent="-269875">
              <a:tabLst>
                <a:tab pos="87313" algn="l"/>
              </a:tabLst>
            </a:pPr>
            <a:r>
              <a:rPr lang="en-AU" sz="2600" dirty="0"/>
              <a:t>TEEL paragraphs</a:t>
            </a:r>
          </a:p>
          <a:p>
            <a:pPr marL="452438" indent="-269875">
              <a:tabLst>
                <a:tab pos="87313" algn="l"/>
              </a:tabLst>
            </a:pPr>
            <a:r>
              <a:rPr lang="en-AU" sz="2600" dirty="0"/>
              <a:t>Paragraph vs argument or claim</a:t>
            </a:r>
          </a:p>
          <a:p>
            <a:pPr marL="452438" indent="-269875">
              <a:tabLst>
                <a:tab pos="87313" algn="l"/>
              </a:tabLst>
            </a:pPr>
            <a:r>
              <a:rPr lang="en-AU" sz="2600" dirty="0"/>
              <a:t>Aristotelean, Rogerian and Toulmin arguments</a:t>
            </a:r>
          </a:p>
        </p:txBody>
      </p:sp>
      <p:pic>
        <p:nvPicPr>
          <p:cNvPr id="7" name="Picture 6" descr="A drawing of a diagram&#10;&#10;Description automatically generated">
            <a:extLst>
              <a:ext uri="{FF2B5EF4-FFF2-40B4-BE49-F238E27FC236}">
                <a16:creationId xmlns:a16="http://schemas.microsoft.com/office/drawing/2014/main" id="{3E7FE80A-9EA9-145B-0558-2581DF164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12" b="96966" l="9733" r="89919">
                        <a14:foregroundMark x1="50058" y1="4733" x2="50058" y2="4733"/>
                        <a14:foregroundMark x1="19815" y1="95631" x2="19815" y2="95631"/>
                        <a14:foregroundMark x1="84473" y1="96966" x2="84473" y2="96966"/>
                        <a14:foregroundMark x1="53882" y1="96481" x2="53882" y2="964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291" y="595713"/>
            <a:ext cx="2293600" cy="218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40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A0AA-5AC1-FB99-87DE-304B96B6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0B03-21D4-DDA3-A7F8-DB3F0EBD2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AU" sz="2600" dirty="0"/>
              <a:t>Register refers to the way we make choices about how we </a:t>
            </a:r>
            <a:br>
              <a:rPr lang="en-AU" sz="2600" dirty="0"/>
            </a:br>
            <a:r>
              <a:rPr lang="en-AU" sz="2600" dirty="0"/>
              <a:t>express our ideas.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600" dirty="0"/>
              <a:t>But how much do we actively teach the connection between language, audience and purpose when preparing students for a writing task?</a:t>
            </a:r>
          </a:p>
          <a:p>
            <a:pPr marL="0" indent="0">
              <a:buNone/>
            </a:pPr>
            <a:r>
              <a:rPr lang="en-AU" sz="2600" b="1" dirty="0">
                <a:solidFill>
                  <a:srgbClr val="CF5F13"/>
                </a:solidFill>
                <a:hlinkClick r:id="rId2"/>
              </a:rPr>
              <a:t>Advice that we currently give students might include:</a:t>
            </a:r>
            <a:endParaRPr lang="en-AU" sz="2600" b="1" dirty="0">
              <a:solidFill>
                <a:srgbClr val="CF5F13"/>
              </a:solidFill>
            </a:endParaRPr>
          </a:p>
          <a:p>
            <a:pPr marL="625475" indent="-314325"/>
            <a:r>
              <a:rPr lang="en-AU" sz="2600" dirty="0"/>
              <a:t>Don’t use “I” in an essay.</a:t>
            </a:r>
          </a:p>
          <a:p>
            <a:pPr marL="625475" indent="-314325"/>
            <a:r>
              <a:rPr lang="en-AU" sz="2600" dirty="0"/>
              <a:t>Always use the active voice.</a:t>
            </a:r>
          </a:p>
          <a:p>
            <a:pPr marL="625475" indent="-314325"/>
            <a:r>
              <a:rPr lang="en-AU" sz="2600" dirty="0"/>
              <a:t>Don’t editorialise</a:t>
            </a:r>
          </a:p>
          <a:p>
            <a:pPr marL="0" indent="0">
              <a:buNone/>
            </a:pPr>
            <a:endParaRPr lang="en-AU" sz="2600" b="1" dirty="0"/>
          </a:p>
        </p:txBody>
      </p:sp>
      <p:pic>
        <p:nvPicPr>
          <p:cNvPr id="4" name="Content Placeholder 7" descr="A green and black megaphone&#10;&#10;Description automatically generated">
            <a:extLst>
              <a:ext uri="{FF2B5EF4-FFF2-40B4-BE49-F238E27FC236}">
                <a16:creationId xmlns:a16="http://schemas.microsoft.com/office/drawing/2014/main" id="{E38AEDDA-E5DE-A9EF-856C-7F5CB205F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8" b="97574" l="3319" r="96571">
                        <a14:foregroundMark x1="3429" y1="57384" x2="3429" y2="57384"/>
                        <a14:foregroundMark x1="44248" y1="97679" x2="44248" y2="97679"/>
                        <a14:foregroundMark x1="87500" y1="43038" x2="87500" y2="43038"/>
                        <a14:foregroundMark x1="96571" y1="45464" x2="96571" y2="45464"/>
                        <a14:foregroundMark x1="93695" y1="28270" x2="93695" y2="28270"/>
                        <a14:foregroundMark x1="84292" y1="16350" x2="84292" y2="16350"/>
                        <a14:foregroundMark x1="75996" y1="4008" x2="75996" y2="40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559" y="681037"/>
            <a:ext cx="1758241" cy="184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624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A0AA-5AC1-FB99-87DE-304B96B6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0B03-21D4-DDA3-A7F8-DB3F0EBD2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AU" sz="2600" b="1" dirty="0">
                <a:solidFill>
                  <a:srgbClr val="CF5F13"/>
                </a:solidFill>
              </a:rPr>
              <a:t>We need to explicitly teach the </a:t>
            </a:r>
            <a:r>
              <a:rPr lang="en-AU" sz="2600" b="1" i="1" dirty="0">
                <a:solidFill>
                  <a:srgbClr val="CF5F13"/>
                </a:solidFill>
              </a:rPr>
              <a:t>why</a:t>
            </a:r>
            <a:r>
              <a:rPr lang="en-AU" sz="2600" b="1" dirty="0">
                <a:solidFill>
                  <a:srgbClr val="CF5F13"/>
                </a:solidFill>
              </a:rPr>
              <a:t> behind these snippets</a:t>
            </a:r>
            <a:br>
              <a:rPr lang="en-AU" sz="2600" b="1" dirty="0">
                <a:solidFill>
                  <a:srgbClr val="CF5F13"/>
                </a:solidFill>
              </a:rPr>
            </a:br>
            <a:r>
              <a:rPr lang="en-AU" sz="2600" b="1" dirty="0">
                <a:solidFill>
                  <a:srgbClr val="CF5F13"/>
                </a:solidFill>
              </a:rPr>
              <a:t>of advice.</a:t>
            </a:r>
          </a:p>
          <a:p>
            <a:pPr marL="539750" indent="-315913"/>
            <a:r>
              <a:rPr lang="en-AU" sz="2600" dirty="0"/>
              <a:t>Who is the audience of this writing?</a:t>
            </a:r>
          </a:p>
          <a:p>
            <a:pPr marL="539750" indent="-315913"/>
            <a:r>
              <a:rPr lang="en-AU" sz="2600" dirty="0"/>
              <a:t>What does the audience already know, and what do they need to know?</a:t>
            </a:r>
          </a:p>
          <a:p>
            <a:pPr marL="539750" indent="-315913"/>
            <a:r>
              <a:rPr lang="en-AU" sz="2600" dirty="0"/>
              <a:t>What is your intention? What does this writing need to achieve?</a:t>
            </a:r>
          </a:p>
          <a:p>
            <a:endParaRPr lang="en-AU" sz="2600" b="1" dirty="0"/>
          </a:p>
          <a:p>
            <a:pPr marL="0" indent="0">
              <a:buNone/>
            </a:pPr>
            <a:r>
              <a:rPr lang="en-AU" sz="2600" b="1" dirty="0"/>
              <a:t>Other explicit teaching could involve:</a:t>
            </a:r>
          </a:p>
          <a:p>
            <a:pPr marL="539750" indent="-357188"/>
            <a:r>
              <a:rPr lang="en-AU" sz="2600" dirty="0"/>
              <a:t>Using modal words</a:t>
            </a:r>
          </a:p>
          <a:p>
            <a:pPr marL="539750" indent="-357188"/>
            <a:r>
              <a:rPr lang="en-AU" sz="2600" dirty="0"/>
              <a:t>Formal and casual registers</a:t>
            </a:r>
          </a:p>
          <a:p>
            <a:pPr marL="539750" indent="-357188"/>
            <a:r>
              <a:rPr lang="en-AU" sz="2600" dirty="0"/>
              <a:t>When to use clear and simple writing, and when to expand</a:t>
            </a:r>
          </a:p>
          <a:p>
            <a:pPr marL="539750" indent="-357188"/>
            <a:r>
              <a:rPr lang="en-AU" sz="2600" dirty="0"/>
              <a:t>How to analyse without value judgments</a:t>
            </a:r>
          </a:p>
        </p:txBody>
      </p:sp>
      <p:pic>
        <p:nvPicPr>
          <p:cNvPr id="5" name="Content Placeholder 7" descr="A green and black megaphone&#10;&#10;Description automatically generated">
            <a:extLst>
              <a:ext uri="{FF2B5EF4-FFF2-40B4-BE49-F238E27FC236}">
                <a16:creationId xmlns:a16="http://schemas.microsoft.com/office/drawing/2014/main" id="{DB23E40A-99FD-EBFF-6DE5-72F856394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8" b="97574" l="3319" r="96571">
                        <a14:foregroundMark x1="3429" y1="57384" x2="3429" y2="57384"/>
                        <a14:foregroundMark x1="44248" y1="97679" x2="44248" y2="97679"/>
                        <a14:foregroundMark x1="87500" y1="43038" x2="87500" y2="43038"/>
                        <a14:foregroundMark x1="96571" y1="45464" x2="96571" y2="45464"/>
                        <a14:foregroundMark x1="93695" y1="28270" x2="93695" y2="28270"/>
                        <a14:foregroundMark x1="84292" y1="16350" x2="84292" y2="16350"/>
                        <a14:foregroundMark x1="75996" y1="4008" x2="75996" y2="40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559" y="681037"/>
            <a:ext cx="1758241" cy="184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51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A0AA-5AC1-FB99-87DE-304B96B6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Word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0B03-21D4-DDA3-A7F8-DB3F0EBD2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600" dirty="0"/>
              <a:t>This connects closely with the subject knowledge that</a:t>
            </a:r>
            <a:br>
              <a:rPr lang="en-AU" sz="2600" dirty="0"/>
            </a:br>
            <a:r>
              <a:rPr lang="en-AU" sz="2600" dirty="0"/>
              <a:t>is already taught explicitly in the unit.</a:t>
            </a:r>
          </a:p>
          <a:p>
            <a:pPr marL="0" indent="0">
              <a:buNone/>
            </a:pPr>
            <a:r>
              <a:rPr lang="en-AU" sz="2600" b="1" dirty="0">
                <a:solidFill>
                  <a:srgbClr val="BB5611"/>
                </a:solidFill>
              </a:rPr>
              <a:t>Scaffolding at this stage is about reminding students of</a:t>
            </a:r>
            <a:br>
              <a:rPr lang="en-AU" sz="2600" b="1" dirty="0">
                <a:solidFill>
                  <a:srgbClr val="BB5611"/>
                </a:solidFill>
              </a:rPr>
            </a:br>
            <a:r>
              <a:rPr lang="en-AU" sz="2600" b="1" dirty="0">
                <a:solidFill>
                  <a:srgbClr val="BB5611"/>
                </a:solidFill>
              </a:rPr>
              <a:t>new words and giving them the opportunity to incorporate them into</a:t>
            </a:r>
            <a:br>
              <a:rPr lang="en-AU" sz="2600" b="1" dirty="0">
                <a:solidFill>
                  <a:srgbClr val="BB5611"/>
                </a:solidFill>
              </a:rPr>
            </a:br>
            <a:r>
              <a:rPr lang="en-AU" sz="2600" b="1" dirty="0">
                <a:solidFill>
                  <a:srgbClr val="BB5611"/>
                </a:solidFill>
              </a:rPr>
              <a:t>their writing.</a:t>
            </a:r>
          </a:p>
          <a:p>
            <a:pPr marL="0" indent="0">
              <a:buNone/>
            </a:pPr>
            <a:r>
              <a:rPr lang="en-AU" sz="2600" b="1" dirty="0">
                <a:hlinkClick r:id="rId2"/>
              </a:rPr>
              <a:t>How do we already do this in our LAs?</a:t>
            </a:r>
            <a:endParaRPr lang="en-AU" sz="2600" b="1" dirty="0"/>
          </a:p>
          <a:p>
            <a:pPr marL="539750" indent="-315913"/>
            <a:r>
              <a:rPr lang="en-AU" sz="2600" dirty="0"/>
              <a:t>Glossary building</a:t>
            </a:r>
          </a:p>
          <a:p>
            <a:pPr marL="539750" indent="-315913"/>
            <a:r>
              <a:rPr lang="en-AU" sz="2600" dirty="0"/>
              <a:t>Word walls</a:t>
            </a:r>
          </a:p>
          <a:p>
            <a:pPr marL="539750" indent="-315913"/>
            <a:r>
              <a:rPr lang="en-AU" sz="2600" dirty="0"/>
              <a:t>Modality and verb lists</a:t>
            </a:r>
          </a:p>
          <a:p>
            <a:pPr marL="539750" indent="-315913"/>
            <a:r>
              <a:rPr lang="en-AU" sz="2600" dirty="0"/>
              <a:t>Cloze exercises</a:t>
            </a:r>
          </a:p>
        </p:txBody>
      </p:sp>
      <p:pic>
        <p:nvPicPr>
          <p:cNvPr id="4" name="Content Placeholder 7" descr="A purple book with black letters&#10;&#10;Description automatically generated">
            <a:extLst>
              <a:ext uri="{FF2B5EF4-FFF2-40B4-BE49-F238E27FC236}">
                <a16:creationId xmlns:a16="http://schemas.microsoft.com/office/drawing/2014/main" id="{5577F1F4-69C7-2DDE-0C63-B92DA82CA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45" b="99579" l="898" r="98653">
                        <a14:foregroundMark x1="898" y1="22612" x2="20359" y2="12500"/>
                        <a14:foregroundMark x1="20359" y1="12500" x2="28293" y2="21208"/>
                        <a14:foregroundMark x1="28293" y1="21208" x2="26497" y2="39326"/>
                        <a14:foregroundMark x1="26497" y1="39326" x2="45060" y2="44522"/>
                        <a14:foregroundMark x1="45060" y1="44522" x2="35329" y2="62921"/>
                        <a14:foregroundMark x1="35329" y1="62921" x2="49251" y2="76264"/>
                        <a14:foregroundMark x1="49251" y1="76264" x2="13623" y2="84270"/>
                        <a14:foregroundMark x1="13623" y1="84270" x2="54491" y2="95927"/>
                        <a14:foregroundMark x1="54491" y1="95927" x2="82186" y2="95084"/>
                        <a14:foregroundMark x1="82186" y1="95084" x2="88501" y2="86234"/>
                        <a14:foregroundMark x1="94382" y1="73275" x2="93413" y2="54775"/>
                        <a14:foregroundMark x1="93413" y1="54775" x2="99551" y2="18539"/>
                        <a14:foregroundMark x1="99551" y1="18539" x2="86826" y2="4354"/>
                        <a14:foregroundMark x1="86826" y1="4354" x2="52395" y2="1404"/>
                        <a14:foregroundMark x1="52395" y1="1404" x2="6886" y2="7584"/>
                        <a14:foregroundMark x1="6886" y1="7584" x2="51198" y2="30056"/>
                        <a14:foregroundMark x1="51198" y1="30056" x2="64671" y2="22893"/>
                        <a14:foregroundMark x1="64671" y1="22893" x2="47156" y2="40449"/>
                        <a14:foregroundMark x1="47156" y1="40449" x2="38473" y2="69101"/>
                        <a14:foregroundMark x1="38473" y1="69101" x2="11527" y2="67416"/>
                        <a14:foregroundMark x1="11527" y1="67416" x2="2395" y2="55758"/>
                        <a14:foregroundMark x1="2395" y1="55758" x2="1347" y2="72472"/>
                        <a14:foregroundMark x1="1347" y1="72472" x2="9581" y2="89045"/>
                        <a14:foregroundMark x1="9581" y1="89045" x2="48353" y2="92697"/>
                        <a14:foregroundMark x1="48353" y1="92697" x2="79341" y2="82444"/>
                        <a14:foregroundMark x1="79341" y1="82444" x2="86078" y2="62781"/>
                        <a14:foregroundMark x1="86078" y1="62781" x2="85928" y2="23315"/>
                        <a14:foregroundMark x1="43263" y1="38904" x2="44910" y2="33427"/>
                        <a14:foregroundMark x1="43263" y1="27669" x2="45359" y2="41573"/>
                        <a14:foregroundMark x1="27096" y1="24298" x2="19461" y2="45787"/>
                        <a14:foregroundMark x1="19461" y1="45787" x2="27695" y2="43258"/>
                        <a14:foregroundMark x1="22006" y1="49719" x2="45958" y2="61236"/>
                        <a14:foregroundMark x1="22006" y1="28933" x2="17515" y2="15169"/>
                        <a14:foregroundMark x1="61527" y1="33848" x2="54341" y2="46348"/>
                        <a14:foregroundMark x1="54341" y1="46348" x2="69910" y2="55056"/>
                        <a14:foregroundMark x1="69910" y1="55056" x2="79192" y2="46067"/>
                        <a14:foregroundMark x1="79192" y1="46067" x2="74401" y2="33146"/>
                        <a14:foregroundMark x1="74401" y1="33146" x2="63174" y2="31882"/>
                        <a14:foregroundMark x1="63174" y1="31882" x2="56737" y2="34691"/>
                        <a14:foregroundMark x1="51796" y1="42416" x2="57186" y2="35253"/>
                        <a14:foregroundMark x1="70808" y1="37781" x2="68114" y2="47753"/>
                        <a14:foregroundMark x1="71856" y1="38062" x2="72605" y2="48596"/>
                        <a14:foregroundMark x1="77545" y1="49719" x2="77545" y2="49719"/>
                        <a14:foregroundMark x1="95808" y1="25140" x2="96707" y2="60955"/>
                        <a14:foregroundMark x1="96707" y1="60955" x2="84431" y2="89466"/>
                        <a14:foregroundMark x1="84431" y1="89466" x2="96707" y2="95927"/>
                        <a14:foregroundMark x1="98802" y1="36798" x2="98802" y2="36798"/>
                        <a14:foregroundMark x1="95509" y1="4073" x2="95509" y2="4073"/>
                        <a14:foregroundMark x1="88772" y1="1685" x2="88772" y2="1685"/>
                        <a14:foregroundMark x1="94012" y1="3230" x2="87425" y2="2107"/>
                        <a14:foregroundMark x1="97305" y1="6180" x2="98503" y2="11376"/>
                        <a14:foregroundMark x1="91098" y1="76352" x2="89970" y2="77669"/>
                        <a14:foregroundMark x1="97305" y1="69101" x2="92816" y2="74344"/>
                        <a14:foregroundMark x1="89311" y1="85910" x2="89072" y2="88904"/>
                        <a14:foregroundMark x1="89970" y1="77669" x2="89891" y2="78652"/>
                        <a14:foregroundMark x1="89072" y1="88904" x2="94012" y2="99157"/>
                        <a14:foregroundMark x1="94012" y1="99157" x2="86078" y2="95365"/>
                        <a14:foregroundMark x1="82335" y1="97893" x2="27096" y2="97612"/>
                        <a14:foregroundMark x1="27096" y1="97612" x2="10928" y2="91152"/>
                        <a14:foregroundMark x1="10928" y1="91152" x2="3443" y2="76124"/>
                        <a14:foregroundMark x1="3443" y1="76124" x2="4790" y2="12360"/>
                        <a14:foregroundMark x1="4790" y1="12360" x2="18563" y2="2949"/>
                        <a14:foregroundMark x1="18563" y1="2949" x2="57186" y2="1966"/>
                        <a14:foregroundMark x1="57186" y1="1966" x2="84880" y2="5056"/>
                        <a14:foregroundMark x1="84880" y1="5056" x2="94611" y2="21489"/>
                        <a14:foregroundMark x1="94611" y1="21489" x2="96407" y2="60674"/>
                        <a14:foregroundMark x1="96407" y1="60674" x2="93862" y2="71770"/>
                        <a14:foregroundMark x1="90890" y1="76286" x2="87575" y2="81320"/>
                        <a14:foregroundMark x1="93862" y1="71770" x2="92253" y2="74215"/>
                        <a14:foregroundMark x1="87533" y1="85024" x2="87425" y2="94522"/>
                        <a14:foregroundMark x1="87575" y1="81320" x2="87537" y2="84696"/>
                        <a14:foregroundMark x1="87425" y1="94522" x2="82036" y2="99719"/>
                        <a14:foregroundMark x1="75449" y1="90028" x2="49102" y2="53652"/>
                        <a14:foregroundMark x1="73204" y1="72051" x2="61976" y2="73315"/>
                        <a14:foregroundMark x1="61976" y1="73315" x2="43114" y2="69242"/>
                        <a14:foregroundMark x1="43114" y1="69242" x2="10329" y2="72893"/>
                        <a14:foregroundMark x1="10329" y1="72893" x2="6737" y2="80478"/>
                        <a14:foregroundMark x1="58383" y1="76124" x2="22754" y2="77949"/>
                        <a14:foregroundMark x1="17814" y1="78230" x2="6138" y2="83567"/>
                        <a14:foregroundMark x1="6138" y1="83567" x2="7784" y2="95506"/>
                        <a14:foregroundMark x1="7784" y1="95506" x2="21108" y2="99719"/>
                        <a14:foregroundMark x1="21108" y1="99719" x2="21108" y2="99719"/>
                        <a14:foregroundMark x1="4940" y1="88343" x2="4940" y2="88343"/>
                        <a14:foregroundMark x1="3892" y1="87781" x2="3892" y2="87781"/>
                        <a14:foregroundMark x1="1946" y1="81742" x2="6287" y2="89185"/>
                        <a14:foregroundMark x1="46407" y1="84129" x2="79341" y2="74157"/>
                        <a14:foregroundMark x1="62874" y1="83006" x2="34880" y2="81601"/>
                        <a14:foregroundMark x1="36677" y1="86798" x2="70808" y2="82022"/>
                        <a14:foregroundMark x1="34431" y1="84551" x2="34431" y2="84551"/>
                        <a14:foregroundMark x1="31138" y1="83287" x2="35180" y2="82865"/>
                        <a14:foregroundMark x1="29491" y1="83848" x2="32934" y2="90449"/>
                        <a14:foregroundMark x1="66317" y1="92978" x2="81138" y2="84551"/>
                        <a14:foregroundMark x1="80689" y1="86798" x2="78892" y2="96770"/>
                        <a14:foregroundMark x1="77246" y1="77528" x2="77246" y2="77528"/>
                        <a14:foregroundMark x1="1946" y1="28933" x2="1946" y2="28933"/>
                        <a14:foregroundMark x1="1497" y1="28933" x2="898" y2="57303"/>
                        <a14:foregroundMark x1="63772" y1="91292" x2="61826" y2="91994"/>
                        <a14:foregroundMark x1="43114" y1="91152" x2="52545" y2="90309"/>
                        <a14:foregroundMark x1="72754" y1="81320" x2="84581" y2="73174"/>
                        <a14:backgroundMark x1="93263" y1="78652" x2="93263" y2="78652"/>
                        <a14:backgroundMark x1="93263" y1="78652" x2="93263" y2="82022"/>
                        <a14:backgroundMark x1="90569" y1="82865" x2="92365" y2="85112"/>
                        <a14:backgroundMark x1="94910" y1="76685" x2="94461" y2="79213"/>
                        <a14:backgroundMark x1="94461" y1="75843" x2="94461" y2="75843"/>
                        <a14:backgroundMark x1="94461" y1="76545" x2="95958" y2="75421"/>
                        <a14:backgroundMark x1="92216" y1="81601" x2="92365" y2="85815"/>
                        <a14:backgroundMark x1="92216" y1="76685" x2="94461" y2="75702"/>
                        <a14:backgroundMark x1="95060" y1="74860" x2="94461" y2="771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309" y="400451"/>
            <a:ext cx="2049491" cy="218612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97608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A0AA-5AC1-FB99-87DE-304B96B6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Word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0B03-21D4-DDA3-A7F8-DB3F0EBD2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600" dirty="0"/>
              <a:t>What kinds of problems do you find in student writing</a:t>
            </a:r>
            <a:br>
              <a:rPr lang="en-AU" sz="2600" dirty="0"/>
            </a:br>
            <a:r>
              <a:rPr lang="en-AU" sz="2600" dirty="0"/>
              <a:t>when it comes to their choice of words?</a:t>
            </a:r>
          </a:p>
          <a:p>
            <a:pPr marL="0" indent="0">
              <a:buNone/>
            </a:pPr>
            <a:endParaRPr lang="en-AU" sz="2600" b="1" dirty="0"/>
          </a:p>
          <a:p>
            <a:pPr marL="0" indent="0">
              <a:buNone/>
            </a:pPr>
            <a:r>
              <a:rPr lang="en-AU" sz="2600" b="1" dirty="0"/>
              <a:t>Other scaffolds might include:</a:t>
            </a:r>
          </a:p>
          <a:p>
            <a:pPr marL="539750" indent="-357188"/>
            <a:r>
              <a:rPr lang="en-AU" sz="2600" dirty="0"/>
              <a:t>Re-writing tasks</a:t>
            </a:r>
          </a:p>
          <a:p>
            <a:pPr marL="539750" indent="-357188"/>
            <a:r>
              <a:rPr lang="en-AU" sz="2600" dirty="0"/>
              <a:t>“Write-like” or emulation tasks</a:t>
            </a:r>
          </a:p>
          <a:p>
            <a:pPr marL="539750" indent="-357188"/>
            <a:r>
              <a:rPr lang="en-AU" sz="2600" dirty="0"/>
              <a:t>Word games</a:t>
            </a:r>
          </a:p>
          <a:p>
            <a:pPr marL="539750" indent="-357188"/>
            <a:r>
              <a:rPr lang="en-AU" sz="2600" dirty="0"/>
              <a:t>Word bank chart</a:t>
            </a:r>
          </a:p>
        </p:txBody>
      </p:sp>
      <p:pic>
        <p:nvPicPr>
          <p:cNvPr id="4" name="Content Placeholder 7" descr="A purple book with black letters&#10;&#10;Description automatically generated">
            <a:extLst>
              <a:ext uri="{FF2B5EF4-FFF2-40B4-BE49-F238E27FC236}">
                <a16:creationId xmlns:a16="http://schemas.microsoft.com/office/drawing/2014/main" id="{5577F1F4-69C7-2DDE-0C63-B92DA82CA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545" b="99579" l="898" r="98653">
                        <a14:foregroundMark x1="898" y1="22612" x2="20359" y2="12500"/>
                        <a14:foregroundMark x1="20359" y1="12500" x2="28293" y2="21208"/>
                        <a14:foregroundMark x1="28293" y1="21208" x2="26497" y2="39326"/>
                        <a14:foregroundMark x1="26497" y1="39326" x2="45060" y2="44522"/>
                        <a14:foregroundMark x1="45060" y1="44522" x2="35329" y2="62921"/>
                        <a14:foregroundMark x1="35329" y1="62921" x2="49251" y2="76264"/>
                        <a14:foregroundMark x1="49251" y1="76264" x2="13623" y2="84270"/>
                        <a14:foregroundMark x1="13623" y1="84270" x2="54491" y2="95927"/>
                        <a14:foregroundMark x1="54491" y1="95927" x2="82186" y2="95084"/>
                        <a14:foregroundMark x1="82186" y1="95084" x2="88501" y2="86234"/>
                        <a14:foregroundMark x1="94382" y1="73275" x2="93413" y2="54775"/>
                        <a14:foregroundMark x1="93413" y1="54775" x2="99551" y2="18539"/>
                        <a14:foregroundMark x1="99551" y1="18539" x2="86826" y2="4354"/>
                        <a14:foregroundMark x1="86826" y1="4354" x2="52395" y2="1404"/>
                        <a14:foregroundMark x1="52395" y1="1404" x2="6886" y2="7584"/>
                        <a14:foregroundMark x1="6886" y1="7584" x2="51198" y2="30056"/>
                        <a14:foregroundMark x1="51198" y1="30056" x2="64671" y2="22893"/>
                        <a14:foregroundMark x1="64671" y1="22893" x2="47156" y2="40449"/>
                        <a14:foregroundMark x1="47156" y1="40449" x2="38473" y2="69101"/>
                        <a14:foregroundMark x1="38473" y1="69101" x2="11527" y2="67416"/>
                        <a14:foregroundMark x1="11527" y1="67416" x2="2395" y2="55758"/>
                        <a14:foregroundMark x1="2395" y1="55758" x2="1347" y2="72472"/>
                        <a14:foregroundMark x1="1347" y1="72472" x2="9581" y2="89045"/>
                        <a14:foregroundMark x1="9581" y1="89045" x2="48353" y2="92697"/>
                        <a14:foregroundMark x1="48353" y1="92697" x2="79341" y2="82444"/>
                        <a14:foregroundMark x1="79341" y1="82444" x2="86078" y2="62781"/>
                        <a14:foregroundMark x1="86078" y1="62781" x2="85928" y2="23315"/>
                        <a14:foregroundMark x1="43263" y1="38904" x2="44910" y2="33427"/>
                        <a14:foregroundMark x1="43263" y1="27669" x2="45359" y2="41573"/>
                        <a14:foregroundMark x1="27096" y1="24298" x2="19461" y2="45787"/>
                        <a14:foregroundMark x1="19461" y1="45787" x2="27695" y2="43258"/>
                        <a14:foregroundMark x1="22006" y1="49719" x2="45958" y2="61236"/>
                        <a14:foregroundMark x1="22006" y1="28933" x2="17515" y2="15169"/>
                        <a14:foregroundMark x1="61527" y1="33848" x2="54341" y2="46348"/>
                        <a14:foregroundMark x1="54341" y1="46348" x2="69910" y2="55056"/>
                        <a14:foregroundMark x1="69910" y1="55056" x2="79192" y2="46067"/>
                        <a14:foregroundMark x1="79192" y1="46067" x2="74401" y2="33146"/>
                        <a14:foregroundMark x1="74401" y1="33146" x2="63174" y2="31882"/>
                        <a14:foregroundMark x1="63174" y1="31882" x2="56737" y2="34691"/>
                        <a14:foregroundMark x1="51796" y1="42416" x2="57186" y2="35253"/>
                        <a14:foregroundMark x1="70808" y1="37781" x2="68114" y2="47753"/>
                        <a14:foregroundMark x1="71856" y1="38062" x2="72605" y2="48596"/>
                        <a14:foregroundMark x1="77545" y1="49719" x2="77545" y2="49719"/>
                        <a14:foregroundMark x1="95808" y1="25140" x2="96707" y2="60955"/>
                        <a14:foregroundMark x1="96707" y1="60955" x2="84431" y2="89466"/>
                        <a14:foregroundMark x1="84431" y1="89466" x2="96707" y2="95927"/>
                        <a14:foregroundMark x1="98802" y1="36798" x2="98802" y2="36798"/>
                        <a14:foregroundMark x1="95509" y1="4073" x2="95509" y2="4073"/>
                        <a14:foregroundMark x1="88772" y1="1685" x2="88772" y2="1685"/>
                        <a14:foregroundMark x1="94012" y1="3230" x2="87425" y2="2107"/>
                        <a14:foregroundMark x1="97305" y1="6180" x2="98503" y2="11376"/>
                        <a14:foregroundMark x1="91098" y1="76352" x2="89970" y2="77669"/>
                        <a14:foregroundMark x1="97305" y1="69101" x2="92816" y2="74344"/>
                        <a14:foregroundMark x1="89311" y1="85910" x2="89072" y2="88904"/>
                        <a14:foregroundMark x1="89970" y1="77669" x2="89891" y2="78652"/>
                        <a14:foregroundMark x1="89072" y1="88904" x2="94012" y2="99157"/>
                        <a14:foregroundMark x1="94012" y1="99157" x2="86078" y2="95365"/>
                        <a14:foregroundMark x1="82335" y1="97893" x2="27096" y2="97612"/>
                        <a14:foregroundMark x1="27096" y1="97612" x2="10928" y2="91152"/>
                        <a14:foregroundMark x1="10928" y1="91152" x2="3443" y2="76124"/>
                        <a14:foregroundMark x1="3443" y1="76124" x2="4790" y2="12360"/>
                        <a14:foregroundMark x1="4790" y1="12360" x2="18563" y2="2949"/>
                        <a14:foregroundMark x1="18563" y1="2949" x2="57186" y2="1966"/>
                        <a14:foregroundMark x1="57186" y1="1966" x2="84880" y2="5056"/>
                        <a14:foregroundMark x1="84880" y1="5056" x2="94611" y2="21489"/>
                        <a14:foregroundMark x1="94611" y1="21489" x2="96407" y2="60674"/>
                        <a14:foregroundMark x1="96407" y1="60674" x2="93862" y2="71770"/>
                        <a14:foregroundMark x1="90890" y1="76286" x2="87575" y2="81320"/>
                        <a14:foregroundMark x1="93862" y1="71770" x2="92253" y2="74215"/>
                        <a14:foregroundMark x1="87533" y1="85024" x2="87425" y2="94522"/>
                        <a14:foregroundMark x1="87575" y1="81320" x2="87537" y2="84696"/>
                        <a14:foregroundMark x1="87425" y1="94522" x2="82036" y2="99719"/>
                        <a14:foregroundMark x1="75449" y1="90028" x2="49102" y2="53652"/>
                        <a14:foregroundMark x1="73204" y1="72051" x2="61976" y2="73315"/>
                        <a14:foregroundMark x1="61976" y1="73315" x2="43114" y2="69242"/>
                        <a14:foregroundMark x1="43114" y1="69242" x2="10329" y2="72893"/>
                        <a14:foregroundMark x1="10329" y1="72893" x2="6737" y2="80478"/>
                        <a14:foregroundMark x1="58383" y1="76124" x2="22754" y2="77949"/>
                        <a14:foregroundMark x1="17814" y1="78230" x2="6138" y2="83567"/>
                        <a14:foregroundMark x1="6138" y1="83567" x2="7784" y2="95506"/>
                        <a14:foregroundMark x1="7784" y1="95506" x2="21108" y2="99719"/>
                        <a14:foregroundMark x1="21108" y1="99719" x2="21108" y2="99719"/>
                        <a14:foregroundMark x1="4940" y1="88343" x2="4940" y2="88343"/>
                        <a14:foregroundMark x1="3892" y1="87781" x2="3892" y2="87781"/>
                        <a14:foregroundMark x1="1946" y1="81742" x2="6287" y2="89185"/>
                        <a14:foregroundMark x1="46407" y1="84129" x2="79341" y2="74157"/>
                        <a14:foregroundMark x1="62874" y1="83006" x2="34880" y2="81601"/>
                        <a14:foregroundMark x1="36677" y1="86798" x2="70808" y2="82022"/>
                        <a14:foregroundMark x1="34431" y1="84551" x2="34431" y2="84551"/>
                        <a14:foregroundMark x1="31138" y1="83287" x2="35180" y2="82865"/>
                        <a14:foregroundMark x1="29491" y1="83848" x2="32934" y2="90449"/>
                        <a14:foregroundMark x1="66317" y1="92978" x2="81138" y2="84551"/>
                        <a14:foregroundMark x1="80689" y1="86798" x2="78892" y2="96770"/>
                        <a14:foregroundMark x1="77246" y1="77528" x2="77246" y2="77528"/>
                        <a14:foregroundMark x1="1946" y1="28933" x2="1946" y2="28933"/>
                        <a14:foregroundMark x1="1497" y1="28933" x2="898" y2="57303"/>
                        <a14:foregroundMark x1="63772" y1="91292" x2="61826" y2="91994"/>
                        <a14:foregroundMark x1="43114" y1="91152" x2="52545" y2="90309"/>
                        <a14:foregroundMark x1="72754" y1="81320" x2="84581" y2="73174"/>
                        <a14:backgroundMark x1="93263" y1="78652" x2="93263" y2="78652"/>
                        <a14:backgroundMark x1="93263" y1="78652" x2="93263" y2="82022"/>
                        <a14:backgroundMark x1="90569" y1="82865" x2="92365" y2="85112"/>
                        <a14:backgroundMark x1="94910" y1="76685" x2="94461" y2="79213"/>
                        <a14:backgroundMark x1="94461" y1="75843" x2="94461" y2="75843"/>
                        <a14:backgroundMark x1="94461" y1="76545" x2="95958" y2="75421"/>
                        <a14:backgroundMark x1="92216" y1="81601" x2="92365" y2="85815"/>
                        <a14:backgroundMark x1="92216" y1="76685" x2="94461" y2="75702"/>
                        <a14:backgroundMark x1="95060" y1="74860" x2="94461" y2="771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309" y="400451"/>
            <a:ext cx="2049491" cy="218612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95229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A0AA-5AC1-FB99-87DE-304B96B6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Sentence Fluency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0B03-21D4-DDA3-A7F8-DB3F0EBD2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600" dirty="0"/>
              <a:t>This is where the most work needs to be done, not just for</a:t>
            </a:r>
            <a:br>
              <a:rPr lang="en-AU" sz="2600" dirty="0"/>
            </a:br>
            <a:r>
              <a:rPr lang="en-AU" sz="2600" dirty="0"/>
              <a:t>students, but also for us as instructors.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600" dirty="0"/>
              <a:t>Students need to be able to write with clarity and for different </a:t>
            </a:r>
            <a:br>
              <a:rPr lang="en-AU" sz="2600" dirty="0"/>
            </a:br>
            <a:r>
              <a:rPr lang="en-AU" sz="2600" dirty="0"/>
              <a:t>audiences and purposes.</a:t>
            </a:r>
          </a:p>
          <a:p>
            <a:pPr marL="0" indent="0">
              <a:buNone/>
            </a:pPr>
            <a:r>
              <a:rPr lang="en-AU" sz="2600" b="1" dirty="0">
                <a:solidFill>
                  <a:srgbClr val="CF5F13"/>
                </a:solidFill>
              </a:rPr>
              <a:t>We need to eventually get to a point where we all understand and can explicitly teach:</a:t>
            </a:r>
          </a:p>
          <a:p>
            <a:pPr marL="625475" indent="-355600"/>
            <a:r>
              <a:rPr lang="en-AU" sz="2600" dirty="0"/>
              <a:t>Subject, verb and object</a:t>
            </a:r>
          </a:p>
          <a:p>
            <a:pPr marL="625475" indent="-355600"/>
            <a:r>
              <a:rPr lang="en-AU" sz="2600" dirty="0"/>
              <a:t>Dependent and independent clauses</a:t>
            </a:r>
          </a:p>
          <a:p>
            <a:pPr marL="625475" indent="-355600"/>
            <a:r>
              <a:rPr lang="en-AU" sz="2600" dirty="0"/>
              <a:t>Conjunctions</a:t>
            </a:r>
          </a:p>
          <a:p>
            <a:pPr marL="625475" indent="-355600"/>
            <a:r>
              <a:rPr lang="en-AU" sz="2600" dirty="0"/>
              <a:t>Simple, compound and complex sentences</a:t>
            </a:r>
          </a:p>
        </p:txBody>
      </p:sp>
      <p:pic>
        <p:nvPicPr>
          <p:cNvPr id="5" name="Content Placeholder 7" descr="A notepad with a pen&#10;&#10;Description automatically generated">
            <a:extLst>
              <a:ext uri="{FF2B5EF4-FFF2-40B4-BE49-F238E27FC236}">
                <a16:creationId xmlns:a16="http://schemas.microsoft.com/office/drawing/2014/main" id="{FFE5EEB1-9D69-4D08-2431-19D64155EB7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4128" y="758497"/>
            <a:ext cx="1604920" cy="187709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27278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A0AA-5AC1-FB99-87DE-304B96B6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Sentence Fluency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0B03-21D4-DDA3-A7F8-DB3F0EBD2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AU" sz="2600" dirty="0"/>
              <a:t>This will be a long-term goal, not a short-term stressor!</a:t>
            </a:r>
          </a:p>
          <a:p>
            <a:pPr marL="0" indent="0">
              <a:buNone/>
            </a:pPr>
            <a:r>
              <a:rPr lang="en-AU" sz="2600" b="1" dirty="0">
                <a:solidFill>
                  <a:srgbClr val="CF5F13"/>
                </a:solidFill>
              </a:rPr>
              <a:t>Common language will eventually include:</a:t>
            </a:r>
          </a:p>
          <a:p>
            <a:pPr marL="539750" indent="-357188"/>
            <a:r>
              <a:rPr lang="en-AU" sz="2600" dirty="0"/>
              <a:t>Subject, verb, object</a:t>
            </a:r>
          </a:p>
          <a:p>
            <a:pPr marL="539750" indent="-357188"/>
            <a:r>
              <a:rPr lang="en-AU" sz="2600" dirty="0"/>
              <a:t>Noun group and nominalisation</a:t>
            </a:r>
          </a:p>
          <a:p>
            <a:pPr marL="539750" indent="-357188"/>
            <a:r>
              <a:rPr lang="en-AU" sz="2600" dirty="0"/>
              <a:t>Process, circumstantial phrase</a:t>
            </a:r>
          </a:p>
          <a:p>
            <a:pPr marL="539750" indent="-357188">
              <a:spcAft>
                <a:spcPts val="1200"/>
              </a:spcAft>
            </a:pPr>
            <a:r>
              <a:rPr lang="en-AU" sz="2600" dirty="0"/>
              <a:t>Simple, compound, complex sentences</a:t>
            </a:r>
          </a:p>
          <a:p>
            <a:pPr marL="0" indent="0">
              <a:buNone/>
            </a:pPr>
            <a:r>
              <a:rPr lang="en-AU" sz="2600" b="1" dirty="0"/>
              <a:t>For now, scaffolds might include:</a:t>
            </a:r>
          </a:p>
          <a:p>
            <a:pPr marL="539750" indent="-357188"/>
            <a:r>
              <a:rPr lang="en-AU" sz="2600" dirty="0"/>
              <a:t>Cut-up sentences</a:t>
            </a:r>
          </a:p>
          <a:p>
            <a:pPr marL="539750" indent="-357188"/>
            <a:r>
              <a:rPr lang="en-AU" sz="2600" dirty="0"/>
              <a:t>Write-like tasks</a:t>
            </a:r>
          </a:p>
          <a:p>
            <a:pPr marL="539750" indent="-357188"/>
            <a:r>
              <a:rPr lang="en-AU" sz="2600" dirty="0"/>
              <a:t>Sentence starters that use a variety of noun groups</a:t>
            </a:r>
          </a:p>
          <a:p>
            <a:pPr marL="539750" indent="-357188"/>
            <a:r>
              <a:rPr lang="en-AU" sz="2600" dirty="0"/>
              <a:t>Posters, reminders and guides</a:t>
            </a:r>
          </a:p>
        </p:txBody>
      </p:sp>
      <p:pic>
        <p:nvPicPr>
          <p:cNvPr id="5" name="Content Placeholder 7" descr="A notepad with a pen&#10;&#10;Description automatically generated">
            <a:extLst>
              <a:ext uri="{FF2B5EF4-FFF2-40B4-BE49-F238E27FC236}">
                <a16:creationId xmlns:a16="http://schemas.microsoft.com/office/drawing/2014/main" id="{B51E4DB2-D69D-ADCD-79F4-CF9A43A979F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4128" y="758497"/>
            <a:ext cx="1604920" cy="187709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17395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A7E8-496F-834F-39B7-E3AD996E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E531E-0736-D1D1-0334-E2ADEE1ED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AU" sz="2600" dirty="0"/>
              <a:t>How do we explicitly teach or embed the process of</a:t>
            </a:r>
            <a:br>
              <a:rPr lang="en-AU" sz="2600" dirty="0"/>
            </a:br>
            <a:r>
              <a:rPr lang="en-AU" sz="2600" dirty="0"/>
              <a:t>editing, revising and proofreading?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600" dirty="0"/>
              <a:t>Do we teach and model expectations around what finished texts</a:t>
            </a:r>
            <a:br>
              <a:rPr lang="en-AU" sz="2600" dirty="0"/>
            </a:br>
            <a:r>
              <a:rPr lang="en-AU" sz="2600" dirty="0"/>
              <a:t>should look like on the page?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600" dirty="0"/>
              <a:t>Do we explicitly teach spelling of new subject-specific vocabulary?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600" dirty="0"/>
              <a:t>Do students learn how to use software to present texts?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600" b="1" dirty="0">
                <a:hlinkClick r:id="rId2"/>
              </a:rPr>
              <a:t>What do you already include in your tasks?</a:t>
            </a:r>
            <a:endParaRPr lang="en-AU" sz="2600" b="1" dirty="0"/>
          </a:p>
        </p:txBody>
      </p:sp>
      <p:pic>
        <p:nvPicPr>
          <p:cNvPr id="5" name="Content Placeholder 7" descr="A magnifying glass over a spiral notebook&#10;&#10;Description automatically generated">
            <a:extLst>
              <a:ext uri="{FF2B5EF4-FFF2-40B4-BE49-F238E27FC236}">
                <a16:creationId xmlns:a16="http://schemas.microsoft.com/office/drawing/2014/main" id="{F4593635-3577-C44A-596C-D7DC66DAA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4" b="99862" l="1777" r="96701">
                        <a14:foregroundMark x1="18782" y1="6906" x2="18782" y2="6906"/>
                        <a14:foregroundMark x1="7360" y1="6630" x2="7360" y2="6630"/>
                        <a14:foregroundMark x1="14975" y1="5663" x2="11802" y2="85497"/>
                        <a14:foregroundMark x1="11802" y1="85497" x2="6472" y2="95718"/>
                        <a14:foregroundMark x1="6472" y1="95718" x2="6472" y2="95718"/>
                        <a14:foregroundMark x1="6218" y1="2901" x2="54695" y2="6630"/>
                        <a14:foregroundMark x1="54695" y1="6630" x2="68147" y2="19199"/>
                        <a14:foregroundMark x1="68147" y1="19199" x2="70812" y2="96961"/>
                        <a14:foregroundMark x1="70812" y1="96961" x2="53680" y2="95028"/>
                        <a14:foregroundMark x1="53680" y1="95028" x2="39848" y2="99171"/>
                        <a14:foregroundMark x1="39848" y1="99171" x2="6599" y2="96961"/>
                        <a14:foregroundMark x1="6599" y1="96961" x2="3553" y2="98895"/>
                        <a14:foregroundMark x1="83249" y1="64641" x2="83249" y2="64641"/>
                        <a14:foregroundMark x1="97081" y1="84530" x2="87056" y2="77348"/>
                        <a14:foregroundMark x1="87056" y1="77348" x2="79442" y2="63260"/>
                        <a14:foregroundMark x1="79442" y1="63260" x2="97208" y2="80387"/>
                        <a14:foregroundMark x1="97208" y1="80387" x2="94670" y2="86188"/>
                        <a14:foregroundMark x1="25635" y1="22376" x2="24239" y2="39917"/>
                        <a14:foregroundMark x1="24239" y1="39917" x2="32107" y2="72099"/>
                        <a14:foregroundMark x1="32107" y1="72099" x2="43401" y2="73066"/>
                        <a14:foregroundMark x1="43401" y1="73066" x2="59772" y2="24309"/>
                        <a14:foregroundMark x1="59772" y1="24309" x2="58503" y2="20304"/>
                        <a14:foregroundMark x1="63832" y1="63950" x2="40990" y2="79282"/>
                        <a14:foregroundMark x1="40990" y1="79282" x2="23223" y2="81630"/>
                        <a14:foregroundMark x1="23223" y1="81630" x2="14213" y2="73204"/>
                        <a14:foregroundMark x1="14213" y1="73204" x2="6726" y2="58840"/>
                        <a14:foregroundMark x1="6726" y1="58840" x2="6726" y2="18232"/>
                        <a14:foregroundMark x1="44289" y1="82182" x2="44289" y2="82182"/>
                        <a14:foregroundMark x1="35787" y1="50276" x2="42766" y2="48066"/>
                        <a14:foregroundMark x1="55330" y1="83011" x2="28807" y2="79972"/>
                        <a14:foregroundMark x1="4949" y1="1519" x2="41117" y2="5249"/>
                        <a14:foregroundMark x1="41117" y1="5249" x2="58122" y2="3315"/>
                        <a14:foregroundMark x1="58122" y1="3315" x2="68782" y2="5249"/>
                        <a14:foregroundMark x1="68782" y1="5249" x2="69416" y2="16575"/>
                        <a14:foregroundMark x1="72970" y1="27624" x2="74873" y2="32459"/>
                        <a14:foregroundMark x1="1777" y1="16989" x2="1777" y2="16989"/>
                        <a14:foregroundMark x1="71320" y1="72514" x2="71320" y2="72514"/>
                        <a14:foregroundMark x1="71701" y1="59807" x2="71066" y2="82735"/>
                        <a14:foregroundMark x1="71701" y1="82735" x2="71827" y2="95442"/>
                        <a14:foregroundMark x1="71827" y1="95442" x2="61675" y2="99448"/>
                        <a14:foregroundMark x1="61675" y1="99448" x2="6218" y2="99862"/>
                        <a14:foregroundMark x1="6218" y1="99862" x2="6218" y2="99862"/>
                        <a14:foregroundMark x1="3934" y1="92956" x2="3680" y2="79282"/>
                        <a14:foregroundMark x1="8249" y1="1105" x2="52665" y2="414"/>
                        <a14:foregroundMark x1="72208" y1="23066" x2="71701" y2="323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104" y="547210"/>
            <a:ext cx="2240133" cy="206092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28597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A7E8-496F-834F-39B7-E3AD996E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E531E-0736-D1D1-0334-E2ADEE1ED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600" b="1" dirty="0">
                <a:solidFill>
                  <a:srgbClr val="CF5F13"/>
                </a:solidFill>
              </a:rPr>
              <a:t>Common understandings to aim for:</a:t>
            </a:r>
          </a:p>
          <a:p>
            <a:pPr marL="625475"/>
            <a:r>
              <a:rPr lang="en-AU" sz="2600" dirty="0"/>
              <a:t>The drafting process (“draft” as a verb, not a noun)</a:t>
            </a:r>
          </a:p>
          <a:p>
            <a:pPr marL="625475"/>
            <a:r>
              <a:rPr lang="en-AU" sz="2600" dirty="0"/>
              <a:t>“No excuses” writing (capital letters, boundary punctuation,</a:t>
            </a:r>
            <a:br>
              <a:rPr lang="en-AU" sz="2600" dirty="0"/>
            </a:br>
            <a:r>
              <a:rPr lang="en-AU" sz="2600" dirty="0"/>
              <a:t>apostrophes)</a:t>
            </a:r>
          </a:p>
          <a:p>
            <a:pPr marL="625475">
              <a:spcAft>
                <a:spcPts val="1200"/>
              </a:spcAft>
            </a:pPr>
            <a:r>
              <a:rPr lang="en-AU" sz="2600" dirty="0"/>
              <a:t>Paragraphing</a:t>
            </a:r>
          </a:p>
          <a:p>
            <a:pPr marL="0" indent="0">
              <a:buNone/>
            </a:pPr>
            <a:r>
              <a:rPr lang="en-AU" sz="2600" b="1" dirty="0"/>
              <a:t>Other scaffolds might include:</a:t>
            </a:r>
            <a:endParaRPr lang="en-AU" sz="2600" dirty="0"/>
          </a:p>
          <a:p>
            <a:pPr marL="625475" indent="-269875"/>
            <a:r>
              <a:rPr lang="en-AU" sz="2600" dirty="0"/>
              <a:t>Checklists</a:t>
            </a:r>
          </a:p>
          <a:p>
            <a:pPr marL="625475" indent="-269875"/>
            <a:r>
              <a:rPr lang="en-AU" sz="2600" dirty="0"/>
              <a:t>Peer editing and workshopping</a:t>
            </a:r>
          </a:p>
          <a:p>
            <a:pPr marL="625475" indent="-269875"/>
            <a:r>
              <a:rPr lang="en-AU" sz="2600" dirty="0"/>
              <a:t>Visual reminders and guides</a:t>
            </a:r>
          </a:p>
        </p:txBody>
      </p:sp>
      <p:pic>
        <p:nvPicPr>
          <p:cNvPr id="5" name="Content Placeholder 7" descr="A magnifying glass over a spiral notebook&#10;&#10;Description automatically generated">
            <a:extLst>
              <a:ext uri="{FF2B5EF4-FFF2-40B4-BE49-F238E27FC236}">
                <a16:creationId xmlns:a16="http://schemas.microsoft.com/office/drawing/2014/main" id="{A308C6A4-CDFA-02E9-9F9E-AACE97BF4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14" b="99862" l="1777" r="96701">
                        <a14:foregroundMark x1="18782" y1="6906" x2="18782" y2="6906"/>
                        <a14:foregroundMark x1="7360" y1="6630" x2="7360" y2="6630"/>
                        <a14:foregroundMark x1="14975" y1="5663" x2="11802" y2="85497"/>
                        <a14:foregroundMark x1="11802" y1="85497" x2="6472" y2="95718"/>
                        <a14:foregroundMark x1="6472" y1="95718" x2="6472" y2="95718"/>
                        <a14:foregroundMark x1="6218" y1="2901" x2="54695" y2="6630"/>
                        <a14:foregroundMark x1="54695" y1="6630" x2="68147" y2="19199"/>
                        <a14:foregroundMark x1="68147" y1="19199" x2="70812" y2="96961"/>
                        <a14:foregroundMark x1="70812" y1="96961" x2="53680" y2="95028"/>
                        <a14:foregroundMark x1="53680" y1="95028" x2="39848" y2="99171"/>
                        <a14:foregroundMark x1="39848" y1="99171" x2="6599" y2="96961"/>
                        <a14:foregroundMark x1="6599" y1="96961" x2="3553" y2="98895"/>
                        <a14:foregroundMark x1="83249" y1="64641" x2="83249" y2="64641"/>
                        <a14:foregroundMark x1="97081" y1="84530" x2="87056" y2="77348"/>
                        <a14:foregroundMark x1="87056" y1="77348" x2="79442" y2="63260"/>
                        <a14:foregroundMark x1="79442" y1="63260" x2="97208" y2="80387"/>
                        <a14:foregroundMark x1="97208" y1="80387" x2="94670" y2="86188"/>
                        <a14:foregroundMark x1="25635" y1="22376" x2="24239" y2="39917"/>
                        <a14:foregroundMark x1="24239" y1="39917" x2="32107" y2="72099"/>
                        <a14:foregroundMark x1="32107" y1="72099" x2="43401" y2="73066"/>
                        <a14:foregroundMark x1="43401" y1="73066" x2="59772" y2="24309"/>
                        <a14:foregroundMark x1="59772" y1="24309" x2="58503" y2="20304"/>
                        <a14:foregroundMark x1="63832" y1="63950" x2="40990" y2="79282"/>
                        <a14:foregroundMark x1="40990" y1="79282" x2="23223" y2="81630"/>
                        <a14:foregroundMark x1="23223" y1="81630" x2="14213" y2="73204"/>
                        <a14:foregroundMark x1="14213" y1="73204" x2="6726" y2="58840"/>
                        <a14:foregroundMark x1="6726" y1="58840" x2="6726" y2="18232"/>
                        <a14:foregroundMark x1="44289" y1="82182" x2="44289" y2="82182"/>
                        <a14:foregroundMark x1="35787" y1="50276" x2="42766" y2="48066"/>
                        <a14:foregroundMark x1="55330" y1="83011" x2="28807" y2="79972"/>
                        <a14:foregroundMark x1="4949" y1="1519" x2="41117" y2="5249"/>
                        <a14:foregroundMark x1="41117" y1="5249" x2="58122" y2="3315"/>
                        <a14:foregroundMark x1="58122" y1="3315" x2="68782" y2="5249"/>
                        <a14:foregroundMark x1="68782" y1="5249" x2="69416" y2="16575"/>
                        <a14:foregroundMark x1="72970" y1="27624" x2="74873" y2="32459"/>
                        <a14:foregroundMark x1="1777" y1="16989" x2="1777" y2="16989"/>
                        <a14:foregroundMark x1="71320" y1="72514" x2="71320" y2="72514"/>
                        <a14:foregroundMark x1="71701" y1="59807" x2="71066" y2="82735"/>
                        <a14:foregroundMark x1="71701" y1="82735" x2="71827" y2="95442"/>
                        <a14:foregroundMark x1="71827" y1="95442" x2="61675" y2="99448"/>
                        <a14:foregroundMark x1="61675" y1="99448" x2="6218" y2="99862"/>
                        <a14:foregroundMark x1="6218" y1="99862" x2="6218" y2="99862"/>
                        <a14:foregroundMark x1="3934" y1="92956" x2="3680" y2="79282"/>
                        <a14:foregroundMark x1="8249" y1="1105" x2="52665" y2="414"/>
                        <a14:foregroundMark x1="72208" y1="23066" x2="71701" y2="323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104" y="547210"/>
            <a:ext cx="2240133" cy="206092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07992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">
      <a:dk1>
        <a:sysClr val="windowText" lastClr="000000"/>
      </a:dk1>
      <a:lt1>
        <a:srgbClr val="FEFBEC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12">
      <a:dk1>
        <a:srgbClr val="E7F4F9"/>
      </a:dk1>
      <a:lt1>
        <a:srgbClr val="171616"/>
      </a:lt1>
      <a:dk2>
        <a:srgbClr val="375623"/>
      </a:dk2>
      <a:lt2>
        <a:srgbClr val="2F549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DD71352A75C946BB20F54B03F82ED8" ma:contentTypeVersion="0" ma:contentTypeDescription="Create a new document." ma:contentTypeScope="" ma:versionID="eceeccfb90892b5bada9b120beb2cbc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211486-5EFB-425F-9C48-1696EE378992}"/>
</file>

<file path=customXml/itemProps2.xml><?xml version="1.0" encoding="utf-8"?>
<ds:datastoreItem xmlns:ds="http://schemas.openxmlformats.org/officeDocument/2006/customXml" ds:itemID="{D08177E4-7401-4387-B82A-4DFB8298240F}"/>
</file>

<file path=customXml/itemProps3.xml><?xml version="1.0" encoding="utf-8"?>
<ds:datastoreItem xmlns:ds="http://schemas.openxmlformats.org/officeDocument/2006/customXml" ds:itemID="{60829655-E1A9-45E7-8E6E-8890B4294A3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1727</TotalTime>
  <Words>1195</Words>
  <Application>Microsoft Office PowerPoint</Application>
  <PresentationFormat>Widescreen</PresentationFormat>
  <Paragraphs>162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1_Office Theme</vt:lpstr>
      <vt:lpstr>PowerPoint Presentation</vt:lpstr>
      <vt:lpstr>Learning outcomes</vt:lpstr>
      <vt:lpstr>1. Ideas</vt:lpstr>
      <vt:lpstr>2. Organisation</vt:lpstr>
      <vt:lpstr>4. Register</vt:lpstr>
      <vt:lpstr>3. Word Choice</vt:lpstr>
      <vt:lpstr>5. Sentence Fluency</vt:lpstr>
      <vt:lpstr>6. Conventions</vt:lpstr>
      <vt:lpstr>Scaffolding students</vt:lpstr>
      <vt:lpstr>Ideas</vt:lpstr>
      <vt:lpstr>Ideas</vt:lpstr>
      <vt:lpstr>Organisation</vt:lpstr>
      <vt:lpstr>Organisation</vt:lpstr>
      <vt:lpstr>Register</vt:lpstr>
      <vt:lpstr>Register</vt:lpstr>
      <vt:lpstr>Word Choice</vt:lpstr>
      <vt:lpstr>Word Choice</vt:lpstr>
      <vt:lpstr>Sentence Fluency</vt:lpstr>
      <vt:lpstr>Sentence Fluency</vt:lpstr>
      <vt:lpstr>Conventions</vt:lpstr>
      <vt:lpstr>Conventions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Lincoln LE FEVRE</dc:creator>
  <cp:lastModifiedBy>Lincoln LE FEVRE</cp:lastModifiedBy>
  <cp:revision>14</cp:revision>
  <dcterms:created xsi:type="dcterms:W3CDTF">2023-08-29T04:48:23Z</dcterms:created>
  <dcterms:modified xsi:type="dcterms:W3CDTF">2023-09-01T05:52:51Z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0x010100F6DD71352A75C946BB20F54B03F82ED8</vt:lpwstr>
  </property>
</Properties>
</file>