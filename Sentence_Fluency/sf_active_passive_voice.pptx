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2.xml" ContentType="application/vnd.openxmlformats-officedocument.presentationml.slide+xml"/>
  <Override PartName="/ppt/slides/slide20.xml" ContentType="application/vnd.openxmlformats-officedocument.presentationml.slide+xml"/>
  <Override PartName="/ppt/slides/slide12.xml" ContentType="application/vnd.openxmlformats-officedocument.presentationml.slide+xml"/>
  <Override PartName="/ppt/slides/slide19.xml" ContentType="application/vnd.openxmlformats-officedocument.presentationml.slide+xml"/>
  <Override PartName="/ppt/slides/slide21.xml" ContentType="application/vnd.openxmlformats-officedocument.presentationml.slide+xml"/>
  <Override PartName="/ppt/slides/slide13.xml" ContentType="application/vnd.openxmlformats-officedocument.presentationml.slide+xml"/>
  <Override PartName="/ppt/slideMasters/slideMaster3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12" r:id="rId1"/>
    <p:sldMasterId id="2147483742" r:id="rId2"/>
    <p:sldMasterId id="2147483757" r:id="rId3"/>
  </p:sldMasterIdLst>
  <p:sldIdLst>
    <p:sldId id="256" r:id="rId4"/>
    <p:sldId id="283" r:id="rId5"/>
    <p:sldId id="290" r:id="rId6"/>
    <p:sldId id="291" r:id="rId7"/>
    <p:sldId id="292" r:id="rId8"/>
    <p:sldId id="284" r:id="rId9"/>
    <p:sldId id="257" r:id="rId10"/>
    <p:sldId id="258" r:id="rId11"/>
    <p:sldId id="259" r:id="rId12"/>
    <p:sldId id="276" r:id="rId13"/>
    <p:sldId id="260" r:id="rId14"/>
    <p:sldId id="277" r:id="rId15"/>
    <p:sldId id="278" r:id="rId16"/>
    <p:sldId id="279" r:id="rId17"/>
    <p:sldId id="280" r:id="rId18"/>
    <p:sldId id="281" r:id="rId19"/>
    <p:sldId id="282" r:id="rId20"/>
    <p:sldId id="285" r:id="rId21"/>
    <p:sldId id="286" r:id="rId22"/>
    <p:sldId id="287" r:id="rId23"/>
    <p:sldId id="288" r:id="rId24"/>
    <p:sldId id="289" r:id="rId25"/>
    <p:sldId id="29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C1BD40BA-2DCD-4C8E-A64B-CDEE96D937CC}">
          <p14:sldIdLst>
            <p14:sldId id="256"/>
            <p14:sldId id="283"/>
            <p14:sldId id="290"/>
            <p14:sldId id="291"/>
            <p14:sldId id="292"/>
            <p14:sldId id="284"/>
            <p14:sldId id="257"/>
            <p14:sldId id="258"/>
          </p14:sldIdLst>
        </p14:section>
        <p14:section name="Participant" id="{53C88650-4378-49BF-9586-2684864F6C73}">
          <p14:sldIdLst>
            <p14:sldId id="259"/>
            <p14:sldId id="276"/>
            <p14:sldId id="260"/>
            <p14:sldId id="277"/>
            <p14:sldId id="278"/>
            <p14:sldId id="279"/>
            <p14:sldId id="280"/>
            <p14:sldId id="281"/>
            <p14:sldId id="282"/>
          </p14:sldIdLst>
        </p14:section>
        <p14:section name="Verbs" id="{91D4022B-E33F-4ED7-A52B-E3F6B960BF25}">
          <p14:sldIdLst>
            <p14:sldId id="285"/>
            <p14:sldId id="286"/>
          </p14:sldIdLst>
        </p14:section>
        <p14:section name="Activities" id="{69F8D86E-EF95-487E-8959-BC58199E7C5C}">
          <p14:sldIdLst>
            <p14:sldId id="287"/>
            <p14:sldId id="288"/>
            <p14:sldId id="289"/>
            <p14:sldId id="29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91" autoAdjust="0"/>
    <p:restoredTop sz="94660"/>
  </p:normalViewPr>
  <p:slideViewPr>
    <p:cSldViewPr snapToGrid="0">
      <p:cViewPr varScale="1">
        <p:scale>
          <a:sx n="75" d="100"/>
          <a:sy n="75" d="100"/>
        </p:scale>
        <p:origin x="49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customXml" Target="../customXml/item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customXml" Target="../customXml/item2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customXml" Target="../customXml/item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075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6417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8265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980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25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726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26093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287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5856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698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81086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4971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2379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90522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3905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4850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71415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8774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26829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4736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4562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1159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240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9530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75752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74475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99264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38122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9EBBA-996F-894A-B54A-D6246ED52CEA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9088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A1323-8D79-1946-B0D7-40001CF92E9D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7180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977915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302355-E14B-8545-A8F8-0FE83CC9D524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665519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640F58-564D-2B4F-AE67-E407BA4FCF45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7333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3A34C8-038E-2045-AF43-DF7DBB8E0E9E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7765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8C68F-D26B-8F47-958C-23B49CF8A634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5724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DF5E60-9974-AC48-9591-99C2BB44B7CF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78167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18C79C5D-2A6F-F04D-97DA-BEF2467B64E4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8941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79C5D-2A6F-F04D-97DA-BEF2467B64E4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11362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A1846-DA80-1C48-A609-854EA85C59AD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030224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54567-0DE4-3F47-BF90-CB84690072F9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5104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52C72-DE31-F449-A4ED-4C594FD91407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14052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62726E-379B-B349-9EED-81ED093FA806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072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3.xml"/><Relationship Id="rId10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54125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  <p:sldLayoutId id="2147483725" r:id="rId13"/>
    <p:sldLayoutId id="2147483726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4819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9B482E8-6E0E-1B4F-B1FD-C69DB9E858D9}" type="datetimeFigureOut">
              <a:rPr lang="en-US" smtClean="0"/>
              <a:pPr/>
              <a:t>12/2/2019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3605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sz="8000" dirty="0" smtClean="0"/>
              <a:t>Parts of a sentence</a:t>
            </a:r>
            <a:endParaRPr lang="en-AU" sz="8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Active and passive voice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0803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>
                <a:cs typeface="Trebuchet MS" panose="020B0603020202020204" pitchFamily="34" charset="0"/>
              </a:rPr>
              <a:t>What would you rather do?</a:t>
            </a:r>
            <a:endParaRPr lang="en-AU" dirty="0"/>
          </a:p>
        </p:txBody>
      </p:sp>
      <p:grpSp>
        <p:nvGrpSpPr>
          <p:cNvPr id="4" name="Group 3"/>
          <p:cNvGrpSpPr/>
          <p:nvPr/>
        </p:nvGrpSpPr>
        <p:grpSpPr>
          <a:xfrm>
            <a:off x="520700" y="2341238"/>
            <a:ext cx="7062678" cy="3007049"/>
            <a:chOff x="520700" y="2341238"/>
            <a:chExt cx="7062678" cy="3007049"/>
          </a:xfrm>
        </p:grpSpPr>
        <p:sp>
          <p:nvSpPr>
            <p:cNvPr id="5" name="TextBox 4"/>
            <p:cNvSpPr txBox="1">
              <a:spLocks noChangeArrowheads="1"/>
            </p:cNvSpPr>
            <p:nvPr/>
          </p:nvSpPr>
          <p:spPr bwMode="auto">
            <a:xfrm>
              <a:off x="3443177" y="2341238"/>
              <a:ext cx="4140201" cy="1077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altLang="en-US" sz="3200" dirty="0" smtClean="0"/>
                <a:t>Watch Steve Smith batting?</a:t>
              </a:r>
              <a:endParaRPr lang="en-US" altLang="en-US" sz="3200" dirty="0"/>
            </a:p>
          </p:txBody>
        </p:sp>
        <p:pic>
          <p:nvPicPr>
            <p:cNvPr id="1026" name="Picture 2" descr="https://cdn.newsapi.com.au/image/v1/8c0c52f43d3f992217df18d40c5fdf75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026" r="10410"/>
            <a:stretch/>
          </p:blipFill>
          <p:spPr bwMode="auto">
            <a:xfrm>
              <a:off x="520700" y="2341238"/>
              <a:ext cx="2832100" cy="30070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8" name="Group 7"/>
          <p:cNvGrpSpPr/>
          <p:nvPr/>
        </p:nvGrpSpPr>
        <p:grpSpPr>
          <a:xfrm>
            <a:off x="4038600" y="2998786"/>
            <a:ext cx="7480300" cy="3276601"/>
            <a:chOff x="4038600" y="2998786"/>
            <a:chExt cx="7480300" cy="3276601"/>
          </a:xfrm>
        </p:grpSpPr>
        <p:pic>
          <p:nvPicPr>
            <p:cNvPr id="1028" name="Picture 4" descr="https://media.gettyimages.com/photos/group-of-friends-on-a-stadium-watching-a-football-match-picture-id1127427777?s=612x61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889" r="41449"/>
            <a:stretch/>
          </p:blipFill>
          <p:spPr bwMode="auto">
            <a:xfrm>
              <a:off x="8915400" y="2998786"/>
              <a:ext cx="2603500" cy="3276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" name="TextBox 2"/>
            <p:cNvSpPr txBox="1"/>
            <p:nvPr/>
          </p:nvSpPr>
          <p:spPr>
            <a:xfrm>
              <a:off x="4038600" y="4457700"/>
              <a:ext cx="487680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3200" dirty="0" smtClean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Watch somebody who is watching Steve Smith batting?</a:t>
              </a:r>
              <a:endParaRPr lang="en-AU" sz="3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9650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How does it make you feel?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2400" dirty="0" smtClean="0"/>
              <a:t>“Mr </a:t>
            </a:r>
            <a:r>
              <a:rPr lang="en-AU" sz="2400" dirty="0" smtClean="0"/>
              <a:t>Williams </a:t>
            </a:r>
            <a:r>
              <a:rPr lang="en-AU" sz="2400" dirty="0" smtClean="0"/>
              <a:t>locked </a:t>
            </a:r>
            <a:r>
              <a:rPr lang="en-AU" sz="2400" dirty="0" smtClean="0"/>
              <a:t>Mr Coleman </a:t>
            </a:r>
            <a:r>
              <a:rPr lang="en-AU" sz="2400" dirty="0" smtClean="0"/>
              <a:t>in the basement before the police arrived.”</a:t>
            </a:r>
          </a:p>
          <a:p>
            <a:endParaRPr lang="en-AU" dirty="0" smtClean="0"/>
          </a:p>
          <a:p>
            <a:r>
              <a:rPr lang="en-AU" sz="2000" dirty="0" smtClean="0"/>
              <a:t>What </a:t>
            </a:r>
            <a:r>
              <a:rPr lang="en-AU" sz="2000" dirty="0" smtClean="0"/>
              <a:t>do you think might have happened? Who is the villain here?</a:t>
            </a:r>
            <a:endParaRPr lang="en-AU" sz="2000" dirty="0"/>
          </a:p>
        </p:txBody>
      </p:sp>
    </p:spTree>
    <p:extLst>
      <p:ext uri="{BB962C8B-B14F-4D97-AF65-F5344CB8AC3E}">
        <p14:creationId xmlns:p14="http://schemas.microsoft.com/office/powerpoint/2010/main" val="4163829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How does it make you feel?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2400" dirty="0" smtClean="0"/>
              <a:t>“Mr Coleman was </a:t>
            </a:r>
            <a:r>
              <a:rPr lang="en-AU" sz="2400" dirty="0" smtClean="0"/>
              <a:t>locked in the basement by </a:t>
            </a:r>
            <a:r>
              <a:rPr lang="en-AU" sz="2400" dirty="0" smtClean="0"/>
              <a:t>Mr Williams before the police arrived.”</a:t>
            </a:r>
          </a:p>
          <a:p>
            <a:endParaRPr lang="en-AU" dirty="0"/>
          </a:p>
          <a:p>
            <a:r>
              <a:rPr lang="en-AU" dirty="0" smtClean="0"/>
              <a:t>How does this change things?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62300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How does it make you feel?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2400" dirty="0" smtClean="0"/>
              <a:t>“Police arrived to find Mr Coleman </a:t>
            </a:r>
            <a:r>
              <a:rPr lang="en-AU" sz="2400" dirty="0" smtClean="0"/>
              <a:t>locked in the basement.”</a:t>
            </a:r>
            <a:endParaRPr lang="en-AU" sz="2400" dirty="0" smtClean="0"/>
          </a:p>
          <a:p>
            <a:endParaRPr lang="en-AU" dirty="0"/>
          </a:p>
          <a:p>
            <a:r>
              <a:rPr lang="en-AU" dirty="0" smtClean="0"/>
              <a:t>How about now?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68907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Active and passive voice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 smtClean="0"/>
              <a:t>We are going to learn how to use the active and the passive voice.</a:t>
            </a:r>
          </a:p>
          <a:p>
            <a:pPr marL="0" indent="0">
              <a:buNone/>
            </a:pPr>
            <a:endParaRPr lang="en-AU" sz="2800" dirty="0" smtClean="0"/>
          </a:p>
          <a:p>
            <a:pPr marL="0" indent="0">
              <a:buNone/>
            </a:pPr>
            <a:r>
              <a:rPr lang="en-AU" sz="2800" dirty="0" smtClean="0"/>
              <a:t>We will learn how playing with the participants in a sentence can change the effect of the writing in a range of ways.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67794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Learning Intention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 smtClean="0"/>
              <a:t>This lesson is designed to help you improve your ability to write with purpose.</a:t>
            </a:r>
          </a:p>
          <a:p>
            <a:pPr marL="0" indent="0">
              <a:buNone/>
            </a:pPr>
            <a:endParaRPr lang="en-AU" sz="2800" dirty="0" smtClean="0"/>
          </a:p>
          <a:p>
            <a:pPr marL="0" indent="0">
              <a:buNone/>
            </a:pPr>
            <a:r>
              <a:rPr lang="en-AU" sz="2800" dirty="0" smtClean="0"/>
              <a:t>At the end you should be able to identify the difference between active and passive voice, and begin to explain the effect of each.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21942048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Recap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63286" cy="3636511"/>
          </a:xfrm>
        </p:spPr>
        <p:txBody>
          <a:bodyPr>
            <a:normAutofit/>
          </a:bodyPr>
          <a:lstStyle/>
          <a:p>
            <a:r>
              <a:rPr lang="en-AU" sz="3200" dirty="0" smtClean="0"/>
              <a:t>A clause </a:t>
            </a:r>
            <a:r>
              <a:rPr lang="en-AU" sz="3200" b="1" dirty="0" smtClean="0"/>
              <a:t>must</a:t>
            </a:r>
            <a:r>
              <a:rPr lang="en-AU" sz="3200" dirty="0" smtClean="0"/>
              <a:t> have a </a:t>
            </a:r>
            <a:r>
              <a:rPr lang="en-AU" sz="3200" dirty="0" smtClean="0">
                <a:solidFill>
                  <a:schemeClr val="accent4"/>
                </a:solidFill>
              </a:rPr>
              <a:t>participant</a:t>
            </a:r>
            <a:r>
              <a:rPr lang="en-AU" sz="3200" dirty="0" smtClean="0"/>
              <a:t> and a </a:t>
            </a:r>
            <a:r>
              <a:rPr lang="en-AU" sz="3200" dirty="0" smtClean="0">
                <a:solidFill>
                  <a:srgbClr val="92D050"/>
                </a:solidFill>
              </a:rPr>
              <a:t>process</a:t>
            </a:r>
            <a:r>
              <a:rPr lang="en-AU" sz="3200" dirty="0" smtClean="0"/>
              <a:t>. </a:t>
            </a:r>
          </a:p>
          <a:p>
            <a:r>
              <a:rPr lang="en-AU" sz="3200" dirty="0" smtClean="0"/>
              <a:t>It </a:t>
            </a:r>
            <a:r>
              <a:rPr lang="en-AU" sz="3200" i="1" dirty="0" smtClean="0"/>
              <a:t>might</a:t>
            </a:r>
            <a:r>
              <a:rPr lang="en-AU" sz="3200" dirty="0" smtClean="0"/>
              <a:t> also have a </a:t>
            </a:r>
            <a:r>
              <a:rPr lang="en-AU" sz="3200" dirty="0" smtClean="0">
                <a:solidFill>
                  <a:srgbClr val="0070C0"/>
                </a:solidFill>
              </a:rPr>
              <a:t>circumstance</a:t>
            </a:r>
            <a:r>
              <a:rPr lang="en-AU" sz="3200" dirty="0" smtClean="0"/>
              <a:t> and a </a:t>
            </a:r>
            <a:br>
              <a:rPr lang="en-AU" sz="3200" dirty="0" smtClean="0"/>
            </a:br>
            <a:r>
              <a:rPr lang="en-AU" sz="3200" dirty="0" smtClean="0">
                <a:solidFill>
                  <a:schemeClr val="accent4"/>
                </a:solidFill>
              </a:rPr>
              <a:t>target participant</a:t>
            </a:r>
            <a:r>
              <a:rPr lang="en-AU" sz="3200" dirty="0" smtClean="0"/>
              <a:t>.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977301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5400" dirty="0" smtClean="0"/>
              <a:t>Main Participant</a:t>
            </a:r>
            <a:endParaRPr lang="en-AU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2800" dirty="0"/>
              <a:t>The </a:t>
            </a:r>
            <a:r>
              <a:rPr lang="en-AU" sz="2800" b="1" dirty="0"/>
              <a:t>Who</a:t>
            </a:r>
            <a:r>
              <a:rPr lang="en-AU" sz="2800" dirty="0"/>
              <a:t> or </a:t>
            </a:r>
            <a:r>
              <a:rPr lang="en-AU" sz="2800" b="1" dirty="0"/>
              <a:t>What</a:t>
            </a:r>
            <a:r>
              <a:rPr lang="en-AU" sz="2800" dirty="0"/>
              <a:t> of the sentence</a:t>
            </a:r>
            <a:r>
              <a:rPr lang="en-AU" sz="2800" dirty="0" smtClean="0"/>
              <a:t>.</a:t>
            </a:r>
          </a:p>
          <a:p>
            <a:r>
              <a:rPr lang="en-AU" sz="2800" dirty="0" smtClean="0"/>
              <a:t>The ‘</a:t>
            </a:r>
            <a:r>
              <a:rPr lang="en-AU" sz="2800" b="1" dirty="0" smtClean="0"/>
              <a:t>doer</a:t>
            </a:r>
            <a:r>
              <a:rPr lang="en-AU" sz="2800" dirty="0" smtClean="0"/>
              <a:t>’ of the process. The person or thing that makes the process happen. </a:t>
            </a:r>
          </a:p>
          <a:p>
            <a:r>
              <a:rPr lang="en-AU" sz="2800" i="1" dirty="0" smtClean="0">
                <a:solidFill>
                  <a:schemeClr val="accent1"/>
                </a:solidFill>
              </a:rPr>
              <a:t>The goalkeeper</a:t>
            </a:r>
            <a:r>
              <a:rPr lang="en-AU" sz="2800" i="1" dirty="0" smtClean="0"/>
              <a:t> </a:t>
            </a:r>
            <a:r>
              <a:rPr lang="en-AU" sz="2800" i="1" dirty="0" smtClean="0">
                <a:solidFill>
                  <a:srgbClr val="92D050"/>
                </a:solidFill>
              </a:rPr>
              <a:t>kicked</a:t>
            </a:r>
            <a:r>
              <a:rPr lang="en-AU" sz="2800" i="1" dirty="0" smtClean="0"/>
              <a:t> the ball.</a:t>
            </a:r>
          </a:p>
          <a:p>
            <a:r>
              <a:rPr lang="en-AU" sz="2800" dirty="0" smtClean="0"/>
              <a:t>The goalie made the kicking happen. They are the ‘doer.’</a:t>
            </a:r>
            <a:endParaRPr lang="en-AU" sz="2800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86063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5400" dirty="0" smtClean="0"/>
              <a:t>Target Participant</a:t>
            </a:r>
            <a:endParaRPr lang="en-AU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sz="2800" dirty="0"/>
              <a:t>The </a:t>
            </a:r>
            <a:r>
              <a:rPr lang="en-AU" sz="2800" b="1" dirty="0" smtClean="0"/>
              <a:t>Whom</a:t>
            </a:r>
            <a:r>
              <a:rPr lang="en-AU" sz="2800" dirty="0" smtClean="0"/>
              <a:t> </a:t>
            </a:r>
            <a:r>
              <a:rPr lang="en-AU" sz="2800" dirty="0"/>
              <a:t>or </a:t>
            </a:r>
            <a:r>
              <a:rPr lang="en-AU" sz="2800" b="1" dirty="0"/>
              <a:t>What</a:t>
            </a:r>
            <a:r>
              <a:rPr lang="en-AU" sz="2800" dirty="0"/>
              <a:t> </a:t>
            </a:r>
            <a:r>
              <a:rPr lang="en-AU" sz="2800" dirty="0" smtClean="0"/>
              <a:t>the process is ‘</a:t>
            </a:r>
            <a:r>
              <a:rPr lang="en-AU" sz="2800" b="1" dirty="0" smtClean="0"/>
              <a:t>done to</a:t>
            </a:r>
            <a:r>
              <a:rPr lang="en-AU" sz="2800" dirty="0" smtClean="0"/>
              <a:t>.’</a:t>
            </a:r>
          </a:p>
          <a:p>
            <a:r>
              <a:rPr lang="en-AU" sz="2800" i="1" dirty="0" smtClean="0"/>
              <a:t>The goalkeeper </a:t>
            </a:r>
            <a:r>
              <a:rPr lang="en-AU" sz="2800" i="1" dirty="0">
                <a:solidFill>
                  <a:srgbClr val="92D050"/>
                </a:solidFill>
              </a:rPr>
              <a:t>kicked</a:t>
            </a:r>
            <a:r>
              <a:rPr lang="en-AU" sz="2800" i="1" dirty="0"/>
              <a:t> </a:t>
            </a:r>
            <a:r>
              <a:rPr lang="en-AU" sz="2800" i="1" dirty="0">
                <a:solidFill>
                  <a:schemeClr val="accent1"/>
                </a:solidFill>
              </a:rPr>
              <a:t>the ball</a:t>
            </a:r>
            <a:r>
              <a:rPr lang="en-AU" sz="2800" i="1" dirty="0" smtClean="0"/>
              <a:t>.</a:t>
            </a:r>
          </a:p>
          <a:p>
            <a:r>
              <a:rPr lang="en-AU" sz="2800" dirty="0" smtClean="0"/>
              <a:t>The ball didn’t do the kicking. It was the thing that the kicking was ‘done to.’</a:t>
            </a:r>
            <a:endParaRPr lang="en-AU" sz="2800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25723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5400" dirty="0" smtClean="0"/>
              <a:t>Nominalisation</a:t>
            </a:r>
            <a:endParaRPr lang="en-AU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dirty="0" smtClean="0"/>
              <a:t>Nominalisation is the process of changing the main participant group.</a:t>
            </a:r>
          </a:p>
          <a:p>
            <a:pPr marL="0" indent="0">
              <a:buNone/>
            </a:pPr>
            <a:endParaRPr lang="en-AU" sz="3200" dirty="0" smtClean="0"/>
          </a:p>
          <a:p>
            <a:pPr marL="0" indent="0">
              <a:buNone/>
            </a:pPr>
            <a:r>
              <a:rPr lang="en-AU" sz="3200" dirty="0" smtClean="0"/>
              <a:t>We can change it by adding more detail:</a:t>
            </a:r>
          </a:p>
          <a:p>
            <a:pPr marL="0" indent="0">
              <a:buNone/>
            </a:pPr>
            <a:r>
              <a:rPr lang="en-AU" sz="3200" i="1" dirty="0" smtClean="0">
                <a:solidFill>
                  <a:schemeClr val="accent1"/>
                </a:solidFill>
              </a:rPr>
              <a:t>The enormous blonde goalkeeper </a:t>
            </a:r>
            <a:r>
              <a:rPr lang="en-AU" sz="3200" i="1" dirty="0" smtClean="0"/>
              <a:t>kicked the ball.</a:t>
            </a:r>
          </a:p>
          <a:p>
            <a:pPr marL="0" indent="0">
              <a:buNone/>
            </a:pP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3346415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5400" dirty="0" smtClean="0"/>
              <a:t>Nominalisation</a:t>
            </a:r>
            <a:endParaRPr lang="en-AU" sz="5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AU" sz="3200" dirty="0" smtClean="0"/>
              <a:t>Or can change it by swapping elements around.</a:t>
            </a:r>
          </a:p>
          <a:p>
            <a:pPr marL="0" indent="0">
              <a:buNone/>
            </a:pPr>
            <a:endParaRPr lang="en-AU" sz="3200" dirty="0" smtClean="0"/>
          </a:p>
          <a:p>
            <a:pPr marL="0" indent="0">
              <a:buNone/>
            </a:pPr>
            <a:r>
              <a:rPr lang="en-AU" sz="3200" dirty="0" smtClean="0"/>
              <a:t>Lets swap the participants:</a:t>
            </a:r>
          </a:p>
          <a:p>
            <a:pPr marL="0" indent="0">
              <a:buNone/>
            </a:pPr>
            <a:r>
              <a:rPr lang="en-AU" sz="3200" i="1" dirty="0" smtClean="0">
                <a:solidFill>
                  <a:schemeClr val="accent1"/>
                </a:solidFill>
              </a:rPr>
              <a:t>The ball </a:t>
            </a:r>
            <a:r>
              <a:rPr lang="en-AU" sz="3200" i="1" dirty="0" smtClean="0"/>
              <a:t>was kicked by the goalkeeper.</a:t>
            </a:r>
          </a:p>
          <a:p>
            <a:pPr marL="0" indent="0">
              <a:buNone/>
            </a:pPr>
            <a:endParaRPr lang="en-AU" sz="3200" i="1" dirty="0"/>
          </a:p>
          <a:p>
            <a:pPr marL="0" indent="0">
              <a:buNone/>
            </a:pPr>
            <a:r>
              <a:rPr lang="en-AU" sz="3200" dirty="0" smtClean="0"/>
              <a:t>Now the ‘done to’ is the focus of the sentence.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797713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Passive Voice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i="1" dirty="0">
                <a:solidFill>
                  <a:schemeClr val="accent1"/>
                </a:solidFill>
              </a:rPr>
              <a:t>The ball </a:t>
            </a:r>
            <a:r>
              <a:rPr lang="en-AU" sz="2800" i="1" dirty="0"/>
              <a:t>was kicked by the goalkeeper</a:t>
            </a:r>
            <a:r>
              <a:rPr lang="en-AU" sz="2800" i="1" dirty="0" smtClean="0"/>
              <a:t>.</a:t>
            </a:r>
          </a:p>
          <a:p>
            <a:pPr marL="0" indent="0">
              <a:buNone/>
            </a:pPr>
            <a:r>
              <a:rPr lang="en-AU" sz="2800" dirty="0" smtClean="0"/>
              <a:t>What we have done is written a sentence using the </a:t>
            </a:r>
            <a:r>
              <a:rPr lang="en-AU" sz="2800" b="1" dirty="0" smtClean="0"/>
              <a:t>passive voice</a:t>
            </a:r>
            <a:r>
              <a:rPr lang="en-AU" sz="2800" dirty="0" smtClean="0"/>
              <a:t>.</a:t>
            </a:r>
          </a:p>
          <a:p>
            <a:pPr marL="0" indent="0">
              <a:buNone/>
            </a:pPr>
            <a:r>
              <a:rPr lang="en-AU" sz="2800" dirty="0" smtClean="0"/>
              <a:t>This changes the tone of the writing. It takes the emphasis away from the person kicking the ball.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709159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Passive Voice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sz="3200" dirty="0" smtClean="0"/>
              <a:t>In fact, we don’t need the goalkeeper at all!</a:t>
            </a:r>
          </a:p>
          <a:p>
            <a:pPr marL="0" indent="0">
              <a:buNone/>
            </a:pPr>
            <a:endParaRPr lang="en-AU" sz="3200" i="1" dirty="0" smtClean="0">
              <a:solidFill>
                <a:schemeClr val="accent1"/>
              </a:solidFill>
            </a:endParaRPr>
          </a:p>
          <a:p>
            <a:pPr marL="0" indent="0">
              <a:buNone/>
            </a:pPr>
            <a:r>
              <a:rPr lang="en-AU" sz="3200" i="1" dirty="0" smtClean="0">
                <a:solidFill>
                  <a:schemeClr val="accent1"/>
                </a:solidFill>
              </a:rPr>
              <a:t>The </a:t>
            </a:r>
            <a:r>
              <a:rPr lang="en-AU" sz="3200" i="1" dirty="0">
                <a:solidFill>
                  <a:schemeClr val="accent1"/>
                </a:solidFill>
              </a:rPr>
              <a:t>ball </a:t>
            </a:r>
            <a:r>
              <a:rPr lang="en-AU" sz="3200" i="1" dirty="0"/>
              <a:t>was </a:t>
            </a:r>
            <a:r>
              <a:rPr lang="en-AU" sz="3200" i="1" dirty="0" smtClean="0"/>
              <a:t>kicked.</a:t>
            </a:r>
          </a:p>
          <a:p>
            <a:pPr marL="0" indent="0">
              <a:buNone/>
            </a:pPr>
            <a:endParaRPr lang="en-AU" sz="3200" i="1" dirty="0"/>
          </a:p>
          <a:p>
            <a:pPr marL="0" indent="0">
              <a:buNone/>
            </a:pPr>
            <a:r>
              <a:rPr lang="en-AU" sz="3200" dirty="0" smtClean="0"/>
              <a:t>This is still a complete sentence because it contains the participant and the process.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7698799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Active Voice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dirty="0" smtClean="0"/>
              <a:t>To write using the active voice, make sure you focus on the person or the thing that’s making the action happen.</a:t>
            </a:r>
          </a:p>
          <a:p>
            <a:pPr marL="0" indent="0">
              <a:buNone/>
            </a:pPr>
            <a:endParaRPr lang="en-AU" sz="3200" dirty="0"/>
          </a:p>
          <a:p>
            <a:pPr marL="0" indent="0">
              <a:buNone/>
            </a:pPr>
            <a:r>
              <a:rPr lang="en-AU" sz="3200" dirty="0" smtClean="0"/>
              <a:t>The </a:t>
            </a:r>
            <a:r>
              <a:rPr lang="en-AU" sz="3200" b="1" dirty="0" smtClean="0"/>
              <a:t>doer</a:t>
            </a:r>
            <a:r>
              <a:rPr lang="en-AU" sz="3200" dirty="0" smtClean="0"/>
              <a:t>.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2475111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Active Voice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 smtClean="0"/>
              <a:t>Smith grabbed Longmire in a head-high tackle and took Longmire out of the game.</a:t>
            </a:r>
          </a:p>
          <a:p>
            <a:pPr marL="0" indent="0">
              <a:buNone/>
            </a:pPr>
            <a:endParaRPr lang="en-AU" sz="2800" dirty="0"/>
          </a:p>
          <a:p>
            <a:pPr marL="0" indent="0">
              <a:buNone/>
            </a:pPr>
            <a:r>
              <a:rPr lang="en-AU" sz="2800" dirty="0" smtClean="0"/>
              <a:t>Active voice conveys a sense of action and urgency, and lets the reader know that Smith is responsible for the action.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7435023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Passive Voice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 smtClean="0"/>
              <a:t>Longmire was taken out of the game by Smith’s head-high tackle.</a:t>
            </a:r>
          </a:p>
          <a:p>
            <a:pPr marL="0" indent="0">
              <a:buNone/>
            </a:pPr>
            <a:endParaRPr lang="en-AU" sz="2800" dirty="0"/>
          </a:p>
          <a:p>
            <a:pPr marL="0" indent="0">
              <a:buNone/>
            </a:pPr>
            <a:r>
              <a:rPr lang="en-AU" sz="2800" dirty="0" smtClean="0"/>
              <a:t>Passive voice places the emphasis on the ‘done to’, which makes the reader feel more sympathetic towards them.</a:t>
            </a:r>
          </a:p>
          <a:p>
            <a:pPr marL="0" indent="0">
              <a:buNone/>
            </a:pPr>
            <a:r>
              <a:rPr lang="en-AU" sz="2800" dirty="0" smtClean="0"/>
              <a:t>It can also make the action seem less urgent and dramatic.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9026045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Changing processes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 smtClean="0"/>
              <a:t>When you change from the active to the passive voice (or vice versa) you will also need to change the form of </a:t>
            </a:r>
            <a:r>
              <a:rPr lang="en-AU" sz="2400" dirty="0" smtClean="0">
                <a:solidFill>
                  <a:schemeClr val="accent1"/>
                </a:solidFill>
              </a:rPr>
              <a:t>the process.</a:t>
            </a:r>
          </a:p>
          <a:p>
            <a:pPr marL="0" indent="0">
              <a:buNone/>
            </a:pPr>
            <a:endParaRPr lang="en-AU" sz="2400" dirty="0" smtClean="0">
              <a:solidFill>
                <a:schemeClr val="accent1"/>
              </a:solidFill>
            </a:endParaRPr>
          </a:p>
          <a:p>
            <a:r>
              <a:rPr lang="en-AU" sz="2400" dirty="0" smtClean="0"/>
              <a:t>The goalkeeper </a:t>
            </a:r>
            <a:r>
              <a:rPr lang="en-AU" sz="2400" dirty="0" smtClean="0">
                <a:solidFill>
                  <a:schemeClr val="accent1"/>
                </a:solidFill>
              </a:rPr>
              <a:t>kicked</a:t>
            </a:r>
            <a:r>
              <a:rPr lang="en-AU" sz="2400" dirty="0" smtClean="0"/>
              <a:t> the ball to the centre of the pitch.</a:t>
            </a:r>
          </a:p>
          <a:p>
            <a:pPr marL="0" indent="0" algn="ctr">
              <a:buNone/>
            </a:pPr>
            <a:r>
              <a:rPr lang="en-AU" sz="2400" dirty="0" smtClean="0"/>
              <a:t>Becomes</a:t>
            </a:r>
          </a:p>
          <a:p>
            <a:r>
              <a:rPr lang="en-AU" sz="2400" dirty="0" smtClean="0"/>
              <a:t>The ball </a:t>
            </a:r>
            <a:r>
              <a:rPr lang="en-AU" sz="2400" dirty="0" smtClean="0">
                <a:solidFill>
                  <a:schemeClr val="accent1"/>
                </a:solidFill>
              </a:rPr>
              <a:t>was kicked </a:t>
            </a:r>
            <a:r>
              <a:rPr lang="en-AU" sz="2400" dirty="0" smtClean="0"/>
              <a:t>to the centre of the pitch by the goalkeeper.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778979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Changing processes</a:t>
            </a:r>
            <a:endParaRPr lang="en-A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5770412"/>
              </p:ext>
            </p:extLst>
          </p:nvPr>
        </p:nvGraphicFramePr>
        <p:xfrm>
          <a:off x="810000" y="2819400"/>
          <a:ext cx="105537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40250">
                  <a:extLst>
                    <a:ext uri="{9D8B030D-6E8A-4147-A177-3AD203B41FA5}">
                      <a16:colId xmlns:a16="http://schemas.microsoft.com/office/drawing/2014/main" val="2205253584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4008630825"/>
                    </a:ext>
                  </a:extLst>
                </a:gridCol>
                <a:gridCol w="4654550">
                  <a:extLst>
                    <a:ext uri="{9D8B030D-6E8A-4147-A177-3AD203B41FA5}">
                      <a16:colId xmlns:a16="http://schemas.microsoft.com/office/drawing/2014/main" val="6563963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Active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Passive</a:t>
                      </a:r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614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>
                          <a:solidFill>
                            <a:schemeClr val="bg1"/>
                          </a:solidFill>
                        </a:rPr>
                        <a:t>kicked</a:t>
                      </a:r>
                      <a:endParaRPr lang="en-AU" sz="24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had</a:t>
                      </a:r>
                      <a:r>
                        <a:rPr lang="en-AU" sz="2400" baseline="0" dirty="0" smtClean="0"/>
                        <a:t> been kicked (by)</a:t>
                      </a:r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698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grabs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Is being grabbed </a:t>
                      </a:r>
                      <a:r>
                        <a:rPr lang="en-AU" sz="2400" baseline="0" dirty="0" smtClean="0"/>
                        <a:t>(by)</a:t>
                      </a:r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750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completed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was completed </a:t>
                      </a:r>
                      <a:r>
                        <a:rPr lang="en-AU" sz="2400" baseline="0" dirty="0" smtClean="0"/>
                        <a:t>(by)</a:t>
                      </a:r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192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should</a:t>
                      </a:r>
                      <a:r>
                        <a:rPr lang="en-AU" sz="2400" baseline="0" dirty="0" smtClean="0"/>
                        <a:t> have taken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should have been</a:t>
                      </a:r>
                      <a:r>
                        <a:rPr lang="en-AU" sz="2400" baseline="0" dirty="0" smtClean="0"/>
                        <a:t> taken (by)</a:t>
                      </a:r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329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can</a:t>
                      </a:r>
                      <a:r>
                        <a:rPr lang="en-AU" sz="2400" baseline="0" dirty="0" smtClean="0"/>
                        <a:t> see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can be seen </a:t>
                      </a:r>
                      <a:r>
                        <a:rPr lang="en-AU" sz="2400" baseline="0" dirty="0" smtClean="0"/>
                        <a:t>(by)</a:t>
                      </a:r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031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3132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Identify which are active and passive.</a:t>
            </a:r>
            <a:endParaRPr lang="en-A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202303"/>
              </p:ext>
            </p:extLst>
          </p:nvPr>
        </p:nvGraphicFramePr>
        <p:xfrm>
          <a:off x="810000" y="2425700"/>
          <a:ext cx="10571998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6683">
                  <a:extLst>
                    <a:ext uri="{9D8B030D-6E8A-4147-A177-3AD203B41FA5}">
                      <a16:colId xmlns:a16="http://schemas.microsoft.com/office/drawing/2014/main" val="2205253584"/>
                    </a:ext>
                  </a:extLst>
                </a:gridCol>
                <a:gridCol w="2435315">
                  <a:extLst>
                    <a:ext uri="{9D8B030D-6E8A-4147-A177-3AD203B41FA5}">
                      <a16:colId xmlns:a16="http://schemas.microsoft.com/office/drawing/2014/main" val="400863082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Example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800" dirty="0" smtClean="0"/>
                        <a:t>Active (A) or</a:t>
                      </a:r>
                      <a:r>
                        <a:rPr lang="en-AU" sz="1800" baseline="0" dirty="0" smtClean="0"/>
                        <a:t> Passive (P)</a:t>
                      </a:r>
                      <a:endParaRPr lang="en-AU" sz="18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614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AU" sz="2000" dirty="0" smtClean="0">
                          <a:solidFill>
                            <a:schemeClr val="bg1"/>
                          </a:solidFill>
                        </a:rPr>
                        <a:t>Donahue</a:t>
                      </a:r>
                      <a:r>
                        <a:rPr lang="en-AU" sz="2000" baseline="0" dirty="0" smtClean="0">
                          <a:solidFill>
                            <a:schemeClr val="bg1"/>
                          </a:solidFill>
                        </a:rPr>
                        <a:t> lifted the cup high above her shoulders.</a:t>
                      </a:r>
                      <a:endParaRPr lang="en-AU" sz="2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698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AU" sz="2000" dirty="0" smtClean="0"/>
                        <a:t>The banner was torn to shreds</a:t>
                      </a:r>
                      <a:r>
                        <a:rPr lang="en-AU" sz="2000" baseline="0" dirty="0" smtClean="0"/>
                        <a:t> by the players running through.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750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AU" sz="2000" dirty="0" smtClean="0"/>
                        <a:t>The match was won.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1925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AU" sz="2000" dirty="0" smtClean="0"/>
                        <a:t>In</a:t>
                      </a:r>
                      <a:r>
                        <a:rPr lang="en-AU" sz="2000" baseline="0" dirty="0" smtClean="0"/>
                        <a:t> the stands, only a single member of the audience yelled out.</a:t>
                      </a:r>
                      <a:endParaRPr lang="en-A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3299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AU" sz="2000" dirty="0" smtClean="0"/>
                        <a:t>That single voice</a:t>
                      </a:r>
                      <a:r>
                        <a:rPr lang="en-AU" sz="2000" baseline="0" dirty="0" smtClean="0"/>
                        <a:t> was heard by everybody there.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031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AU" sz="2000" baseline="0" dirty="0" smtClean="0"/>
                        <a:t>The dancer was majestic.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42622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AU" sz="2000" baseline="0" dirty="0" smtClean="0"/>
                        <a:t>Nobody in the room dared to make a sound.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7941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20179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Rewrite the following as active sentences</a:t>
            </a:r>
            <a:endParaRPr lang="en-A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8790133"/>
              </p:ext>
            </p:extLst>
          </p:nvPr>
        </p:nvGraphicFramePr>
        <p:xfrm>
          <a:off x="810000" y="2425701"/>
          <a:ext cx="10571998" cy="39192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7900">
                  <a:extLst>
                    <a:ext uri="{9D8B030D-6E8A-4147-A177-3AD203B41FA5}">
                      <a16:colId xmlns:a16="http://schemas.microsoft.com/office/drawing/2014/main" val="2205253584"/>
                    </a:ext>
                  </a:extLst>
                </a:gridCol>
                <a:gridCol w="5324098">
                  <a:extLst>
                    <a:ext uri="{9D8B030D-6E8A-4147-A177-3AD203B41FA5}">
                      <a16:colId xmlns:a16="http://schemas.microsoft.com/office/drawing/2014/main" val="4008630825"/>
                    </a:ext>
                  </a:extLst>
                </a:gridCol>
              </a:tblGrid>
              <a:tr h="43986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Active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Passive</a:t>
                      </a:r>
                      <a:endParaRPr lang="en-AU" sz="18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614223"/>
                  </a:ext>
                </a:extLst>
              </a:tr>
              <a:tr h="457199">
                <a:tc>
                  <a:txBody>
                    <a:bodyPr/>
                    <a:lstStyle/>
                    <a:p>
                      <a:pPr algn="l"/>
                      <a:endParaRPr lang="en-AU" sz="12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The match has</a:t>
                      </a:r>
                      <a:r>
                        <a:rPr lang="en-AU" sz="1800" baseline="0" dirty="0" smtClean="0"/>
                        <a:t> been won by the Falcons.</a:t>
                      </a:r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69867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endParaRPr lang="en-A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Three unforced</a:t>
                      </a:r>
                      <a:r>
                        <a:rPr lang="en-AU" sz="1800" baseline="0" dirty="0" smtClean="0"/>
                        <a:t> errors were made by Nadal.</a:t>
                      </a:r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75035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endParaRPr lang="en-A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The uniforms have been left in the locker</a:t>
                      </a:r>
                      <a:r>
                        <a:rPr lang="en-AU" sz="1800" baseline="0" dirty="0" smtClean="0"/>
                        <a:t> room.</a:t>
                      </a:r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192591"/>
                  </a:ext>
                </a:extLst>
              </a:tr>
              <a:tr h="386027">
                <a:tc>
                  <a:txBody>
                    <a:bodyPr/>
                    <a:lstStyle/>
                    <a:p>
                      <a:pPr algn="l"/>
                      <a:endParaRPr lang="en-AU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At</a:t>
                      </a:r>
                      <a:r>
                        <a:rPr lang="en-AU" sz="1800" baseline="0" dirty="0" smtClean="0"/>
                        <a:t> the end of the game, not a single piece of rubbish had been left by the Japanese fans.</a:t>
                      </a:r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329947"/>
                  </a:ext>
                </a:extLst>
              </a:tr>
              <a:tr h="488738">
                <a:tc>
                  <a:txBody>
                    <a:bodyPr/>
                    <a:lstStyle/>
                    <a:p>
                      <a:pPr algn="l"/>
                      <a:endParaRPr lang="en-AU" sz="1200" baseline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The morning of the game,</a:t>
                      </a:r>
                      <a:r>
                        <a:rPr lang="en-AU" sz="1800" baseline="0" dirty="0" smtClean="0"/>
                        <a:t> </a:t>
                      </a:r>
                      <a:r>
                        <a:rPr lang="en-AU" sz="1800" dirty="0" smtClean="0"/>
                        <a:t>I’d been woken</a:t>
                      </a:r>
                      <a:r>
                        <a:rPr lang="en-AU" sz="1800" baseline="0" dirty="0" smtClean="0"/>
                        <a:t> up by my dad.</a:t>
                      </a:r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031765"/>
                  </a:ext>
                </a:extLst>
              </a:tr>
              <a:tr h="383735">
                <a:tc>
                  <a:txBody>
                    <a:bodyPr/>
                    <a:lstStyle/>
                    <a:p>
                      <a:pPr algn="l"/>
                      <a:endParaRPr lang="en-AU" sz="1200" baseline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Similar themes</a:t>
                      </a:r>
                      <a:r>
                        <a:rPr lang="en-AU" sz="1800" baseline="0" dirty="0" smtClean="0"/>
                        <a:t> were covered in the 1970s by journalist Michael Covington.</a:t>
                      </a:r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4262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46097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447188"/>
            <a:ext cx="10947400" cy="970450"/>
          </a:xfrm>
        </p:spPr>
        <p:txBody>
          <a:bodyPr/>
          <a:lstStyle/>
          <a:p>
            <a:r>
              <a:rPr lang="en-AU" dirty="0" smtClean="0"/>
              <a:t>Rewrite the following as passive sentences</a:t>
            </a:r>
            <a:endParaRPr lang="en-AU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1430579"/>
              </p:ext>
            </p:extLst>
          </p:nvPr>
        </p:nvGraphicFramePr>
        <p:xfrm>
          <a:off x="810000" y="2425701"/>
          <a:ext cx="10571998" cy="3591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7900">
                  <a:extLst>
                    <a:ext uri="{9D8B030D-6E8A-4147-A177-3AD203B41FA5}">
                      <a16:colId xmlns:a16="http://schemas.microsoft.com/office/drawing/2014/main" val="2205253584"/>
                    </a:ext>
                  </a:extLst>
                </a:gridCol>
                <a:gridCol w="5324098">
                  <a:extLst>
                    <a:ext uri="{9D8B030D-6E8A-4147-A177-3AD203B41FA5}">
                      <a16:colId xmlns:a16="http://schemas.microsoft.com/office/drawing/2014/main" val="4008630825"/>
                    </a:ext>
                  </a:extLst>
                </a:gridCol>
              </a:tblGrid>
              <a:tr h="439864"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Active</a:t>
                      </a:r>
                      <a:endParaRPr lang="en-A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2400" dirty="0" smtClean="0"/>
                        <a:t>Passive</a:t>
                      </a:r>
                      <a:endParaRPr lang="en-AU" sz="18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614223"/>
                  </a:ext>
                </a:extLst>
              </a:tr>
              <a:tr h="457199">
                <a:tc>
                  <a:txBody>
                    <a:bodyPr/>
                    <a:lstStyle/>
                    <a:p>
                      <a:pPr algn="l"/>
                      <a:r>
                        <a:rPr lang="en-AU" sz="1800" dirty="0" smtClean="0">
                          <a:solidFill>
                            <a:schemeClr val="bg1"/>
                          </a:solidFill>
                        </a:rPr>
                        <a:t>The groundskeeper has immaculately</a:t>
                      </a:r>
                      <a:r>
                        <a:rPr lang="en-AU" sz="1800" baseline="0" dirty="0" smtClean="0">
                          <a:solidFill>
                            <a:schemeClr val="bg1"/>
                          </a:solidFill>
                        </a:rPr>
                        <a:t> prepared the pitch.</a:t>
                      </a:r>
                      <a:endParaRPr lang="en-AU" sz="18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69867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algn="l"/>
                      <a:r>
                        <a:rPr lang="en-AU" sz="1800" dirty="0" smtClean="0"/>
                        <a:t>Fleming broke</a:t>
                      </a:r>
                      <a:r>
                        <a:rPr lang="en-AU" sz="1800" baseline="0" dirty="0" smtClean="0"/>
                        <a:t> the ribbon with a final lunge.</a:t>
                      </a:r>
                      <a:endParaRPr lang="en-A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1750355"/>
                  </a:ext>
                </a:extLst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AU" sz="1800" dirty="0" smtClean="0"/>
                        <a:t>They</a:t>
                      </a:r>
                      <a:r>
                        <a:rPr lang="en-AU" sz="1800" baseline="0" dirty="0" smtClean="0"/>
                        <a:t> had broken the record for the highest total in a tournament.</a:t>
                      </a:r>
                      <a:endParaRPr lang="en-A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192591"/>
                  </a:ext>
                </a:extLst>
              </a:tr>
              <a:tr h="386027">
                <a:tc>
                  <a:txBody>
                    <a:bodyPr/>
                    <a:lstStyle/>
                    <a:p>
                      <a:pPr algn="l"/>
                      <a:r>
                        <a:rPr lang="en-AU" sz="1800" dirty="0" smtClean="0"/>
                        <a:t>Bluey</a:t>
                      </a:r>
                      <a:r>
                        <a:rPr lang="en-AU" sz="1800" baseline="0" dirty="0" smtClean="0"/>
                        <a:t> dodges the defender very skilfully.</a:t>
                      </a:r>
                      <a:endParaRPr lang="en-AU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5329947"/>
                  </a:ext>
                </a:extLst>
              </a:tr>
              <a:tr h="488738">
                <a:tc>
                  <a:txBody>
                    <a:bodyPr/>
                    <a:lstStyle/>
                    <a:p>
                      <a:pPr algn="l"/>
                      <a:r>
                        <a:rPr lang="en-AU" sz="1800" baseline="0" dirty="0" smtClean="0"/>
                        <a:t>The ball hit the Wing Defence right in the face.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8031765"/>
                  </a:ext>
                </a:extLst>
              </a:tr>
              <a:tr h="383735">
                <a:tc>
                  <a:txBody>
                    <a:bodyPr/>
                    <a:lstStyle/>
                    <a:p>
                      <a:pPr algn="l"/>
                      <a:r>
                        <a:rPr lang="en-AU" sz="1800" baseline="0" dirty="0" smtClean="0"/>
                        <a:t>The crowd gave an enormous cheer.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4262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2494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Reflection: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2800" dirty="0" smtClean="0"/>
              <a:t>In your notebooks, respond to the following in as much detail as you can:</a:t>
            </a:r>
            <a:endParaRPr lang="en-AU" sz="2800" dirty="0"/>
          </a:p>
          <a:p>
            <a:r>
              <a:rPr lang="en-AU" sz="2800" dirty="0" smtClean="0"/>
              <a:t>What is the </a:t>
            </a:r>
            <a:r>
              <a:rPr lang="en-AU" sz="2800" i="1" dirty="0" smtClean="0"/>
              <a:t>effect</a:t>
            </a:r>
            <a:r>
              <a:rPr lang="en-AU" sz="2800" dirty="0" smtClean="0"/>
              <a:t> of writing in the active voice?</a:t>
            </a:r>
          </a:p>
          <a:p>
            <a:r>
              <a:rPr lang="en-AU" sz="2800" dirty="0" smtClean="0"/>
              <a:t>Why might an author choose to write in the passive voice?</a:t>
            </a:r>
          </a:p>
        </p:txBody>
      </p:sp>
    </p:spTree>
    <p:extLst>
      <p:ext uri="{BB962C8B-B14F-4D97-AF65-F5344CB8AC3E}">
        <p14:creationId xmlns:p14="http://schemas.microsoft.com/office/powerpoint/2010/main" val="3004031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8664B0"/>
      </a:accent1>
      <a:accent2>
        <a:srgbClr val="D75BCD"/>
      </a:accent2>
      <a:accent3>
        <a:srgbClr val="E54D86"/>
      </a:accent3>
      <a:accent4>
        <a:srgbClr val="DE4547"/>
      </a:accent4>
      <a:accent5>
        <a:srgbClr val="F16E40"/>
      </a:accent5>
      <a:accent6>
        <a:srgbClr val="EB9C5A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7AF46513-5B0D-4B03-9323-32F3F0BFC9D6}"/>
    </a:ext>
  </a:extLst>
</a:theme>
</file>

<file path=ppt/theme/theme2.xml><?xml version="1.0" encoding="utf-8"?>
<a:theme xmlns:a="http://schemas.openxmlformats.org/drawingml/2006/main" name="1_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F03B5E"/>
      </a:accent1>
      <a:accent2>
        <a:srgbClr val="DC6FEC"/>
      </a:accent2>
      <a:accent3>
        <a:srgbClr val="60B1F2"/>
      </a:accent3>
      <a:accent4>
        <a:srgbClr val="6AD5BB"/>
      </a:accent4>
      <a:accent5>
        <a:srgbClr val="E8AB4E"/>
      </a:accent5>
      <a:accent6>
        <a:srgbClr val="F56447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ACECE1E4-636E-48DB-87ED-4A76DC93378F}"/>
    </a:ext>
  </a:extLst>
</a:theme>
</file>

<file path=ppt/theme/theme3.xml><?xml version="1.0" encoding="utf-8"?>
<a:theme xmlns:a="http://schemas.openxmlformats.org/drawingml/2006/main" name="2_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9ECD33"/>
      </a:accent1>
      <a:accent2>
        <a:srgbClr val="E19933"/>
      </a:accent2>
      <a:accent3>
        <a:srgbClr val="DC5D3D"/>
      </a:accent3>
      <a:accent4>
        <a:srgbClr val="A967CB"/>
      </a:accent4>
      <a:accent5>
        <a:srgbClr val="5EA5DD"/>
      </a:accent5>
      <a:accent6>
        <a:srgbClr val="44BEA9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98D1675B-7325-48AD-994B-0DEF3379A98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6DD71352A75C946BB20F54B03F82ED8" ma:contentTypeVersion="0" ma:contentTypeDescription="Create a new document." ma:contentTypeScope="" ma:versionID="eceeccfb90892b5bada9b120beb2cbc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3300D62-ED8A-4D89-B4DC-A5299488F38C}"/>
</file>

<file path=customXml/itemProps2.xml><?xml version="1.0" encoding="utf-8"?>
<ds:datastoreItem xmlns:ds="http://schemas.openxmlformats.org/officeDocument/2006/customXml" ds:itemID="{0F58C3CE-3BC5-40F2-950B-F5717A940B83}"/>
</file>

<file path=customXml/itemProps3.xml><?xml version="1.0" encoding="utf-8"?>
<ds:datastoreItem xmlns:ds="http://schemas.openxmlformats.org/officeDocument/2006/customXml" ds:itemID="{97637668-1147-4934-BEEF-AB61C3C2B021}"/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265</TotalTime>
  <Words>926</Words>
  <Application>Microsoft Office PowerPoint</Application>
  <PresentationFormat>Widescreen</PresentationFormat>
  <Paragraphs>123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Arial</vt:lpstr>
      <vt:lpstr>Century Gothic</vt:lpstr>
      <vt:lpstr>Trebuchet MS</vt:lpstr>
      <vt:lpstr>Verdana</vt:lpstr>
      <vt:lpstr>Wingdings 2</vt:lpstr>
      <vt:lpstr>Quotable</vt:lpstr>
      <vt:lpstr>1_Quotable</vt:lpstr>
      <vt:lpstr>2_Quotable</vt:lpstr>
      <vt:lpstr>Parts of a sentence</vt:lpstr>
      <vt:lpstr>What would you rather do?</vt:lpstr>
      <vt:lpstr>How does it make you feel?</vt:lpstr>
      <vt:lpstr>How does it make you feel?</vt:lpstr>
      <vt:lpstr>How does it make you feel?</vt:lpstr>
      <vt:lpstr>Active and passive voice</vt:lpstr>
      <vt:lpstr>Learning Intention</vt:lpstr>
      <vt:lpstr>Recap</vt:lpstr>
      <vt:lpstr>Main Participant</vt:lpstr>
      <vt:lpstr>Target Participant</vt:lpstr>
      <vt:lpstr>Nominalisation</vt:lpstr>
      <vt:lpstr>Nominalisation</vt:lpstr>
      <vt:lpstr>Passive Voice</vt:lpstr>
      <vt:lpstr>Passive Voice</vt:lpstr>
      <vt:lpstr>Active Voice</vt:lpstr>
      <vt:lpstr>Active Voice</vt:lpstr>
      <vt:lpstr>Passive Voice</vt:lpstr>
      <vt:lpstr>Changing processes</vt:lpstr>
      <vt:lpstr>Changing processes</vt:lpstr>
      <vt:lpstr>Identify which are active and passive.</vt:lpstr>
      <vt:lpstr>Rewrite the following as active sentences</vt:lpstr>
      <vt:lpstr>Rewrite the following as passive sentences</vt:lpstr>
      <vt:lpstr>Reflection:</vt:lpstr>
    </vt:vector>
  </TitlesOfParts>
  <Company>Department of Education and Training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Parts of a sentence</dc:title>
  <dc:creator>Lincoln Le Fevre</dc:creator>
  <cp:lastModifiedBy>Lincoln Le Fevre</cp:lastModifiedBy>
  <cp:revision>42</cp:revision>
  <dcterms:created xsi:type="dcterms:W3CDTF">2018-03-01T04:25:08Z</dcterms:created>
  <dcterms:modified xsi:type="dcterms:W3CDTF">2019-12-02T02:41:48Z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0x010100F6DD71352A75C946BB20F54B03F82ED8</vt:lpwstr>
  </property>
</Properties>
</file>