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colors2.xml" ContentType="application/vnd.openxmlformats-officedocument.drawingml.diagramColors+xml"/>
  <Override PartName="/ppt/diagrams/drawing2.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diagrams/drawing1.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 id="267"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2" d="100"/>
          <a:sy n="62" d="100"/>
        </p:scale>
        <p:origin x="40" y="1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2A1F5C-4649-47CF-B692-28E048DAFE4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79C13F1-85D5-4217-80C4-DD1F2D31190B}">
      <dgm:prSet/>
      <dgm:spPr/>
      <dgm:t>
        <a:bodyPr/>
        <a:lstStyle/>
        <a:p>
          <a:r>
            <a:rPr lang="en-AU"/>
            <a:t>I would wear sneakers to an interview for an office job</a:t>
          </a:r>
          <a:endParaRPr lang="en-US"/>
        </a:p>
      </dgm:t>
    </dgm:pt>
    <dgm:pt modelId="{82A5A876-1A55-4A83-80F6-8E9F66DAD0E5}" type="parTrans" cxnId="{3684DA8F-2EC7-479C-BCAF-65D273C299E3}">
      <dgm:prSet/>
      <dgm:spPr/>
      <dgm:t>
        <a:bodyPr/>
        <a:lstStyle/>
        <a:p>
          <a:endParaRPr lang="en-US"/>
        </a:p>
      </dgm:t>
    </dgm:pt>
    <dgm:pt modelId="{7A55A34C-A998-41CE-A8A9-A77BC1B336AF}" type="sibTrans" cxnId="{3684DA8F-2EC7-479C-BCAF-65D273C299E3}">
      <dgm:prSet/>
      <dgm:spPr/>
      <dgm:t>
        <a:bodyPr/>
        <a:lstStyle/>
        <a:p>
          <a:endParaRPr lang="en-US"/>
        </a:p>
      </dgm:t>
    </dgm:pt>
    <dgm:pt modelId="{89051B06-4938-4E7F-9F7C-700BE292ED9B}">
      <dgm:prSet/>
      <dgm:spPr/>
      <dgm:t>
        <a:bodyPr/>
        <a:lstStyle/>
        <a:p>
          <a:r>
            <a:rPr lang="en-AU"/>
            <a:t>I wouldn’t swear in front of my grandparents</a:t>
          </a:r>
          <a:endParaRPr lang="en-US"/>
        </a:p>
      </dgm:t>
    </dgm:pt>
    <dgm:pt modelId="{D472283A-5CAF-4B52-B17A-7F69C58D9179}" type="parTrans" cxnId="{DA1F60ED-EBFF-4C75-9E5D-BD8060432AF3}">
      <dgm:prSet/>
      <dgm:spPr/>
      <dgm:t>
        <a:bodyPr/>
        <a:lstStyle/>
        <a:p>
          <a:endParaRPr lang="en-US"/>
        </a:p>
      </dgm:t>
    </dgm:pt>
    <dgm:pt modelId="{E4FA024B-8D2E-49DF-8D50-E118EAB05497}" type="sibTrans" cxnId="{DA1F60ED-EBFF-4C75-9E5D-BD8060432AF3}">
      <dgm:prSet/>
      <dgm:spPr/>
      <dgm:t>
        <a:bodyPr/>
        <a:lstStyle/>
        <a:p>
          <a:endParaRPr lang="en-US"/>
        </a:p>
      </dgm:t>
    </dgm:pt>
    <dgm:pt modelId="{6B9118FF-D015-47AE-BFD4-255903035181}">
      <dgm:prSet/>
      <dgm:spPr/>
      <dgm:t>
        <a:bodyPr/>
        <a:lstStyle/>
        <a:p>
          <a:r>
            <a:rPr lang="en-AU"/>
            <a:t>I would dress nicely to go to a wedding</a:t>
          </a:r>
          <a:endParaRPr lang="en-US"/>
        </a:p>
      </dgm:t>
    </dgm:pt>
    <dgm:pt modelId="{A2946979-7EF5-4D39-ACD6-6660A8937453}" type="parTrans" cxnId="{9FD08BF6-9610-4FA4-9DE7-EE1284B28AEA}">
      <dgm:prSet/>
      <dgm:spPr/>
      <dgm:t>
        <a:bodyPr/>
        <a:lstStyle/>
        <a:p>
          <a:endParaRPr lang="en-US"/>
        </a:p>
      </dgm:t>
    </dgm:pt>
    <dgm:pt modelId="{8D299CB6-8EE5-41FC-9AB1-1F108E422FB3}" type="sibTrans" cxnId="{9FD08BF6-9610-4FA4-9DE7-EE1284B28AEA}">
      <dgm:prSet/>
      <dgm:spPr/>
      <dgm:t>
        <a:bodyPr/>
        <a:lstStyle/>
        <a:p>
          <a:endParaRPr lang="en-US"/>
        </a:p>
      </dgm:t>
    </dgm:pt>
    <dgm:pt modelId="{8C403F81-9CAF-4F4A-A497-136655A2F52B}">
      <dgm:prSet/>
      <dgm:spPr/>
      <dgm:t>
        <a:bodyPr/>
        <a:lstStyle/>
        <a:p>
          <a:r>
            <a:rPr lang="en-AU"/>
            <a:t>If people judge me for my clothes, that’s their problem</a:t>
          </a:r>
          <a:endParaRPr lang="en-US"/>
        </a:p>
      </dgm:t>
    </dgm:pt>
    <dgm:pt modelId="{FFE37202-2837-43B5-B02D-1D7A94872551}" type="parTrans" cxnId="{E229604C-9B40-4DA4-9A1D-E41976B14E70}">
      <dgm:prSet/>
      <dgm:spPr/>
      <dgm:t>
        <a:bodyPr/>
        <a:lstStyle/>
        <a:p>
          <a:endParaRPr lang="en-US"/>
        </a:p>
      </dgm:t>
    </dgm:pt>
    <dgm:pt modelId="{C185E203-E4EA-41EB-AC50-A502C6A9A367}" type="sibTrans" cxnId="{E229604C-9B40-4DA4-9A1D-E41976B14E70}">
      <dgm:prSet/>
      <dgm:spPr/>
      <dgm:t>
        <a:bodyPr/>
        <a:lstStyle/>
        <a:p>
          <a:endParaRPr lang="en-US"/>
        </a:p>
      </dgm:t>
    </dgm:pt>
    <dgm:pt modelId="{27C07554-52AB-4F2B-BD14-761D7B1DC7CB}" type="pres">
      <dgm:prSet presAssocID="{C72A1F5C-4649-47CF-B692-28E048DAFE41}" presName="linear" presStyleCnt="0">
        <dgm:presLayoutVars>
          <dgm:animLvl val="lvl"/>
          <dgm:resizeHandles val="exact"/>
        </dgm:presLayoutVars>
      </dgm:prSet>
      <dgm:spPr/>
    </dgm:pt>
    <dgm:pt modelId="{9845A2C9-CAC1-4BFD-91D8-AECF1EDD8252}" type="pres">
      <dgm:prSet presAssocID="{A79C13F1-85D5-4217-80C4-DD1F2D31190B}" presName="parentText" presStyleLbl="node1" presStyleIdx="0" presStyleCnt="4">
        <dgm:presLayoutVars>
          <dgm:chMax val="0"/>
          <dgm:bulletEnabled val="1"/>
        </dgm:presLayoutVars>
      </dgm:prSet>
      <dgm:spPr/>
    </dgm:pt>
    <dgm:pt modelId="{ECDC6454-727B-404B-BD67-DE3EB061D1C5}" type="pres">
      <dgm:prSet presAssocID="{7A55A34C-A998-41CE-A8A9-A77BC1B336AF}" presName="spacer" presStyleCnt="0"/>
      <dgm:spPr/>
    </dgm:pt>
    <dgm:pt modelId="{C487D735-09FE-4ABC-AB21-5DB75859C3A4}" type="pres">
      <dgm:prSet presAssocID="{89051B06-4938-4E7F-9F7C-700BE292ED9B}" presName="parentText" presStyleLbl="node1" presStyleIdx="1" presStyleCnt="4">
        <dgm:presLayoutVars>
          <dgm:chMax val="0"/>
          <dgm:bulletEnabled val="1"/>
        </dgm:presLayoutVars>
      </dgm:prSet>
      <dgm:spPr/>
    </dgm:pt>
    <dgm:pt modelId="{2CC4EA30-508D-4230-BC1A-3E23A507610B}" type="pres">
      <dgm:prSet presAssocID="{E4FA024B-8D2E-49DF-8D50-E118EAB05497}" presName="spacer" presStyleCnt="0"/>
      <dgm:spPr/>
    </dgm:pt>
    <dgm:pt modelId="{F4F97E48-D684-4366-971C-8DE6C64274C1}" type="pres">
      <dgm:prSet presAssocID="{6B9118FF-D015-47AE-BFD4-255903035181}" presName="parentText" presStyleLbl="node1" presStyleIdx="2" presStyleCnt="4">
        <dgm:presLayoutVars>
          <dgm:chMax val="0"/>
          <dgm:bulletEnabled val="1"/>
        </dgm:presLayoutVars>
      </dgm:prSet>
      <dgm:spPr/>
    </dgm:pt>
    <dgm:pt modelId="{247FFB2D-218E-4475-8024-32676AE383A1}" type="pres">
      <dgm:prSet presAssocID="{8D299CB6-8EE5-41FC-9AB1-1F108E422FB3}" presName="spacer" presStyleCnt="0"/>
      <dgm:spPr/>
    </dgm:pt>
    <dgm:pt modelId="{85877D76-0E86-4407-87C4-32038F0F87AB}" type="pres">
      <dgm:prSet presAssocID="{8C403F81-9CAF-4F4A-A497-136655A2F52B}" presName="parentText" presStyleLbl="node1" presStyleIdx="3" presStyleCnt="4">
        <dgm:presLayoutVars>
          <dgm:chMax val="0"/>
          <dgm:bulletEnabled val="1"/>
        </dgm:presLayoutVars>
      </dgm:prSet>
      <dgm:spPr/>
    </dgm:pt>
  </dgm:ptLst>
  <dgm:cxnLst>
    <dgm:cxn modelId="{DF549B02-A393-4461-99BB-3ABDE5DBA2E2}" type="presOf" srcId="{A79C13F1-85D5-4217-80C4-DD1F2D31190B}" destId="{9845A2C9-CAC1-4BFD-91D8-AECF1EDD8252}" srcOrd="0" destOrd="0" presId="urn:microsoft.com/office/officeart/2005/8/layout/vList2"/>
    <dgm:cxn modelId="{4C07F960-91FE-41CC-9312-71809B6114A3}" type="presOf" srcId="{C72A1F5C-4649-47CF-B692-28E048DAFE41}" destId="{27C07554-52AB-4F2B-BD14-761D7B1DC7CB}" srcOrd="0" destOrd="0" presId="urn:microsoft.com/office/officeart/2005/8/layout/vList2"/>
    <dgm:cxn modelId="{E229604C-9B40-4DA4-9A1D-E41976B14E70}" srcId="{C72A1F5C-4649-47CF-B692-28E048DAFE41}" destId="{8C403F81-9CAF-4F4A-A497-136655A2F52B}" srcOrd="3" destOrd="0" parTransId="{FFE37202-2837-43B5-B02D-1D7A94872551}" sibTransId="{C185E203-E4EA-41EB-AC50-A502C6A9A367}"/>
    <dgm:cxn modelId="{B4C74B8B-14D1-4248-9842-36C779D10B58}" type="presOf" srcId="{8C403F81-9CAF-4F4A-A497-136655A2F52B}" destId="{85877D76-0E86-4407-87C4-32038F0F87AB}" srcOrd="0" destOrd="0" presId="urn:microsoft.com/office/officeart/2005/8/layout/vList2"/>
    <dgm:cxn modelId="{3684DA8F-2EC7-479C-BCAF-65D273C299E3}" srcId="{C72A1F5C-4649-47CF-B692-28E048DAFE41}" destId="{A79C13F1-85D5-4217-80C4-DD1F2D31190B}" srcOrd="0" destOrd="0" parTransId="{82A5A876-1A55-4A83-80F6-8E9F66DAD0E5}" sibTransId="{7A55A34C-A998-41CE-A8A9-A77BC1B336AF}"/>
    <dgm:cxn modelId="{7ED9099F-5AC6-4E63-9C2D-1A7CB910D358}" type="presOf" srcId="{6B9118FF-D015-47AE-BFD4-255903035181}" destId="{F4F97E48-D684-4366-971C-8DE6C64274C1}" srcOrd="0" destOrd="0" presId="urn:microsoft.com/office/officeart/2005/8/layout/vList2"/>
    <dgm:cxn modelId="{DA1F60ED-EBFF-4C75-9E5D-BD8060432AF3}" srcId="{C72A1F5C-4649-47CF-B692-28E048DAFE41}" destId="{89051B06-4938-4E7F-9F7C-700BE292ED9B}" srcOrd="1" destOrd="0" parTransId="{D472283A-5CAF-4B52-B17A-7F69C58D9179}" sibTransId="{E4FA024B-8D2E-49DF-8D50-E118EAB05497}"/>
    <dgm:cxn modelId="{9FD08BF6-9610-4FA4-9DE7-EE1284B28AEA}" srcId="{C72A1F5C-4649-47CF-B692-28E048DAFE41}" destId="{6B9118FF-D015-47AE-BFD4-255903035181}" srcOrd="2" destOrd="0" parTransId="{A2946979-7EF5-4D39-ACD6-6660A8937453}" sibTransId="{8D299CB6-8EE5-41FC-9AB1-1F108E422FB3}"/>
    <dgm:cxn modelId="{2EC7BCF9-C509-40D6-BC1C-CB4B2BB773AD}" type="presOf" srcId="{89051B06-4938-4E7F-9F7C-700BE292ED9B}" destId="{C487D735-09FE-4ABC-AB21-5DB75859C3A4}" srcOrd="0" destOrd="0" presId="urn:microsoft.com/office/officeart/2005/8/layout/vList2"/>
    <dgm:cxn modelId="{D0494388-85C2-44F8-B002-C584A5B7FF29}" type="presParOf" srcId="{27C07554-52AB-4F2B-BD14-761D7B1DC7CB}" destId="{9845A2C9-CAC1-4BFD-91D8-AECF1EDD8252}" srcOrd="0" destOrd="0" presId="urn:microsoft.com/office/officeart/2005/8/layout/vList2"/>
    <dgm:cxn modelId="{CFF39C7A-0E78-414B-903A-B5FC2922BBAE}" type="presParOf" srcId="{27C07554-52AB-4F2B-BD14-761D7B1DC7CB}" destId="{ECDC6454-727B-404B-BD67-DE3EB061D1C5}" srcOrd="1" destOrd="0" presId="urn:microsoft.com/office/officeart/2005/8/layout/vList2"/>
    <dgm:cxn modelId="{4CC826EE-8F13-433D-BDFA-C7659D147E3A}" type="presParOf" srcId="{27C07554-52AB-4F2B-BD14-761D7B1DC7CB}" destId="{C487D735-09FE-4ABC-AB21-5DB75859C3A4}" srcOrd="2" destOrd="0" presId="urn:microsoft.com/office/officeart/2005/8/layout/vList2"/>
    <dgm:cxn modelId="{ED01EE0C-A18F-4AEE-A75C-F7F63FC99754}" type="presParOf" srcId="{27C07554-52AB-4F2B-BD14-761D7B1DC7CB}" destId="{2CC4EA30-508D-4230-BC1A-3E23A507610B}" srcOrd="3" destOrd="0" presId="urn:microsoft.com/office/officeart/2005/8/layout/vList2"/>
    <dgm:cxn modelId="{EB55483F-0D1F-4A77-A9DA-2B0EFD03C27D}" type="presParOf" srcId="{27C07554-52AB-4F2B-BD14-761D7B1DC7CB}" destId="{F4F97E48-D684-4366-971C-8DE6C64274C1}" srcOrd="4" destOrd="0" presId="urn:microsoft.com/office/officeart/2005/8/layout/vList2"/>
    <dgm:cxn modelId="{CA0F75E8-E241-489F-B1A6-4DFFF1076081}" type="presParOf" srcId="{27C07554-52AB-4F2B-BD14-761D7B1DC7CB}" destId="{247FFB2D-218E-4475-8024-32676AE383A1}" srcOrd="5" destOrd="0" presId="urn:microsoft.com/office/officeart/2005/8/layout/vList2"/>
    <dgm:cxn modelId="{335BAD34-B57E-40F1-97B4-4C2823CC137F}" type="presParOf" srcId="{27C07554-52AB-4F2B-BD14-761D7B1DC7CB}" destId="{85877D76-0E86-4407-87C4-32038F0F87A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FB8136-876B-4757-B607-48EE9A59DC4A}"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9A626129-465B-4623-9D15-2E019CE2BFCE}">
      <dgm:prSet/>
      <dgm:spPr/>
      <dgm:t>
        <a:bodyPr/>
        <a:lstStyle/>
        <a:p>
          <a:r>
            <a:rPr lang="en-AU"/>
            <a:t>Formal v informal</a:t>
          </a:r>
          <a:endParaRPr lang="en-US"/>
        </a:p>
      </dgm:t>
    </dgm:pt>
    <dgm:pt modelId="{653DF182-9037-45B5-A666-D03004CC95E2}" type="parTrans" cxnId="{2988D6CA-42E4-474A-980D-E0C48F3F4EB0}">
      <dgm:prSet/>
      <dgm:spPr/>
      <dgm:t>
        <a:bodyPr/>
        <a:lstStyle/>
        <a:p>
          <a:endParaRPr lang="en-US"/>
        </a:p>
      </dgm:t>
    </dgm:pt>
    <dgm:pt modelId="{E86913A8-61FD-455C-846B-A412617C6F9D}" type="sibTrans" cxnId="{2988D6CA-42E4-474A-980D-E0C48F3F4EB0}">
      <dgm:prSet/>
      <dgm:spPr/>
      <dgm:t>
        <a:bodyPr/>
        <a:lstStyle/>
        <a:p>
          <a:endParaRPr lang="en-US"/>
        </a:p>
      </dgm:t>
    </dgm:pt>
    <dgm:pt modelId="{31125409-C665-4044-A072-546240892C25}">
      <dgm:prSet/>
      <dgm:spPr/>
      <dgm:t>
        <a:bodyPr/>
        <a:lstStyle/>
        <a:p>
          <a:r>
            <a:rPr lang="en-AU"/>
            <a:t>Written v spoken</a:t>
          </a:r>
          <a:endParaRPr lang="en-US"/>
        </a:p>
      </dgm:t>
    </dgm:pt>
    <dgm:pt modelId="{9A00EB4C-A3E3-4A1E-B396-C4C121CC9703}" type="parTrans" cxnId="{0220B886-15D2-4ECE-84A3-49B97D58130C}">
      <dgm:prSet/>
      <dgm:spPr/>
      <dgm:t>
        <a:bodyPr/>
        <a:lstStyle/>
        <a:p>
          <a:endParaRPr lang="en-US"/>
        </a:p>
      </dgm:t>
    </dgm:pt>
    <dgm:pt modelId="{5E03649C-B768-44E1-956A-935EEB71E5ED}" type="sibTrans" cxnId="{0220B886-15D2-4ECE-84A3-49B97D58130C}">
      <dgm:prSet/>
      <dgm:spPr/>
      <dgm:t>
        <a:bodyPr/>
        <a:lstStyle/>
        <a:p>
          <a:endParaRPr lang="en-US"/>
        </a:p>
      </dgm:t>
    </dgm:pt>
    <dgm:pt modelId="{6E13BA43-2410-45F0-AAD3-5208158DB497}" type="pres">
      <dgm:prSet presAssocID="{01FB8136-876B-4757-B607-48EE9A59DC4A}" presName="linear" presStyleCnt="0">
        <dgm:presLayoutVars>
          <dgm:dir/>
          <dgm:animLvl val="lvl"/>
          <dgm:resizeHandles val="exact"/>
        </dgm:presLayoutVars>
      </dgm:prSet>
      <dgm:spPr/>
    </dgm:pt>
    <dgm:pt modelId="{1677016A-5AB5-4B8B-B010-0EC26E243FCE}" type="pres">
      <dgm:prSet presAssocID="{9A626129-465B-4623-9D15-2E019CE2BFCE}" presName="parentLin" presStyleCnt="0"/>
      <dgm:spPr/>
    </dgm:pt>
    <dgm:pt modelId="{7CC9CF03-F04B-4AC8-ACAC-8B2B904D3558}" type="pres">
      <dgm:prSet presAssocID="{9A626129-465B-4623-9D15-2E019CE2BFCE}" presName="parentLeftMargin" presStyleLbl="node1" presStyleIdx="0" presStyleCnt="2"/>
      <dgm:spPr/>
    </dgm:pt>
    <dgm:pt modelId="{0BBC0479-548E-49E2-96DD-A77CDEBFDFDA}" type="pres">
      <dgm:prSet presAssocID="{9A626129-465B-4623-9D15-2E019CE2BFCE}" presName="parentText" presStyleLbl="node1" presStyleIdx="0" presStyleCnt="2">
        <dgm:presLayoutVars>
          <dgm:chMax val="0"/>
          <dgm:bulletEnabled val="1"/>
        </dgm:presLayoutVars>
      </dgm:prSet>
      <dgm:spPr/>
    </dgm:pt>
    <dgm:pt modelId="{AA423812-4D9E-4838-8565-FF13D2115956}" type="pres">
      <dgm:prSet presAssocID="{9A626129-465B-4623-9D15-2E019CE2BFCE}" presName="negativeSpace" presStyleCnt="0"/>
      <dgm:spPr/>
    </dgm:pt>
    <dgm:pt modelId="{4D803504-856C-4CF0-89B4-06DF1B04FD59}" type="pres">
      <dgm:prSet presAssocID="{9A626129-465B-4623-9D15-2E019CE2BFCE}" presName="childText" presStyleLbl="conFgAcc1" presStyleIdx="0" presStyleCnt="2">
        <dgm:presLayoutVars>
          <dgm:bulletEnabled val="1"/>
        </dgm:presLayoutVars>
      </dgm:prSet>
      <dgm:spPr/>
    </dgm:pt>
    <dgm:pt modelId="{A5A5C66B-A5DE-4370-BA2B-1314EF39B1DD}" type="pres">
      <dgm:prSet presAssocID="{E86913A8-61FD-455C-846B-A412617C6F9D}" presName="spaceBetweenRectangles" presStyleCnt="0"/>
      <dgm:spPr/>
    </dgm:pt>
    <dgm:pt modelId="{5096EAEE-0BBB-47D8-9D71-C3DE458B1EE7}" type="pres">
      <dgm:prSet presAssocID="{31125409-C665-4044-A072-546240892C25}" presName="parentLin" presStyleCnt="0"/>
      <dgm:spPr/>
    </dgm:pt>
    <dgm:pt modelId="{373BEBE7-AA1F-4FA7-A25C-4C185519555F}" type="pres">
      <dgm:prSet presAssocID="{31125409-C665-4044-A072-546240892C25}" presName="parentLeftMargin" presStyleLbl="node1" presStyleIdx="0" presStyleCnt="2"/>
      <dgm:spPr/>
    </dgm:pt>
    <dgm:pt modelId="{F7715AA5-649E-40EB-8F37-2320E261F194}" type="pres">
      <dgm:prSet presAssocID="{31125409-C665-4044-A072-546240892C25}" presName="parentText" presStyleLbl="node1" presStyleIdx="1" presStyleCnt="2">
        <dgm:presLayoutVars>
          <dgm:chMax val="0"/>
          <dgm:bulletEnabled val="1"/>
        </dgm:presLayoutVars>
      </dgm:prSet>
      <dgm:spPr/>
    </dgm:pt>
    <dgm:pt modelId="{7BEAC2DA-6AF2-43E0-A199-E26EC7304C26}" type="pres">
      <dgm:prSet presAssocID="{31125409-C665-4044-A072-546240892C25}" presName="negativeSpace" presStyleCnt="0"/>
      <dgm:spPr/>
    </dgm:pt>
    <dgm:pt modelId="{3D5BB7EF-A61B-460F-A13E-7195820D8B7F}" type="pres">
      <dgm:prSet presAssocID="{31125409-C665-4044-A072-546240892C25}" presName="childText" presStyleLbl="conFgAcc1" presStyleIdx="1" presStyleCnt="2">
        <dgm:presLayoutVars>
          <dgm:bulletEnabled val="1"/>
        </dgm:presLayoutVars>
      </dgm:prSet>
      <dgm:spPr/>
    </dgm:pt>
  </dgm:ptLst>
  <dgm:cxnLst>
    <dgm:cxn modelId="{71287024-1C60-4ACC-B32A-BD9D1117496D}" type="presOf" srcId="{01FB8136-876B-4757-B607-48EE9A59DC4A}" destId="{6E13BA43-2410-45F0-AAD3-5208158DB497}" srcOrd="0" destOrd="0" presId="urn:microsoft.com/office/officeart/2005/8/layout/list1"/>
    <dgm:cxn modelId="{0CAC9F2C-51EF-4456-97F0-B7340473C14F}" type="presOf" srcId="{9A626129-465B-4623-9D15-2E019CE2BFCE}" destId="{7CC9CF03-F04B-4AC8-ACAC-8B2B904D3558}" srcOrd="0" destOrd="0" presId="urn:microsoft.com/office/officeart/2005/8/layout/list1"/>
    <dgm:cxn modelId="{0692057D-C5AF-4353-8023-5FA2090DEA55}" type="presOf" srcId="{31125409-C665-4044-A072-546240892C25}" destId="{F7715AA5-649E-40EB-8F37-2320E261F194}" srcOrd="1" destOrd="0" presId="urn:microsoft.com/office/officeart/2005/8/layout/list1"/>
    <dgm:cxn modelId="{0220B886-15D2-4ECE-84A3-49B97D58130C}" srcId="{01FB8136-876B-4757-B607-48EE9A59DC4A}" destId="{31125409-C665-4044-A072-546240892C25}" srcOrd="1" destOrd="0" parTransId="{9A00EB4C-A3E3-4A1E-B396-C4C121CC9703}" sibTransId="{5E03649C-B768-44E1-956A-935EEB71E5ED}"/>
    <dgm:cxn modelId="{A18F6999-BBDD-4FC8-91DC-29B6091D59AA}" type="presOf" srcId="{31125409-C665-4044-A072-546240892C25}" destId="{373BEBE7-AA1F-4FA7-A25C-4C185519555F}" srcOrd="0" destOrd="0" presId="urn:microsoft.com/office/officeart/2005/8/layout/list1"/>
    <dgm:cxn modelId="{5A0473C8-68C0-4A3D-B4D8-9E6DC1262524}" type="presOf" srcId="{9A626129-465B-4623-9D15-2E019CE2BFCE}" destId="{0BBC0479-548E-49E2-96DD-A77CDEBFDFDA}" srcOrd="1" destOrd="0" presId="urn:microsoft.com/office/officeart/2005/8/layout/list1"/>
    <dgm:cxn modelId="{2988D6CA-42E4-474A-980D-E0C48F3F4EB0}" srcId="{01FB8136-876B-4757-B607-48EE9A59DC4A}" destId="{9A626129-465B-4623-9D15-2E019CE2BFCE}" srcOrd="0" destOrd="0" parTransId="{653DF182-9037-45B5-A666-D03004CC95E2}" sibTransId="{E86913A8-61FD-455C-846B-A412617C6F9D}"/>
    <dgm:cxn modelId="{772529FA-77DA-4213-B8CB-2FF542FE995A}" type="presParOf" srcId="{6E13BA43-2410-45F0-AAD3-5208158DB497}" destId="{1677016A-5AB5-4B8B-B010-0EC26E243FCE}" srcOrd="0" destOrd="0" presId="urn:microsoft.com/office/officeart/2005/8/layout/list1"/>
    <dgm:cxn modelId="{855FDDDD-B06A-4046-B9ED-D3D6EB9C3668}" type="presParOf" srcId="{1677016A-5AB5-4B8B-B010-0EC26E243FCE}" destId="{7CC9CF03-F04B-4AC8-ACAC-8B2B904D3558}" srcOrd="0" destOrd="0" presId="urn:microsoft.com/office/officeart/2005/8/layout/list1"/>
    <dgm:cxn modelId="{4461DDC9-B5EF-4664-BD0F-88E5FAB02C39}" type="presParOf" srcId="{1677016A-5AB5-4B8B-B010-0EC26E243FCE}" destId="{0BBC0479-548E-49E2-96DD-A77CDEBFDFDA}" srcOrd="1" destOrd="0" presId="urn:microsoft.com/office/officeart/2005/8/layout/list1"/>
    <dgm:cxn modelId="{40E686D8-FC42-48C4-95C5-477CFF45F3EC}" type="presParOf" srcId="{6E13BA43-2410-45F0-AAD3-5208158DB497}" destId="{AA423812-4D9E-4838-8565-FF13D2115956}" srcOrd="1" destOrd="0" presId="urn:microsoft.com/office/officeart/2005/8/layout/list1"/>
    <dgm:cxn modelId="{AFC1C729-7239-491C-B653-A904E895A326}" type="presParOf" srcId="{6E13BA43-2410-45F0-AAD3-5208158DB497}" destId="{4D803504-856C-4CF0-89B4-06DF1B04FD59}" srcOrd="2" destOrd="0" presId="urn:microsoft.com/office/officeart/2005/8/layout/list1"/>
    <dgm:cxn modelId="{6E7C4859-BD43-4068-93EE-6853ECE9F308}" type="presParOf" srcId="{6E13BA43-2410-45F0-AAD3-5208158DB497}" destId="{A5A5C66B-A5DE-4370-BA2B-1314EF39B1DD}" srcOrd="3" destOrd="0" presId="urn:microsoft.com/office/officeart/2005/8/layout/list1"/>
    <dgm:cxn modelId="{76F3A592-BAEE-4F64-8469-7A17D87C0E66}" type="presParOf" srcId="{6E13BA43-2410-45F0-AAD3-5208158DB497}" destId="{5096EAEE-0BBB-47D8-9D71-C3DE458B1EE7}" srcOrd="4" destOrd="0" presId="urn:microsoft.com/office/officeart/2005/8/layout/list1"/>
    <dgm:cxn modelId="{06574762-5E51-4C8D-9450-6697F6826283}" type="presParOf" srcId="{5096EAEE-0BBB-47D8-9D71-C3DE458B1EE7}" destId="{373BEBE7-AA1F-4FA7-A25C-4C185519555F}" srcOrd="0" destOrd="0" presId="urn:microsoft.com/office/officeart/2005/8/layout/list1"/>
    <dgm:cxn modelId="{DA2D1127-A576-4BB4-B09A-14945A0774BF}" type="presParOf" srcId="{5096EAEE-0BBB-47D8-9D71-C3DE458B1EE7}" destId="{F7715AA5-649E-40EB-8F37-2320E261F194}" srcOrd="1" destOrd="0" presId="urn:microsoft.com/office/officeart/2005/8/layout/list1"/>
    <dgm:cxn modelId="{6CF6A811-1A39-46FA-9E46-EE31398E4E4A}" type="presParOf" srcId="{6E13BA43-2410-45F0-AAD3-5208158DB497}" destId="{7BEAC2DA-6AF2-43E0-A199-E26EC7304C26}" srcOrd="5" destOrd="0" presId="urn:microsoft.com/office/officeart/2005/8/layout/list1"/>
    <dgm:cxn modelId="{43E93E4F-E7DD-44D0-8E8E-85D3BA70AC82}" type="presParOf" srcId="{6E13BA43-2410-45F0-AAD3-5208158DB497}" destId="{3D5BB7EF-A61B-460F-A13E-7195820D8B7F}"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45A2C9-CAC1-4BFD-91D8-AECF1EDD8252}">
      <dsp:nvSpPr>
        <dsp:cNvPr id="0" name=""/>
        <dsp:cNvSpPr/>
      </dsp:nvSpPr>
      <dsp:spPr>
        <a:xfrm>
          <a:off x="0" y="226097"/>
          <a:ext cx="10168127"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AU" sz="3100" kern="1200"/>
            <a:t>I would wear sneakers to an interview for an office job</a:t>
          </a:r>
          <a:endParaRPr lang="en-US" sz="3100" kern="1200"/>
        </a:p>
      </dsp:txBody>
      <dsp:txXfrm>
        <a:off x="36296" y="262393"/>
        <a:ext cx="10095535" cy="670943"/>
      </dsp:txXfrm>
    </dsp:sp>
    <dsp:sp modelId="{C487D735-09FE-4ABC-AB21-5DB75859C3A4}">
      <dsp:nvSpPr>
        <dsp:cNvPr id="0" name=""/>
        <dsp:cNvSpPr/>
      </dsp:nvSpPr>
      <dsp:spPr>
        <a:xfrm>
          <a:off x="0" y="1058912"/>
          <a:ext cx="10168127"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AU" sz="3100" kern="1200"/>
            <a:t>I wouldn’t swear in front of my grandparents</a:t>
          </a:r>
          <a:endParaRPr lang="en-US" sz="3100" kern="1200"/>
        </a:p>
      </dsp:txBody>
      <dsp:txXfrm>
        <a:off x="36296" y="1095208"/>
        <a:ext cx="10095535" cy="670943"/>
      </dsp:txXfrm>
    </dsp:sp>
    <dsp:sp modelId="{F4F97E48-D684-4366-971C-8DE6C64274C1}">
      <dsp:nvSpPr>
        <dsp:cNvPr id="0" name=""/>
        <dsp:cNvSpPr/>
      </dsp:nvSpPr>
      <dsp:spPr>
        <a:xfrm>
          <a:off x="0" y="1891727"/>
          <a:ext cx="10168127"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AU" sz="3100" kern="1200"/>
            <a:t>I would dress nicely to go to a wedding</a:t>
          </a:r>
          <a:endParaRPr lang="en-US" sz="3100" kern="1200"/>
        </a:p>
      </dsp:txBody>
      <dsp:txXfrm>
        <a:off x="36296" y="1928023"/>
        <a:ext cx="10095535" cy="670943"/>
      </dsp:txXfrm>
    </dsp:sp>
    <dsp:sp modelId="{85877D76-0E86-4407-87C4-32038F0F87AB}">
      <dsp:nvSpPr>
        <dsp:cNvPr id="0" name=""/>
        <dsp:cNvSpPr/>
      </dsp:nvSpPr>
      <dsp:spPr>
        <a:xfrm>
          <a:off x="0" y="2724542"/>
          <a:ext cx="10168127"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AU" sz="3100" kern="1200"/>
            <a:t>If people judge me for my clothes, that’s their problem</a:t>
          </a:r>
          <a:endParaRPr lang="en-US" sz="3100" kern="1200"/>
        </a:p>
      </dsp:txBody>
      <dsp:txXfrm>
        <a:off x="36296" y="2760838"/>
        <a:ext cx="10095535" cy="6709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803504-856C-4CF0-89B4-06DF1B04FD59}">
      <dsp:nvSpPr>
        <dsp:cNvPr id="0" name=""/>
        <dsp:cNvSpPr/>
      </dsp:nvSpPr>
      <dsp:spPr>
        <a:xfrm>
          <a:off x="0" y="647388"/>
          <a:ext cx="10168127" cy="108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BBC0479-548E-49E2-96DD-A77CDEBFDFDA}">
      <dsp:nvSpPr>
        <dsp:cNvPr id="0" name=""/>
        <dsp:cNvSpPr/>
      </dsp:nvSpPr>
      <dsp:spPr>
        <a:xfrm>
          <a:off x="508406" y="12708"/>
          <a:ext cx="7117689" cy="1269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9032" tIns="0" rIns="269032" bIns="0" numCol="1" spcCol="1270" anchor="ctr" anchorCtr="0">
          <a:noAutofit/>
        </a:bodyPr>
        <a:lstStyle/>
        <a:p>
          <a:pPr marL="0" lvl="0" indent="0" algn="l" defTabSz="1911350">
            <a:lnSpc>
              <a:spcPct val="90000"/>
            </a:lnSpc>
            <a:spcBef>
              <a:spcPct val="0"/>
            </a:spcBef>
            <a:spcAft>
              <a:spcPct val="35000"/>
            </a:spcAft>
            <a:buNone/>
          </a:pPr>
          <a:r>
            <a:rPr lang="en-AU" sz="4300" kern="1200"/>
            <a:t>Formal v informal</a:t>
          </a:r>
          <a:endParaRPr lang="en-US" sz="4300" kern="1200"/>
        </a:p>
      </dsp:txBody>
      <dsp:txXfrm>
        <a:off x="570371" y="74673"/>
        <a:ext cx="6993759" cy="1145430"/>
      </dsp:txXfrm>
    </dsp:sp>
    <dsp:sp modelId="{3D5BB7EF-A61B-460F-A13E-7195820D8B7F}">
      <dsp:nvSpPr>
        <dsp:cNvPr id="0" name=""/>
        <dsp:cNvSpPr/>
      </dsp:nvSpPr>
      <dsp:spPr>
        <a:xfrm>
          <a:off x="0" y="2597868"/>
          <a:ext cx="10168127" cy="108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7715AA5-649E-40EB-8F37-2320E261F194}">
      <dsp:nvSpPr>
        <dsp:cNvPr id="0" name=""/>
        <dsp:cNvSpPr/>
      </dsp:nvSpPr>
      <dsp:spPr>
        <a:xfrm>
          <a:off x="508406" y="1963188"/>
          <a:ext cx="7117689" cy="1269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9032" tIns="0" rIns="269032" bIns="0" numCol="1" spcCol="1270" anchor="ctr" anchorCtr="0">
          <a:noAutofit/>
        </a:bodyPr>
        <a:lstStyle/>
        <a:p>
          <a:pPr marL="0" lvl="0" indent="0" algn="l" defTabSz="1911350">
            <a:lnSpc>
              <a:spcPct val="90000"/>
            </a:lnSpc>
            <a:spcBef>
              <a:spcPct val="0"/>
            </a:spcBef>
            <a:spcAft>
              <a:spcPct val="35000"/>
            </a:spcAft>
            <a:buNone/>
          </a:pPr>
          <a:r>
            <a:rPr lang="en-AU" sz="4300" kern="1200"/>
            <a:t>Written v spoken</a:t>
          </a:r>
          <a:endParaRPr lang="en-US" sz="4300" kern="1200"/>
        </a:p>
      </dsp:txBody>
      <dsp:txXfrm>
        <a:off x="570371" y="2025153"/>
        <a:ext cx="6993759" cy="114543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7/12/2023</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4942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7/12/2023</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114867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7/12/2023</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174172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7/12/2023</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511466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7/12/2023</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121433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7/12/2023</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839310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7/12/2023</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289001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7/12/2023</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953440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7/12/2023</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51558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7/12/2023</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095679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7/12/2023</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905828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7/12/2023</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742256688"/>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A4374D-F270-4C02-88D7-B751FD9BD6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1ACA2EA0-FFD3-42EC-9406-B595015ED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pic>
        <p:nvPicPr>
          <p:cNvPr id="4" name="Picture 3" descr="Colorful liquid art">
            <a:extLst>
              <a:ext uri="{FF2B5EF4-FFF2-40B4-BE49-F238E27FC236}">
                <a16:creationId xmlns:a16="http://schemas.microsoft.com/office/drawing/2014/main" id="{10476996-013A-9042-EF37-669EC703DC60}"/>
              </a:ext>
            </a:extLst>
          </p:cNvPr>
          <p:cNvPicPr>
            <a:picLocks noChangeAspect="1"/>
          </p:cNvPicPr>
          <p:nvPr/>
        </p:nvPicPr>
        <p:blipFill rotWithShape="1">
          <a:blip r:embed="rId2">
            <a:alphaModFix amt="60000"/>
          </a:blip>
          <a:srcRect t="10153" b="9490"/>
          <a:stretch/>
        </p:blipFill>
        <p:spPr>
          <a:xfrm>
            <a:off x="20" y="10"/>
            <a:ext cx="12191979" cy="6857989"/>
          </a:xfrm>
          <a:prstGeom prst="rect">
            <a:avLst/>
          </a:prstGeom>
        </p:spPr>
      </p:pic>
      <p:sp>
        <p:nvSpPr>
          <p:cNvPr id="13" name="Rectangle 12">
            <a:extLst>
              <a:ext uri="{FF2B5EF4-FFF2-40B4-BE49-F238E27FC236}">
                <a16:creationId xmlns:a16="http://schemas.microsoft.com/office/drawing/2014/main" id="{D5288BCE-665C-472A-8C43-664BCFA31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solidFill>
            <a:schemeClr val="bg1">
              <a:alpha val="95000"/>
            </a:schemeClr>
          </a:solidFill>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CAC966F-BDFF-12D5-AC76-90463793978D}"/>
              </a:ext>
            </a:extLst>
          </p:cNvPr>
          <p:cNvSpPr>
            <a:spLocks noGrp="1"/>
          </p:cNvSpPr>
          <p:nvPr>
            <p:ph type="ctrTitle"/>
          </p:nvPr>
        </p:nvSpPr>
        <p:spPr>
          <a:xfrm>
            <a:off x="1804988" y="1442172"/>
            <a:ext cx="8582025" cy="2177328"/>
          </a:xfrm>
        </p:spPr>
        <p:txBody>
          <a:bodyPr anchor="ctr">
            <a:normAutofit/>
          </a:bodyPr>
          <a:lstStyle/>
          <a:p>
            <a:pPr algn="ctr"/>
            <a:r>
              <a:rPr lang="en-AU" sz="7200" dirty="0"/>
              <a:t>Register</a:t>
            </a:r>
          </a:p>
        </p:txBody>
      </p:sp>
      <p:sp>
        <p:nvSpPr>
          <p:cNvPr id="15" name="Rectangle: Rounded Corners 14">
            <a:extLst>
              <a:ext uri="{FF2B5EF4-FFF2-40B4-BE49-F238E27FC236}">
                <a16:creationId xmlns:a16="http://schemas.microsoft.com/office/drawing/2014/main" id="{46C57131-53A7-4C1A-BEA8-25F06A06A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3" name="Subtitle 2">
            <a:extLst>
              <a:ext uri="{FF2B5EF4-FFF2-40B4-BE49-F238E27FC236}">
                <a16:creationId xmlns:a16="http://schemas.microsoft.com/office/drawing/2014/main" id="{CBFA5C74-3C32-349C-8EE5-3FEAE9B8E5AB}"/>
              </a:ext>
            </a:extLst>
          </p:cNvPr>
          <p:cNvSpPr>
            <a:spLocks noGrp="1"/>
          </p:cNvSpPr>
          <p:nvPr>
            <p:ph type="subTitle" idx="1"/>
          </p:nvPr>
        </p:nvSpPr>
        <p:spPr>
          <a:xfrm>
            <a:off x="2566988" y="3962400"/>
            <a:ext cx="7058025" cy="581025"/>
          </a:xfrm>
        </p:spPr>
        <p:txBody>
          <a:bodyPr anchor="ctr">
            <a:normAutofit/>
          </a:bodyPr>
          <a:lstStyle/>
          <a:p>
            <a:pPr algn="ctr"/>
            <a:r>
              <a:rPr lang="en-AU" dirty="0">
                <a:solidFill>
                  <a:srgbClr val="FFFFFF"/>
                </a:solidFill>
              </a:rPr>
              <a:t>Oral presentations</a:t>
            </a:r>
          </a:p>
        </p:txBody>
      </p:sp>
    </p:spTree>
    <p:extLst>
      <p:ext uri="{BB962C8B-B14F-4D97-AF65-F5344CB8AC3E}">
        <p14:creationId xmlns:p14="http://schemas.microsoft.com/office/powerpoint/2010/main" val="2469311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521F3-4C03-0DD3-FCD0-14A050794814}"/>
              </a:ext>
            </a:extLst>
          </p:cNvPr>
          <p:cNvSpPr>
            <a:spLocks noGrp="1"/>
          </p:cNvSpPr>
          <p:nvPr>
            <p:ph type="title"/>
          </p:nvPr>
        </p:nvSpPr>
        <p:spPr/>
        <p:txBody>
          <a:bodyPr/>
          <a:lstStyle/>
          <a:p>
            <a:r>
              <a:rPr lang="en-AU" dirty="0"/>
              <a:t>Learning outcomes</a:t>
            </a:r>
          </a:p>
        </p:txBody>
      </p:sp>
      <p:sp>
        <p:nvSpPr>
          <p:cNvPr id="3" name="Text Placeholder 2">
            <a:extLst>
              <a:ext uri="{FF2B5EF4-FFF2-40B4-BE49-F238E27FC236}">
                <a16:creationId xmlns:a16="http://schemas.microsoft.com/office/drawing/2014/main" id="{944DEC17-FAD9-C73A-5B42-E36676A2B512}"/>
              </a:ext>
            </a:extLst>
          </p:cNvPr>
          <p:cNvSpPr>
            <a:spLocks noGrp="1"/>
          </p:cNvSpPr>
          <p:nvPr>
            <p:ph type="body" idx="1"/>
          </p:nvPr>
        </p:nvSpPr>
        <p:spPr/>
        <p:txBody>
          <a:bodyPr>
            <a:normAutofit lnSpcReduction="10000"/>
          </a:bodyPr>
          <a:lstStyle/>
          <a:p>
            <a:r>
              <a:rPr lang="en-AU" dirty="0"/>
              <a:t>Learning intentions</a:t>
            </a:r>
          </a:p>
          <a:p>
            <a:endParaRPr lang="en-AU" dirty="0"/>
          </a:p>
        </p:txBody>
      </p:sp>
      <p:sp>
        <p:nvSpPr>
          <p:cNvPr id="4" name="Content Placeholder 3">
            <a:extLst>
              <a:ext uri="{FF2B5EF4-FFF2-40B4-BE49-F238E27FC236}">
                <a16:creationId xmlns:a16="http://schemas.microsoft.com/office/drawing/2014/main" id="{E52DDA0F-F0AA-99B6-8961-27FC2F5E8A1A}"/>
              </a:ext>
            </a:extLst>
          </p:cNvPr>
          <p:cNvSpPr>
            <a:spLocks noGrp="1"/>
          </p:cNvSpPr>
          <p:nvPr>
            <p:ph sz="half" idx="2"/>
          </p:nvPr>
        </p:nvSpPr>
        <p:spPr/>
        <p:txBody>
          <a:bodyPr/>
          <a:lstStyle/>
          <a:p>
            <a:r>
              <a:rPr lang="en-AU" dirty="0"/>
              <a:t>To be able to describe the difference between written and spoken register</a:t>
            </a:r>
          </a:p>
          <a:p>
            <a:r>
              <a:rPr lang="en-AU" dirty="0"/>
              <a:t>To be able to explain why it is important to change register</a:t>
            </a:r>
          </a:p>
        </p:txBody>
      </p:sp>
      <p:sp>
        <p:nvSpPr>
          <p:cNvPr id="5" name="Text Placeholder 4">
            <a:extLst>
              <a:ext uri="{FF2B5EF4-FFF2-40B4-BE49-F238E27FC236}">
                <a16:creationId xmlns:a16="http://schemas.microsoft.com/office/drawing/2014/main" id="{2437867B-C6E4-D719-21B5-7C9056492FB3}"/>
              </a:ext>
            </a:extLst>
          </p:cNvPr>
          <p:cNvSpPr>
            <a:spLocks noGrp="1"/>
          </p:cNvSpPr>
          <p:nvPr>
            <p:ph type="body" sz="quarter" idx="3"/>
          </p:nvPr>
        </p:nvSpPr>
        <p:spPr/>
        <p:txBody>
          <a:bodyPr>
            <a:normAutofit lnSpcReduction="10000"/>
          </a:bodyPr>
          <a:lstStyle/>
          <a:p>
            <a:r>
              <a:rPr lang="en-AU" dirty="0"/>
              <a:t>By the end of the lesson, you will:</a:t>
            </a:r>
          </a:p>
        </p:txBody>
      </p:sp>
      <p:sp>
        <p:nvSpPr>
          <p:cNvPr id="6" name="Content Placeholder 5">
            <a:extLst>
              <a:ext uri="{FF2B5EF4-FFF2-40B4-BE49-F238E27FC236}">
                <a16:creationId xmlns:a16="http://schemas.microsoft.com/office/drawing/2014/main" id="{921FF91A-20AD-17B4-4BD4-B7E947DAE110}"/>
              </a:ext>
            </a:extLst>
          </p:cNvPr>
          <p:cNvSpPr>
            <a:spLocks noGrp="1"/>
          </p:cNvSpPr>
          <p:nvPr>
            <p:ph sz="quarter" idx="4"/>
          </p:nvPr>
        </p:nvSpPr>
        <p:spPr/>
        <p:txBody>
          <a:bodyPr/>
          <a:lstStyle/>
          <a:p>
            <a:r>
              <a:rPr lang="en-AU" dirty="0"/>
              <a:t>You will have identified the register of different texts</a:t>
            </a:r>
          </a:p>
          <a:p>
            <a:r>
              <a:rPr lang="en-AU" dirty="0"/>
              <a:t>You will be able to write for a spoken register</a:t>
            </a:r>
          </a:p>
        </p:txBody>
      </p:sp>
    </p:spTree>
    <p:extLst>
      <p:ext uri="{BB962C8B-B14F-4D97-AF65-F5344CB8AC3E}">
        <p14:creationId xmlns:p14="http://schemas.microsoft.com/office/powerpoint/2010/main" val="3382518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5E759-58D9-1EE0-A485-96D4DB5805E2}"/>
              </a:ext>
            </a:extLst>
          </p:cNvPr>
          <p:cNvSpPr>
            <a:spLocks noGrp="1"/>
          </p:cNvSpPr>
          <p:nvPr>
            <p:ph type="title"/>
          </p:nvPr>
        </p:nvSpPr>
        <p:spPr/>
        <p:txBody>
          <a:bodyPr/>
          <a:lstStyle/>
          <a:p>
            <a:r>
              <a:rPr lang="en-AU" dirty="0"/>
              <a:t>Agree or disagree?</a:t>
            </a:r>
          </a:p>
        </p:txBody>
      </p:sp>
      <p:graphicFrame>
        <p:nvGraphicFramePr>
          <p:cNvPr id="5" name="Content Placeholder 2">
            <a:extLst>
              <a:ext uri="{FF2B5EF4-FFF2-40B4-BE49-F238E27FC236}">
                <a16:creationId xmlns:a16="http://schemas.microsoft.com/office/drawing/2014/main" id="{47BCE35E-253C-E587-7A1F-D698BD5A6CD0}"/>
              </a:ext>
            </a:extLst>
          </p:cNvPr>
          <p:cNvGraphicFramePr>
            <a:graphicFrameLocks noGrp="1"/>
          </p:cNvGraphicFramePr>
          <p:nvPr>
            <p:ph idx="1"/>
          </p:nvPr>
        </p:nvGraphicFramePr>
        <p:xfrm>
          <a:off x="1115568" y="2478024"/>
          <a:ext cx="10168128"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52026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6DA8A6E9-8FB7-5D9C-3CC9-06A1E307C0CC}"/>
              </a:ext>
            </a:extLst>
          </p:cNvPr>
          <p:cNvSpPr>
            <a:spLocks noGrp="1"/>
          </p:cNvSpPr>
          <p:nvPr>
            <p:ph type="title"/>
          </p:nvPr>
        </p:nvSpPr>
        <p:spPr>
          <a:xfrm>
            <a:off x="477981" y="1122363"/>
            <a:ext cx="4023360" cy="3204134"/>
          </a:xfrm>
        </p:spPr>
        <p:txBody>
          <a:bodyPr vert="horz" lIns="91440" tIns="45720" rIns="91440" bIns="45720" rtlCol="0" anchor="b">
            <a:normAutofit/>
          </a:bodyPr>
          <a:lstStyle/>
          <a:p>
            <a:pPr marL="0" indent="0"/>
            <a:r>
              <a:rPr lang="en-US" sz="4400" dirty="0">
                <a:effectLst/>
              </a:rPr>
              <a:t>“Register” means the way we dress up our language.</a:t>
            </a:r>
            <a:br>
              <a:rPr lang="en-US" sz="4400" dirty="0">
                <a:effectLst/>
              </a:rPr>
            </a:br>
            <a:endParaRPr lang="en-US" sz="4400" dirty="0"/>
          </a:p>
        </p:txBody>
      </p:sp>
      <p:sp>
        <p:nvSpPr>
          <p:cNvPr id="19" name="Rectangle 1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Graphic 9" descr="Dress">
            <a:extLst>
              <a:ext uri="{FF2B5EF4-FFF2-40B4-BE49-F238E27FC236}">
                <a16:creationId xmlns:a16="http://schemas.microsoft.com/office/drawing/2014/main" id="{21837E26-A513-93BD-2A84-7389333FBD1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60099" y="625683"/>
            <a:ext cx="5455380" cy="5455380"/>
          </a:xfrm>
          <a:prstGeom prst="rect">
            <a:avLst/>
          </a:prstGeom>
        </p:spPr>
      </p:pic>
    </p:spTree>
    <p:extLst>
      <p:ext uri="{BB962C8B-B14F-4D97-AF65-F5344CB8AC3E}">
        <p14:creationId xmlns:p14="http://schemas.microsoft.com/office/powerpoint/2010/main" val="2889441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01301-D188-4DAA-214E-B350077D7214}"/>
              </a:ext>
            </a:extLst>
          </p:cNvPr>
          <p:cNvSpPr>
            <a:spLocks noGrp="1"/>
          </p:cNvSpPr>
          <p:nvPr>
            <p:ph type="title"/>
          </p:nvPr>
        </p:nvSpPr>
        <p:spPr/>
        <p:txBody>
          <a:bodyPr/>
          <a:lstStyle/>
          <a:p>
            <a:r>
              <a:rPr lang="en-AU"/>
              <a:t>Why does it matter?</a:t>
            </a:r>
            <a:endParaRPr lang="en-AU" dirty="0"/>
          </a:p>
        </p:txBody>
      </p:sp>
      <p:sp>
        <p:nvSpPr>
          <p:cNvPr id="3" name="Content Placeholder 2">
            <a:extLst>
              <a:ext uri="{FF2B5EF4-FFF2-40B4-BE49-F238E27FC236}">
                <a16:creationId xmlns:a16="http://schemas.microsoft.com/office/drawing/2014/main" id="{F01CE928-1D32-BC8B-31D9-2190637DCAC1}"/>
              </a:ext>
            </a:extLst>
          </p:cNvPr>
          <p:cNvSpPr>
            <a:spLocks noGrp="1"/>
          </p:cNvSpPr>
          <p:nvPr>
            <p:ph idx="1"/>
          </p:nvPr>
        </p:nvSpPr>
        <p:spPr/>
        <p:txBody>
          <a:bodyPr/>
          <a:lstStyle/>
          <a:p>
            <a:pPr marL="0" indent="0">
              <a:buNone/>
            </a:pPr>
            <a:r>
              <a:rPr lang="en-AU" dirty="0"/>
              <a:t>What is the purpose of changing the way we speak or write?</a:t>
            </a:r>
          </a:p>
          <a:p>
            <a:pPr marL="452438"/>
            <a:r>
              <a:rPr lang="en-AU" dirty="0"/>
              <a:t>To show respect</a:t>
            </a:r>
          </a:p>
          <a:p>
            <a:pPr marL="452438"/>
            <a:r>
              <a:rPr lang="en-AU" dirty="0"/>
              <a:t>To empathise with the audience</a:t>
            </a:r>
          </a:p>
          <a:p>
            <a:pPr marL="452438"/>
            <a:r>
              <a:rPr lang="en-AU" dirty="0"/>
              <a:t>To allow the audience to connect with us and our message</a:t>
            </a:r>
          </a:p>
          <a:p>
            <a:pPr marL="452438"/>
            <a:r>
              <a:rPr lang="en-AU" dirty="0"/>
              <a:t>To communicate an idea clearly</a:t>
            </a:r>
          </a:p>
          <a:p>
            <a:pPr marL="0" indent="0">
              <a:buNone/>
            </a:pPr>
            <a:endParaRPr lang="en-AU" dirty="0"/>
          </a:p>
        </p:txBody>
      </p:sp>
    </p:spTree>
    <p:extLst>
      <p:ext uri="{BB962C8B-B14F-4D97-AF65-F5344CB8AC3E}">
        <p14:creationId xmlns:p14="http://schemas.microsoft.com/office/powerpoint/2010/main" val="3881550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94ABD-76DB-3EC4-8156-3395E90C825E}"/>
              </a:ext>
            </a:extLst>
          </p:cNvPr>
          <p:cNvSpPr>
            <a:spLocks noGrp="1"/>
          </p:cNvSpPr>
          <p:nvPr>
            <p:ph type="title"/>
          </p:nvPr>
        </p:nvSpPr>
        <p:spPr/>
        <p:txBody>
          <a:bodyPr/>
          <a:lstStyle/>
          <a:p>
            <a:r>
              <a:rPr lang="en-AU" dirty="0"/>
              <a:t>Register</a:t>
            </a:r>
          </a:p>
        </p:txBody>
      </p:sp>
      <p:graphicFrame>
        <p:nvGraphicFramePr>
          <p:cNvPr id="5" name="Content Placeholder 2">
            <a:extLst>
              <a:ext uri="{FF2B5EF4-FFF2-40B4-BE49-F238E27FC236}">
                <a16:creationId xmlns:a16="http://schemas.microsoft.com/office/drawing/2014/main" id="{3C0426BF-A917-6B00-B191-8B3CDEC07DCB}"/>
              </a:ext>
            </a:extLst>
          </p:cNvPr>
          <p:cNvGraphicFramePr>
            <a:graphicFrameLocks noGrp="1"/>
          </p:cNvGraphicFramePr>
          <p:nvPr>
            <p:ph idx="1"/>
          </p:nvPr>
        </p:nvGraphicFramePr>
        <p:xfrm>
          <a:off x="1115568" y="2478024"/>
          <a:ext cx="10168128"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03582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1C57DF-40D6-B959-EC2F-B056E863C216}"/>
              </a:ext>
            </a:extLst>
          </p:cNvPr>
          <p:cNvSpPr>
            <a:spLocks noGrp="1"/>
          </p:cNvSpPr>
          <p:nvPr>
            <p:ph type="title"/>
          </p:nvPr>
        </p:nvSpPr>
        <p:spPr>
          <a:xfrm>
            <a:off x="841248" y="256032"/>
            <a:ext cx="10506456" cy="1014984"/>
          </a:xfrm>
        </p:spPr>
        <p:txBody>
          <a:bodyPr anchor="b">
            <a:normAutofit/>
          </a:bodyPr>
          <a:lstStyle/>
          <a:p>
            <a:r>
              <a:rPr lang="en-AU" dirty="0"/>
              <a:t>Formal v Informal</a:t>
            </a:r>
          </a:p>
        </p:txBody>
      </p:sp>
      <p:sp>
        <p:nvSpPr>
          <p:cNvPr id="20" name="Rectangle 1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9144"/>
          </a:xfrm>
          <a:prstGeom prst="rect">
            <a:avLst/>
          </a:prstGeom>
          <a:solidFill>
            <a:schemeClr val="tx1">
              <a:lumMod val="65000"/>
              <a:lumOff val="35000"/>
              <a:alpha val="30000"/>
            </a:schemeClr>
          </a:solidFill>
          <a:ln w="9525">
            <a:solidFill>
              <a:schemeClr val="tx1">
                <a:lumMod val="65000"/>
                <a:lumOff val="3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7" name="Content Placeholder 6">
            <a:extLst>
              <a:ext uri="{FF2B5EF4-FFF2-40B4-BE49-F238E27FC236}">
                <a16:creationId xmlns:a16="http://schemas.microsoft.com/office/drawing/2014/main" id="{E9A6C604-06EF-38E3-8048-1968793276C1}"/>
              </a:ext>
            </a:extLst>
          </p:cNvPr>
          <p:cNvGraphicFramePr>
            <a:graphicFrameLocks noGrp="1"/>
          </p:cNvGraphicFramePr>
          <p:nvPr>
            <p:ph idx="1"/>
            <p:extLst>
              <p:ext uri="{D42A27DB-BD31-4B8C-83A1-F6EECF244321}">
                <p14:modId xmlns:p14="http://schemas.microsoft.com/office/powerpoint/2010/main" val="276206187"/>
              </p:ext>
            </p:extLst>
          </p:nvPr>
        </p:nvGraphicFramePr>
        <p:xfrm>
          <a:off x="838200" y="2037023"/>
          <a:ext cx="10515601" cy="4136012"/>
        </p:xfrm>
        <a:graphic>
          <a:graphicData uri="http://schemas.openxmlformats.org/drawingml/2006/table">
            <a:tbl>
              <a:tblPr firstRow="1" firstCol="1" bandRow="1">
                <a:tableStyleId>{72833802-FEF1-4C79-8D5D-14CF1EAF98D9}</a:tableStyleId>
              </a:tblPr>
              <a:tblGrid>
                <a:gridCol w="5036264">
                  <a:extLst>
                    <a:ext uri="{9D8B030D-6E8A-4147-A177-3AD203B41FA5}">
                      <a16:colId xmlns:a16="http://schemas.microsoft.com/office/drawing/2014/main" val="2429016947"/>
                    </a:ext>
                  </a:extLst>
                </a:gridCol>
                <a:gridCol w="5479337">
                  <a:extLst>
                    <a:ext uri="{9D8B030D-6E8A-4147-A177-3AD203B41FA5}">
                      <a16:colId xmlns:a16="http://schemas.microsoft.com/office/drawing/2014/main" val="3973098139"/>
                    </a:ext>
                  </a:extLst>
                </a:gridCol>
              </a:tblGrid>
              <a:tr h="534807">
                <a:tc>
                  <a:txBody>
                    <a:bodyPr/>
                    <a:lstStyle/>
                    <a:p>
                      <a:pPr algn="ctr">
                        <a:lnSpc>
                          <a:spcPct val="107000"/>
                        </a:lnSpc>
                        <a:spcAft>
                          <a:spcPts val="800"/>
                        </a:spcAft>
                      </a:pPr>
                      <a:r>
                        <a:rPr lang="en-AU" sz="2800">
                          <a:effectLst/>
                        </a:rPr>
                        <a:t>Informal</a:t>
                      </a:r>
                      <a:endParaRPr lang="en-AU" sz="2800">
                        <a:effectLst/>
                        <a:latin typeface="Calibri" panose="020F0502020204030204" pitchFamily="34" charset="0"/>
                        <a:ea typeface="Calibri" panose="020F0502020204030204" pitchFamily="34" charset="0"/>
                        <a:cs typeface="Times New Roman" panose="02020603050405020304" pitchFamily="18" charset="0"/>
                      </a:endParaRPr>
                    </a:p>
                  </a:txBody>
                  <a:tcPr marL="177229" marR="177229" marT="0" marB="0"/>
                </a:tc>
                <a:tc>
                  <a:txBody>
                    <a:bodyPr/>
                    <a:lstStyle/>
                    <a:p>
                      <a:pPr algn="ctr">
                        <a:lnSpc>
                          <a:spcPct val="107000"/>
                        </a:lnSpc>
                        <a:spcAft>
                          <a:spcPts val="800"/>
                        </a:spcAft>
                      </a:pPr>
                      <a:r>
                        <a:rPr lang="en-AU" sz="2800">
                          <a:effectLst/>
                        </a:rPr>
                        <a:t>Formal</a:t>
                      </a:r>
                      <a:endParaRPr lang="en-AU" sz="2800">
                        <a:effectLst/>
                        <a:latin typeface="Calibri" panose="020F0502020204030204" pitchFamily="34" charset="0"/>
                        <a:ea typeface="Calibri" panose="020F0502020204030204" pitchFamily="34" charset="0"/>
                        <a:cs typeface="Times New Roman" panose="02020603050405020304" pitchFamily="18" charset="0"/>
                      </a:endParaRPr>
                    </a:p>
                  </a:txBody>
                  <a:tcPr marL="177229" marR="177229" marT="0" marB="0"/>
                </a:tc>
                <a:extLst>
                  <a:ext uri="{0D108BD9-81ED-4DB2-BD59-A6C34878D82A}">
                    <a16:rowId xmlns:a16="http://schemas.microsoft.com/office/drawing/2014/main" val="3133699348"/>
                  </a:ext>
                </a:extLst>
              </a:tr>
              <a:tr h="534807">
                <a:tc>
                  <a:txBody>
                    <a:bodyPr/>
                    <a:lstStyle/>
                    <a:p>
                      <a:pPr marL="228600">
                        <a:lnSpc>
                          <a:spcPct val="107000"/>
                        </a:lnSpc>
                        <a:spcAft>
                          <a:spcPts val="800"/>
                        </a:spcAft>
                      </a:pPr>
                      <a:r>
                        <a:rPr lang="en-AU" sz="2800" b="0">
                          <a:effectLst/>
                        </a:rPr>
                        <a:t>Vague or general words</a:t>
                      </a:r>
                      <a:endParaRPr lang="en-AU" sz="2800" b="0">
                        <a:effectLst/>
                        <a:latin typeface="Calibri" panose="020F0502020204030204" pitchFamily="34" charset="0"/>
                        <a:ea typeface="Calibri" panose="020F0502020204030204" pitchFamily="34" charset="0"/>
                        <a:cs typeface="Times New Roman" panose="02020603050405020304" pitchFamily="18" charset="0"/>
                      </a:endParaRPr>
                    </a:p>
                  </a:txBody>
                  <a:tcPr marL="177229" marR="177229" marT="0" marB="0"/>
                </a:tc>
                <a:tc>
                  <a:txBody>
                    <a:bodyPr/>
                    <a:lstStyle/>
                    <a:p>
                      <a:pPr marL="228600">
                        <a:lnSpc>
                          <a:spcPct val="107000"/>
                        </a:lnSpc>
                        <a:spcAft>
                          <a:spcPts val="800"/>
                        </a:spcAft>
                      </a:pPr>
                      <a:r>
                        <a:rPr lang="en-AU" sz="2800">
                          <a:effectLst/>
                        </a:rPr>
                        <a:t>Specific or technical words</a:t>
                      </a:r>
                      <a:endParaRPr lang="en-AU" sz="2800">
                        <a:effectLst/>
                        <a:latin typeface="Calibri" panose="020F0502020204030204" pitchFamily="34" charset="0"/>
                        <a:ea typeface="Calibri" panose="020F0502020204030204" pitchFamily="34" charset="0"/>
                        <a:cs typeface="Times New Roman" panose="02020603050405020304" pitchFamily="18" charset="0"/>
                      </a:endParaRPr>
                    </a:p>
                  </a:txBody>
                  <a:tcPr marL="177229" marR="177229" marT="0" marB="0"/>
                </a:tc>
                <a:extLst>
                  <a:ext uri="{0D108BD9-81ED-4DB2-BD59-A6C34878D82A}">
                    <a16:rowId xmlns:a16="http://schemas.microsoft.com/office/drawing/2014/main" val="2119907532"/>
                  </a:ext>
                </a:extLst>
              </a:tr>
              <a:tr h="998392">
                <a:tc>
                  <a:txBody>
                    <a:bodyPr/>
                    <a:lstStyle/>
                    <a:p>
                      <a:pPr marL="228600">
                        <a:lnSpc>
                          <a:spcPct val="107000"/>
                        </a:lnSpc>
                        <a:spcAft>
                          <a:spcPts val="800"/>
                        </a:spcAft>
                      </a:pPr>
                      <a:r>
                        <a:rPr lang="en-AU" sz="2800" b="0">
                          <a:effectLst/>
                        </a:rPr>
                        <a:t>Contractions and abbreviations</a:t>
                      </a:r>
                      <a:endParaRPr lang="en-AU" sz="2800" b="0">
                        <a:effectLst/>
                        <a:latin typeface="Calibri" panose="020F0502020204030204" pitchFamily="34" charset="0"/>
                        <a:ea typeface="Calibri" panose="020F0502020204030204" pitchFamily="34" charset="0"/>
                        <a:cs typeface="Times New Roman" panose="02020603050405020304" pitchFamily="18" charset="0"/>
                      </a:endParaRPr>
                    </a:p>
                  </a:txBody>
                  <a:tcPr marL="177229" marR="177229" marT="0" marB="0"/>
                </a:tc>
                <a:tc>
                  <a:txBody>
                    <a:bodyPr/>
                    <a:lstStyle/>
                    <a:p>
                      <a:pPr marL="228600">
                        <a:lnSpc>
                          <a:spcPct val="107000"/>
                        </a:lnSpc>
                        <a:spcAft>
                          <a:spcPts val="800"/>
                        </a:spcAft>
                      </a:pPr>
                      <a:r>
                        <a:rPr lang="en-AU" sz="2800" dirty="0">
                          <a:effectLst/>
                        </a:rPr>
                        <a:t>Full words</a:t>
                      </a:r>
                      <a:endParaRPr lang="en-AU"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177229" marR="177229" marT="0" marB="0"/>
                </a:tc>
                <a:extLst>
                  <a:ext uri="{0D108BD9-81ED-4DB2-BD59-A6C34878D82A}">
                    <a16:rowId xmlns:a16="http://schemas.microsoft.com/office/drawing/2014/main" val="1734374501"/>
                  </a:ext>
                </a:extLst>
              </a:tr>
              <a:tr h="534807">
                <a:tc>
                  <a:txBody>
                    <a:bodyPr/>
                    <a:lstStyle/>
                    <a:p>
                      <a:pPr marL="228600">
                        <a:lnSpc>
                          <a:spcPct val="107000"/>
                        </a:lnSpc>
                        <a:spcAft>
                          <a:spcPts val="800"/>
                        </a:spcAft>
                      </a:pPr>
                      <a:r>
                        <a:rPr lang="en-AU" sz="2800" b="0">
                          <a:effectLst/>
                        </a:rPr>
                        <a:t>Colloquialisms (slang)</a:t>
                      </a:r>
                      <a:endParaRPr lang="en-AU" sz="2800" b="0">
                        <a:effectLst/>
                        <a:latin typeface="Calibri" panose="020F0502020204030204" pitchFamily="34" charset="0"/>
                        <a:ea typeface="Calibri" panose="020F0502020204030204" pitchFamily="34" charset="0"/>
                        <a:cs typeface="Times New Roman" panose="02020603050405020304" pitchFamily="18" charset="0"/>
                      </a:endParaRPr>
                    </a:p>
                  </a:txBody>
                  <a:tcPr marL="177229" marR="177229" marT="0" marB="0"/>
                </a:tc>
                <a:tc>
                  <a:txBody>
                    <a:bodyPr/>
                    <a:lstStyle/>
                    <a:p>
                      <a:pPr marL="228600">
                        <a:lnSpc>
                          <a:spcPct val="107000"/>
                        </a:lnSpc>
                        <a:spcAft>
                          <a:spcPts val="800"/>
                        </a:spcAft>
                      </a:pPr>
                      <a:r>
                        <a:rPr lang="en-AU" sz="2800">
                          <a:effectLst/>
                        </a:rPr>
                        <a:t>Technical terms</a:t>
                      </a:r>
                      <a:endParaRPr lang="en-AU" sz="2800">
                        <a:effectLst/>
                        <a:latin typeface="Calibri" panose="020F0502020204030204" pitchFamily="34" charset="0"/>
                        <a:ea typeface="Calibri" panose="020F0502020204030204" pitchFamily="34" charset="0"/>
                        <a:cs typeface="Times New Roman" panose="02020603050405020304" pitchFamily="18" charset="0"/>
                      </a:endParaRPr>
                    </a:p>
                  </a:txBody>
                  <a:tcPr marL="177229" marR="177229" marT="0" marB="0"/>
                </a:tc>
                <a:extLst>
                  <a:ext uri="{0D108BD9-81ED-4DB2-BD59-A6C34878D82A}">
                    <a16:rowId xmlns:a16="http://schemas.microsoft.com/office/drawing/2014/main" val="3606074383"/>
                  </a:ext>
                </a:extLst>
              </a:tr>
              <a:tr h="534807">
                <a:tc>
                  <a:txBody>
                    <a:bodyPr/>
                    <a:lstStyle/>
                    <a:p>
                      <a:pPr marL="228600">
                        <a:lnSpc>
                          <a:spcPct val="107000"/>
                        </a:lnSpc>
                        <a:spcAft>
                          <a:spcPts val="800"/>
                        </a:spcAft>
                      </a:pPr>
                      <a:r>
                        <a:rPr lang="en-AU" sz="2800" b="0">
                          <a:effectLst/>
                        </a:rPr>
                        <a:t>Sentence fragments </a:t>
                      </a:r>
                      <a:endParaRPr lang="en-AU" sz="2800" b="0">
                        <a:effectLst/>
                        <a:latin typeface="Calibri" panose="020F0502020204030204" pitchFamily="34" charset="0"/>
                        <a:ea typeface="Calibri" panose="020F0502020204030204" pitchFamily="34" charset="0"/>
                        <a:cs typeface="Times New Roman" panose="02020603050405020304" pitchFamily="18" charset="0"/>
                      </a:endParaRPr>
                    </a:p>
                  </a:txBody>
                  <a:tcPr marL="177229" marR="177229" marT="0" marB="0"/>
                </a:tc>
                <a:tc>
                  <a:txBody>
                    <a:bodyPr/>
                    <a:lstStyle/>
                    <a:p>
                      <a:pPr marL="228600">
                        <a:lnSpc>
                          <a:spcPct val="107000"/>
                        </a:lnSpc>
                        <a:spcAft>
                          <a:spcPts val="800"/>
                        </a:spcAft>
                      </a:pPr>
                      <a:r>
                        <a:rPr lang="en-AU" sz="2800">
                          <a:effectLst/>
                        </a:rPr>
                        <a:t>Complete sentences</a:t>
                      </a:r>
                      <a:endParaRPr lang="en-AU" sz="2800">
                        <a:effectLst/>
                        <a:latin typeface="Calibri" panose="020F0502020204030204" pitchFamily="34" charset="0"/>
                        <a:ea typeface="Calibri" panose="020F0502020204030204" pitchFamily="34" charset="0"/>
                        <a:cs typeface="Times New Roman" panose="02020603050405020304" pitchFamily="18" charset="0"/>
                      </a:endParaRPr>
                    </a:p>
                  </a:txBody>
                  <a:tcPr marL="177229" marR="177229" marT="0" marB="0"/>
                </a:tc>
                <a:extLst>
                  <a:ext uri="{0D108BD9-81ED-4DB2-BD59-A6C34878D82A}">
                    <a16:rowId xmlns:a16="http://schemas.microsoft.com/office/drawing/2014/main" val="1275225291"/>
                  </a:ext>
                </a:extLst>
              </a:tr>
              <a:tr h="998392">
                <a:tc>
                  <a:txBody>
                    <a:bodyPr/>
                    <a:lstStyle/>
                    <a:p>
                      <a:pPr marL="228600">
                        <a:lnSpc>
                          <a:spcPct val="107000"/>
                        </a:lnSpc>
                        <a:spcAft>
                          <a:spcPts val="800"/>
                        </a:spcAft>
                      </a:pPr>
                      <a:r>
                        <a:rPr lang="en-AU" sz="2800" b="0">
                          <a:effectLst/>
                        </a:rPr>
                        <a:t>Simple sentences</a:t>
                      </a:r>
                      <a:endParaRPr lang="en-AU" sz="2800" b="0">
                        <a:effectLst/>
                        <a:latin typeface="Calibri" panose="020F0502020204030204" pitchFamily="34" charset="0"/>
                        <a:ea typeface="Calibri" panose="020F0502020204030204" pitchFamily="34" charset="0"/>
                        <a:cs typeface="Times New Roman" panose="02020603050405020304" pitchFamily="18" charset="0"/>
                      </a:endParaRPr>
                    </a:p>
                  </a:txBody>
                  <a:tcPr marL="177229" marR="177229" marT="0" marB="0"/>
                </a:tc>
                <a:tc>
                  <a:txBody>
                    <a:bodyPr/>
                    <a:lstStyle/>
                    <a:p>
                      <a:pPr marL="228600">
                        <a:lnSpc>
                          <a:spcPct val="107000"/>
                        </a:lnSpc>
                        <a:spcAft>
                          <a:spcPts val="800"/>
                        </a:spcAft>
                      </a:pPr>
                      <a:r>
                        <a:rPr lang="en-AU" sz="2800" dirty="0">
                          <a:effectLst/>
                        </a:rPr>
                        <a:t>Simple, compound and complex sentences</a:t>
                      </a:r>
                      <a:endParaRPr lang="en-AU"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177229" marR="177229" marT="0" marB="0"/>
                </a:tc>
                <a:extLst>
                  <a:ext uri="{0D108BD9-81ED-4DB2-BD59-A6C34878D82A}">
                    <a16:rowId xmlns:a16="http://schemas.microsoft.com/office/drawing/2014/main" val="194934284"/>
                  </a:ext>
                </a:extLst>
              </a:tr>
            </a:tbl>
          </a:graphicData>
        </a:graphic>
      </p:graphicFrame>
    </p:spTree>
    <p:extLst>
      <p:ext uri="{BB962C8B-B14F-4D97-AF65-F5344CB8AC3E}">
        <p14:creationId xmlns:p14="http://schemas.microsoft.com/office/powerpoint/2010/main" val="975016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1C57DF-40D6-B959-EC2F-B056E863C216}"/>
              </a:ext>
            </a:extLst>
          </p:cNvPr>
          <p:cNvSpPr>
            <a:spLocks noGrp="1"/>
          </p:cNvSpPr>
          <p:nvPr>
            <p:ph type="title"/>
          </p:nvPr>
        </p:nvSpPr>
        <p:spPr>
          <a:xfrm>
            <a:off x="841248" y="256032"/>
            <a:ext cx="10506456" cy="1014984"/>
          </a:xfrm>
        </p:spPr>
        <p:txBody>
          <a:bodyPr anchor="b">
            <a:normAutofit/>
          </a:bodyPr>
          <a:lstStyle/>
          <a:p>
            <a:r>
              <a:rPr lang="en-AU" dirty="0"/>
              <a:t>Written v Spoken</a:t>
            </a:r>
          </a:p>
        </p:txBody>
      </p:sp>
      <p:sp>
        <p:nvSpPr>
          <p:cNvPr id="29" name="Rectangle 28">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9144"/>
          </a:xfrm>
          <a:prstGeom prst="rect">
            <a:avLst/>
          </a:prstGeom>
          <a:solidFill>
            <a:schemeClr val="tx1">
              <a:lumMod val="65000"/>
              <a:lumOff val="35000"/>
              <a:alpha val="30000"/>
            </a:schemeClr>
          </a:solidFill>
          <a:ln w="9525">
            <a:solidFill>
              <a:schemeClr val="tx1">
                <a:lumMod val="65000"/>
                <a:lumOff val="3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0" name="Content Placeholder 9">
            <a:extLst>
              <a:ext uri="{FF2B5EF4-FFF2-40B4-BE49-F238E27FC236}">
                <a16:creationId xmlns:a16="http://schemas.microsoft.com/office/drawing/2014/main" id="{962CC0AF-EF84-4970-8ECA-AA8B1D9D25C6}"/>
              </a:ext>
            </a:extLst>
          </p:cNvPr>
          <p:cNvGraphicFramePr>
            <a:graphicFrameLocks noGrp="1"/>
          </p:cNvGraphicFramePr>
          <p:nvPr>
            <p:ph idx="1"/>
            <p:extLst>
              <p:ext uri="{D42A27DB-BD31-4B8C-83A1-F6EECF244321}">
                <p14:modId xmlns:p14="http://schemas.microsoft.com/office/powerpoint/2010/main" val="684771653"/>
              </p:ext>
            </p:extLst>
          </p:nvPr>
        </p:nvGraphicFramePr>
        <p:xfrm>
          <a:off x="1102364" y="1926266"/>
          <a:ext cx="9987272" cy="4357526"/>
        </p:xfrm>
        <a:graphic>
          <a:graphicData uri="http://schemas.openxmlformats.org/drawingml/2006/table">
            <a:tbl>
              <a:tblPr firstRow="1" firstCol="1" bandRow="1">
                <a:tableStyleId>{72833802-FEF1-4C79-8D5D-14CF1EAF98D9}</a:tableStyleId>
              </a:tblPr>
              <a:tblGrid>
                <a:gridCol w="5036998">
                  <a:extLst>
                    <a:ext uri="{9D8B030D-6E8A-4147-A177-3AD203B41FA5}">
                      <a16:colId xmlns:a16="http://schemas.microsoft.com/office/drawing/2014/main" val="2838842469"/>
                    </a:ext>
                  </a:extLst>
                </a:gridCol>
                <a:gridCol w="4950274">
                  <a:extLst>
                    <a:ext uri="{9D8B030D-6E8A-4147-A177-3AD203B41FA5}">
                      <a16:colId xmlns:a16="http://schemas.microsoft.com/office/drawing/2014/main" val="186722319"/>
                    </a:ext>
                  </a:extLst>
                </a:gridCol>
              </a:tblGrid>
              <a:tr h="353290">
                <a:tc>
                  <a:txBody>
                    <a:bodyPr/>
                    <a:lstStyle/>
                    <a:p>
                      <a:pPr algn="ctr">
                        <a:lnSpc>
                          <a:spcPct val="107000"/>
                        </a:lnSpc>
                        <a:spcAft>
                          <a:spcPts val="800"/>
                        </a:spcAft>
                      </a:pPr>
                      <a:r>
                        <a:rPr lang="en-AU" sz="1900">
                          <a:effectLst/>
                        </a:rPr>
                        <a:t>Written</a:t>
                      </a:r>
                      <a:endParaRPr lang="en-AU" sz="1900">
                        <a:effectLst/>
                        <a:latin typeface="Calibri" panose="020F0502020204030204" pitchFamily="34" charset="0"/>
                        <a:ea typeface="Calibri" panose="020F0502020204030204" pitchFamily="34" charset="0"/>
                        <a:cs typeface="Times New Roman" panose="02020603050405020304" pitchFamily="18" charset="0"/>
                      </a:endParaRPr>
                    </a:p>
                  </a:txBody>
                  <a:tcPr marL="117076" marR="117076" marT="0" marB="0"/>
                </a:tc>
                <a:tc>
                  <a:txBody>
                    <a:bodyPr/>
                    <a:lstStyle/>
                    <a:p>
                      <a:pPr algn="ctr">
                        <a:lnSpc>
                          <a:spcPct val="107000"/>
                        </a:lnSpc>
                        <a:spcAft>
                          <a:spcPts val="800"/>
                        </a:spcAft>
                      </a:pPr>
                      <a:r>
                        <a:rPr lang="en-AU" sz="1900">
                          <a:effectLst/>
                        </a:rPr>
                        <a:t>Spoken</a:t>
                      </a:r>
                      <a:endParaRPr lang="en-AU" sz="1900">
                        <a:effectLst/>
                        <a:latin typeface="Calibri" panose="020F0502020204030204" pitchFamily="34" charset="0"/>
                        <a:ea typeface="Calibri" panose="020F0502020204030204" pitchFamily="34" charset="0"/>
                        <a:cs typeface="Times New Roman" panose="02020603050405020304" pitchFamily="18" charset="0"/>
                      </a:endParaRPr>
                    </a:p>
                  </a:txBody>
                  <a:tcPr marL="117076" marR="117076" marT="0" marB="0"/>
                </a:tc>
                <a:extLst>
                  <a:ext uri="{0D108BD9-81ED-4DB2-BD59-A6C34878D82A}">
                    <a16:rowId xmlns:a16="http://schemas.microsoft.com/office/drawing/2014/main" val="1456324561"/>
                  </a:ext>
                </a:extLst>
              </a:tr>
              <a:tr h="353290">
                <a:tc>
                  <a:txBody>
                    <a:bodyPr/>
                    <a:lstStyle/>
                    <a:p>
                      <a:pPr marL="228600">
                        <a:lnSpc>
                          <a:spcPct val="107000"/>
                        </a:lnSpc>
                        <a:spcAft>
                          <a:spcPts val="800"/>
                        </a:spcAft>
                      </a:pPr>
                      <a:r>
                        <a:rPr lang="en-AU" sz="1900" b="0">
                          <a:effectLst/>
                        </a:rPr>
                        <a:t>Text is planned</a:t>
                      </a:r>
                      <a:endParaRPr lang="en-AU" sz="1900" b="0">
                        <a:effectLst/>
                        <a:latin typeface="Calibri" panose="020F0502020204030204" pitchFamily="34" charset="0"/>
                        <a:ea typeface="Calibri" panose="020F0502020204030204" pitchFamily="34" charset="0"/>
                        <a:cs typeface="Times New Roman" panose="02020603050405020304" pitchFamily="18" charset="0"/>
                      </a:endParaRPr>
                    </a:p>
                  </a:txBody>
                  <a:tcPr marL="117076" marR="117076" marT="0" marB="0"/>
                </a:tc>
                <a:tc>
                  <a:txBody>
                    <a:bodyPr/>
                    <a:lstStyle/>
                    <a:p>
                      <a:pPr marL="228600">
                        <a:lnSpc>
                          <a:spcPct val="107000"/>
                        </a:lnSpc>
                        <a:spcAft>
                          <a:spcPts val="800"/>
                        </a:spcAft>
                      </a:pPr>
                      <a:r>
                        <a:rPr lang="en-AU" sz="1900">
                          <a:effectLst/>
                        </a:rPr>
                        <a:t>Text is often spontaneous</a:t>
                      </a:r>
                      <a:endParaRPr lang="en-AU" sz="1900">
                        <a:effectLst/>
                        <a:latin typeface="Calibri" panose="020F0502020204030204" pitchFamily="34" charset="0"/>
                        <a:ea typeface="Calibri" panose="020F0502020204030204" pitchFamily="34" charset="0"/>
                        <a:cs typeface="Times New Roman" panose="02020603050405020304" pitchFamily="18" charset="0"/>
                      </a:endParaRPr>
                    </a:p>
                  </a:txBody>
                  <a:tcPr marL="117076" marR="117076" marT="0" marB="0"/>
                </a:tc>
                <a:extLst>
                  <a:ext uri="{0D108BD9-81ED-4DB2-BD59-A6C34878D82A}">
                    <a16:rowId xmlns:a16="http://schemas.microsoft.com/office/drawing/2014/main" val="1983167014"/>
                  </a:ext>
                </a:extLst>
              </a:tr>
              <a:tr h="659531">
                <a:tc>
                  <a:txBody>
                    <a:bodyPr/>
                    <a:lstStyle/>
                    <a:p>
                      <a:pPr marL="228600">
                        <a:lnSpc>
                          <a:spcPct val="107000"/>
                        </a:lnSpc>
                        <a:spcAft>
                          <a:spcPts val="800"/>
                        </a:spcAft>
                      </a:pPr>
                      <a:r>
                        <a:rPr lang="en-AU" sz="1900" b="0">
                          <a:effectLst/>
                        </a:rPr>
                        <a:t>No visible connection between writer and audience</a:t>
                      </a:r>
                      <a:endParaRPr lang="en-AU" sz="1900" b="0">
                        <a:effectLst/>
                        <a:latin typeface="Calibri" panose="020F0502020204030204" pitchFamily="34" charset="0"/>
                        <a:ea typeface="Calibri" panose="020F0502020204030204" pitchFamily="34" charset="0"/>
                        <a:cs typeface="Times New Roman" panose="02020603050405020304" pitchFamily="18" charset="0"/>
                      </a:endParaRPr>
                    </a:p>
                  </a:txBody>
                  <a:tcPr marL="117076" marR="117076" marT="0" marB="0"/>
                </a:tc>
                <a:tc>
                  <a:txBody>
                    <a:bodyPr/>
                    <a:lstStyle/>
                    <a:p>
                      <a:pPr marL="228600">
                        <a:lnSpc>
                          <a:spcPct val="107000"/>
                        </a:lnSpc>
                        <a:spcAft>
                          <a:spcPts val="800"/>
                        </a:spcAft>
                      </a:pPr>
                      <a:r>
                        <a:rPr lang="en-AU" sz="1900" dirty="0">
                          <a:effectLst/>
                        </a:rPr>
                        <a:t>Speaks directly to audience, usually in the same room</a:t>
                      </a:r>
                      <a:endParaRPr lang="en-AU" sz="1900" dirty="0">
                        <a:effectLst/>
                        <a:latin typeface="Calibri" panose="020F0502020204030204" pitchFamily="34" charset="0"/>
                        <a:ea typeface="Calibri" panose="020F0502020204030204" pitchFamily="34" charset="0"/>
                        <a:cs typeface="Times New Roman" panose="02020603050405020304" pitchFamily="18" charset="0"/>
                      </a:endParaRPr>
                    </a:p>
                  </a:txBody>
                  <a:tcPr marL="117076" marR="117076" marT="0" marB="0"/>
                </a:tc>
                <a:extLst>
                  <a:ext uri="{0D108BD9-81ED-4DB2-BD59-A6C34878D82A}">
                    <a16:rowId xmlns:a16="http://schemas.microsoft.com/office/drawing/2014/main" val="1247062924"/>
                  </a:ext>
                </a:extLst>
              </a:tr>
              <a:tr h="965773">
                <a:tc>
                  <a:txBody>
                    <a:bodyPr/>
                    <a:lstStyle/>
                    <a:p>
                      <a:pPr marL="228600">
                        <a:lnSpc>
                          <a:spcPct val="107000"/>
                        </a:lnSpc>
                        <a:spcAft>
                          <a:spcPts val="800"/>
                        </a:spcAft>
                      </a:pPr>
                      <a:r>
                        <a:rPr lang="en-AU" sz="1900" b="0">
                          <a:effectLst/>
                        </a:rPr>
                        <a:t>Subject of the sentence is never the author or the audience (don’t use I, we, you, us, etc)</a:t>
                      </a:r>
                      <a:endParaRPr lang="en-AU" sz="1900" b="0">
                        <a:effectLst/>
                        <a:latin typeface="Calibri" panose="020F0502020204030204" pitchFamily="34" charset="0"/>
                        <a:ea typeface="Calibri" panose="020F0502020204030204" pitchFamily="34" charset="0"/>
                        <a:cs typeface="Times New Roman" panose="02020603050405020304" pitchFamily="18" charset="0"/>
                      </a:endParaRPr>
                    </a:p>
                  </a:txBody>
                  <a:tcPr marL="117076" marR="117076" marT="0" marB="0"/>
                </a:tc>
                <a:tc>
                  <a:txBody>
                    <a:bodyPr/>
                    <a:lstStyle/>
                    <a:p>
                      <a:pPr marL="228600">
                        <a:lnSpc>
                          <a:spcPct val="107000"/>
                        </a:lnSpc>
                        <a:spcAft>
                          <a:spcPts val="800"/>
                        </a:spcAft>
                      </a:pPr>
                      <a:r>
                        <a:rPr lang="en-AU" sz="1900">
                          <a:effectLst/>
                        </a:rPr>
                        <a:t>Subject can be I, you, us, etc</a:t>
                      </a:r>
                      <a:endParaRPr lang="en-AU" sz="1900">
                        <a:effectLst/>
                        <a:latin typeface="Calibri" panose="020F0502020204030204" pitchFamily="34" charset="0"/>
                        <a:ea typeface="Calibri" panose="020F0502020204030204" pitchFamily="34" charset="0"/>
                        <a:cs typeface="Times New Roman" panose="02020603050405020304" pitchFamily="18" charset="0"/>
                      </a:endParaRPr>
                    </a:p>
                  </a:txBody>
                  <a:tcPr marL="117076" marR="117076" marT="0" marB="0"/>
                </a:tc>
                <a:extLst>
                  <a:ext uri="{0D108BD9-81ED-4DB2-BD59-A6C34878D82A}">
                    <a16:rowId xmlns:a16="http://schemas.microsoft.com/office/drawing/2014/main" val="832175205"/>
                  </a:ext>
                </a:extLst>
              </a:tr>
              <a:tr h="353290">
                <a:tc>
                  <a:txBody>
                    <a:bodyPr/>
                    <a:lstStyle/>
                    <a:p>
                      <a:pPr marL="228600">
                        <a:lnSpc>
                          <a:spcPct val="107000"/>
                        </a:lnSpc>
                        <a:spcAft>
                          <a:spcPts val="800"/>
                        </a:spcAft>
                      </a:pPr>
                      <a:r>
                        <a:rPr lang="en-AU" sz="1900" b="0">
                          <a:effectLst/>
                        </a:rPr>
                        <a:t>Uses full sentences</a:t>
                      </a:r>
                      <a:endParaRPr lang="en-AU" sz="1900" b="0">
                        <a:effectLst/>
                        <a:latin typeface="Calibri" panose="020F0502020204030204" pitchFamily="34" charset="0"/>
                        <a:ea typeface="Calibri" panose="020F0502020204030204" pitchFamily="34" charset="0"/>
                        <a:cs typeface="Times New Roman" panose="02020603050405020304" pitchFamily="18" charset="0"/>
                      </a:endParaRPr>
                    </a:p>
                  </a:txBody>
                  <a:tcPr marL="117076" marR="117076" marT="0" marB="0"/>
                </a:tc>
                <a:tc>
                  <a:txBody>
                    <a:bodyPr/>
                    <a:lstStyle/>
                    <a:p>
                      <a:pPr marL="228600">
                        <a:lnSpc>
                          <a:spcPct val="107000"/>
                        </a:lnSpc>
                        <a:spcAft>
                          <a:spcPts val="800"/>
                        </a:spcAft>
                      </a:pPr>
                      <a:r>
                        <a:rPr lang="en-AU" sz="1900">
                          <a:effectLst/>
                        </a:rPr>
                        <a:t>Can use fragments</a:t>
                      </a:r>
                      <a:endParaRPr lang="en-AU" sz="1900">
                        <a:effectLst/>
                        <a:latin typeface="Calibri" panose="020F0502020204030204" pitchFamily="34" charset="0"/>
                        <a:ea typeface="Calibri" panose="020F0502020204030204" pitchFamily="34" charset="0"/>
                        <a:cs typeface="Times New Roman" panose="02020603050405020304" pitchFamily="18" charset="0"/>
                      </a:endParaRPr>
                    </a:p>
                  </a:txBody>
                  <a:tcPr marL="117076" marR="117076" marT="0" marB="0"/>
                </a:tc>
                <a:extLst>
                  <a:ext uri="{0D108BD9-81ED-4DB2-BD59-A6C34878D82A}">
                    <a16:rowId xmlns:a16="http://schemas.microsoft.com/office/drawing/2014/main" val="4154619288"/>
                  </a:ext>
                </a:extLst>
              </a:tr>
              <a:tr h="659531">
                <a:tc>
                  <a:txBody>
                    <a:bodyPr/>
                    <a:lstStyle/>
                    <a:p>
                      <a:pPr marL="228600">
                        <a:lnSpc>
                          <a:spcPct val="107000"/>
                        </a:lnSpc>
                        <a:spcAft>
                          <a:spcPts val="800"/>
                        </a:spcAft>
                      </a:pPr>
                      <a:r>
                        <a:rPr lang="en-AU" sz="1900" b="0">
                          <a:effectLst/>
                        </a:rPr>
                        <a:t>Punctuation is necessary to communicate clearly</a:t>
                      </a:r>
                      <a:endParaRPr lang="en-AU" sz="1900" b="0">
                        <a:effectLst/>
                        <a:latin typeface="Calibri" panose="020F0502020204030204" pitchFamily="34" charset="0"/>
                        <a:ea typeface="Calibri" panose="020F0502020204030204" pitchFamily="34" charset="0"/>
                        <a:cs typeface="Times New Roman" panose="02020603050405020304" pitchFamily="18" charset="0"/>
                      </a:endParaRPr>
                    </a:p>
                  </a:txBody>
                  <a:tcPr marL="117076" marR="117076" marT="0" marB="0"/>
                </a:tc>
                <a:tc>
                  <a:txBody>
                    <a:bodyPr/>
                    <a:lstStyle/>
                    <a:p>
                      <a:pPr marL="228600">
                        <a:lnSpc>
                          <a:spcPct val="107000"/>
                        </a:lnSpc>
                        <a:spcAft>
                          <a:spcPts val="800"/>
                        </a:spcAft>
                      </a:pPr>
                      <a:r>
                        <a:rPr lang="en-AU" sz="1900">
                          <a:effectLst/>
                        </a:rPr>
                        <a:t>Punctuation is invisible and implied</a:t>
                      </a:r>
                      <a:endParaRPr lang="en-AU" sz="1900">
                        <a:effectLst/>
                        <a:latin typeface="Calibri" panose="020F0502020204030204" pitchFamily="34" charset="0"/>
                        <a:ea typeface="Calibri" panose="020F0502020204030204" pitchFamily="34" charset="0"/>
                        <a:cs typeface="Times New Roman" panose="02020603050405020304" pitchFamily="18" charset="0"/>
                      </a:endParaRPr>
                    </a:p>
                  </a:txBody>
                  <a:tcPr marL="117076" marR="117076" marT="0" marB="0"/>
                </a:tc>
                <a:extLst>
                  <a:ext uri="{0D108BD9-81ED-4DB2-BD59-A6C34878D82A}">
                    <a16:rowId xmlns:a16="http://schemas.microsoft.com/office/drawing/2014/main" val="2827699191"/>
                  </a:ext>
                </a:extLst>
              </a:tr>
              <a:tr h="353290">
                <a:tc>
                  <a:txBody>
                    <a:bodyPr/>
                    <a:lstStyle/>
                    <a:p>
                      <a:pPr marL="228600">
                        <a:lnSpc>
                          <a:spcPct val="107000"/>
                        </a:lnSpc>
                        <a:spcAft>
                          <a:spcPts val="800"/>
                        </a:spcAft>
                      </a:pPr>
                      <a:r>
                        <a:rPr lang="en-AU" sz="1900" b="0">
                          <a:effectLst/>
                        </a:rPr>
                        <a:t>Reader can take their time and re-read</a:t>
                      </a:r>
                      <a:endParaRPr lang="en-AU" sz="1900" b="0">
                        <a:effectLst/>
                        <a:latin typeface="Calibri" panose="020F0502020204030204" pitchFamily="34" charset="0"/>
                        <a:ea typeface="Calibri" panose="020F0502020204030204" pitchFamily="34" charset="0"/>
                        <a:cs typeface="Times New Roman" panose="02020603050405020304" pitchFamily="18" charset="0"/>
                      </a:endParaRPr>
                    </a:p>
                  </a:txBody>
                  <a:tcPr marL="117076" marR="117076" marT="0" marB="0"/>
                </a:tc>
                <a:tc>
                  <a:txBody>
                    <a:bodyPr/>
                    <a:lstStyle/>
                    <a:p>
                      <a:pPr marL="228600">
                        <a:lnSpc>
                          <a:spcPct val="107000"/>
                        </a:lnSpc>
                        <a:spcAft>
                          <a:spcPts val="800"/>
                        </a:spcAft>
                      </a:pPr>
                      <a:r>
                        <a:rPr lang="en-AU" sz="1900">
                          <a:effectLst/>
                        </a:rPr>
                        <a:t>Meaning must be clear on first listen</a:t>
                      </a:r>
                      <a:endParaRPr lang="en-AU" sz="1900">
                        <a:effectLst/>
                        <a:latin typeface="Calibri" panose="020F0502020204030204" pitchFamily="34" charset="0"/>
                        <a:ea typeface="Calibri" panose="020F0502020204030204" pitchFamily="34" charset="0"/>
                        <a:cs typeface="Times New Roman" panose="02020603050405020304" pitchFamily="18" charset="0"/>
                      </a:endParaRPr>
                    </a:p>
                  </a:txBody>
                  <a:tcPr marL="117076" marR="117076" marT="0" marB="0"/>
                </a:tc>
                <a:extLst>
                  <a:ext uri="{0D108BD9-81ED-4DB2-BD59-A6C34878D82A}">
                    <a16:rowId xmlns:a16="http://schemas.microsoft.com/office/drawing/2014/main" val="3113910378"/>
                  </a:ext>
                </a:extLst>
              </a:tr>
              <a:tr h="659531">
                <a:tc>
                  <a:txBody>
                    <a:bodyPr/>
                    <a:lstStyle/>
                    <a:p>
                      <a:pPr marL="228600">
                        <a:lnSpc>
                          <a:spcPct val="107000"/>
                        </a:lnSpc>
                        <a:spcAft>
                          <a:spcPts val="800"/>
                        </a:spcAft>
                      </a:pPr>
                      <a:r>
                        <a:rPr lang="en-AU" sz="1900" b="0" dirty="0">
                          <a:effectLst/>
                        </a:rPr>
                        <a:t>Sentences and vocabulary are technical and specific</a:t>
                      </a:r>
                      <a:endParaRPr lang="en-AU" sz="1900" b="0" dirty="0">
                        <a:effectLst/>
                        <a:latin typeface="Calibri" panose="020F0502020204030204" pitchFamily="34" charset="0"/>
                        <a:ea typeface="Calibri" panose="020F0502020204030204" pitchFamily="34" charset="0"/>
                        <a:cs typeface="Times New Roman" panose="02020603050405020304" pitchFamily="18" charset="0"/>
                      </a:endParaRPr>
                    </a:p>
                  </a:txBody>
                  <a:tcPr marL="117076" marR="117076" marT="0" marB="0"/>
                </a:tc>
                <a:tc>
                  <a:txBody>
                    <a:bodyPr/>
                    <a:lstStyle/>
                    <a:p>
                      <a:pPr marL="228600">
                        <a:lnSpc>
                          <a:spcPct val="107000"/>
                        </a:lnSpc>
                        <a:spcAft>
                          <a:spcPts val="800"/>
                        </a:spcAft>
                      </a:pPr>
                      <a:r>
                        <a:rPr lang="en-AU" sz="1900">
                          <a:effectLst/>
                        </a:rPr>
                        <a:t>Vocabulary and phrasing can be more relaxed</a:t>
                      </a:r>
                      <a:endParaRPr lang="en-AU" sz="1900">
                        <a:effectLst/>
                        <a:latin typeface="Calibri" panose="020F0502020204030204" pitchFamily="34" charset="0"/>
                        <a:ea typeface="Calibri" panose="020F0502020204030204" pitchFamily="34" charset="0"/>
                        <a:cs typeface="Times New Roman" panose="02020603050405020304" pitchFamily="18" charset="0"/>
                      </a:endParaRPr>
                    </a:p>
                  </a:txBody>
                  <a:tcPr marL="117076" marR="117076" marT="0" marB="0"/>
                </a:tc>
                <a:extLst>
                  <a:ext uri="{0D108BD9-81ED-4DB2-BD59-A6C34878D82A}">
                    <a16:rowId xmlns:a16="http://schemas.microsoft.com/office/drawing/2014/main" val="2912149360"/>
                  </a:ext>
                </a:extLst>
              </a:tr>
            </a:tbl>
          </a:graphicData>
        </a:graphic>
      </p:graphicFrame>
    </p:spTree>
    <p:extLst>
      <p:ext uri="{BB962C8B-B14F-4D97-AF65-F5344CB8AC3E}">
        <p14:creationId xmlns:p14="http://schemas.microsoft.com/office/powerpoint/2010/main" val="2530475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8">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0">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12">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4">
            <a:extLst>
              <a:ext uri="{FF2B5EF4-FFF2-40B4-BE49-F238E27FC236}">
                <a16:creationId xmlns:a16="http://schemas.microsoft.com/office/drawing/2014/main" id="{C248C44F-9116-2CE4-D1C6-F8222439E1F7}"/>
              </a:ext>
            </a:extLst>
          </p:cNvPr>
          <p:cNvPicPr>
            <a:picLocks noChangeAspect="1"/>
          </p:cNvPicPr>
          <p:nvPr/>
        </p:nvPicPr>
        <p:blipFill rotWithShape="1">
          <a:blip r:embed="rId2"/>
          <a:srcRect t="1747"/>
          <a:stretch/>
        </p:blipFill>
        <p:spPr>
          <a:xfrm>
            <a:off x="20" y="10"/>
            <a:ext cx="12191980" cy="6857990"/>
          </a:xfrm>
          <a:prstGeom prst="rect">
            <a:avLst/>
          </a:prstGeom>
        </p:spPr>
      </p:pic>
      <p:sp>
        <p:nvSpPr>
          <p:cNvPr id="23" name="Rectangle 14">
            <a:extLst>
              <a:ext uri="{FF2B5EF4-FFF2-40B4-BE49-F238E27FC236}">
                <a16:creationId xmlns:a16="http://schemas.microsoft.com/office/drawing/2014/main" id="{A44CD100-6267-4E62-AA64-2182A3A6A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alpha val="30000"/>
                </a:schemeClr>
              </a:gs>
              <a:gs pos="33000">
                <a:schemeClr val="tx1">
                  <a:alpha val="20000"/>
                </a:schemeClr>
              </a:gs>
              <a:gs pos="0">
                <a:schemeClr val="tx1">
                  <a:alpha val="0"/>
                </a:schemeClr>
              </a:gs>
              <a:gs pos="100000">
                <a:schemeClr val="tx1">
                  <a:alpha val="3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91D9749-CE0A-E4B6-4261-380987F1CC36}"/>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6000" b="1" dirty="0">
                <a:solidFill>
                  <a:schemeClr val="bg1"/>
                </a:solidFill>
              </a:rPr>
              <a:t>Your task</a:t>
            </a:r>
          </a:p>
        </p:txBody>
      </p:sp>
      <p:sp>
        <p:nvSpPr>
          <p:cNvPr id="3" name="Text Placeholder 2">
            <a:extLst>
              <a:ext uri="{FF2B5EF4-FFF2-40B4-BE49-F238E27FC236}">
                <a16:creationId xmlns:a16="http://schemas.microsoft.com/office/drawing/2014/main" id="{1DAA427F-E443-19BF-9283-210E10CD7D5F}"/>
              </a:ext>
            </a:extLst>
          </p:cNvPr>
          <p:cNvSpPr>
            <a:spLocks noGrp="1"/>
          </p:cNvSpPr>
          <p:nvPr>
            <p:ph type="body" idx="1"/>
          </p:nvPr>
        </p:nvSpPr>
        <p:spPr>
          <a:xfrm>
            <a:off x="477980" y="4872922"/>
            <a:ext cx="4023359" cy="1208141"/>
          </a:xfrm>
        </p:spPr>
        <p:txBody>
          <a:bodyPr vert="horz" lIns="91440" tIns="45720" rIns="91440" bIns="45720" rtlCol="0">
            <a:normAutofit/>
          </a:bodyPr>
          <a:lstStyle/>
          <a:p>
            <a:r>
              <a:rPr lang="en-US" sz="2800" dirty="0" err="1">
                <a:solidFill>
                  <a:schemeClr val="bg1"/>
                </a:solidFill>
              </a:rPr>
              <a:t>Practise</a:t>
            </a:r>
            <a:r>
              <a:rPr lang="en-US" sz="2800" dirty="0">
                <a:solidFill>
                  <a:schemeClr val="bg1"/>
                </a:solidFill>
              </a:rPr>
              <a:t> what you’ve learned</a:t>
            </a:r>
          </a:p>
        </p:txBody>
      </p:sp>
      <p:sp>
        <p:nvSpPr>
          <p:cNvPr id="17" name="Rectangle 1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8766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8A8C0E-1A8D-A98E-06B8-D6D7A073FBC6}"/>
              </a:ext>
            </a:extLst>
          </p:cNvPr>
          <p:cNvSpPr>
            <a:spLocks noGrp="1"/>
          </p:cNvSpPr>
          <p:nvPr>
            <p:ph idx="4294967295"/>
          </p:nvPr>
        </p:nvSpPr>
        <p:spPr>
          <a:xfrm>
            <a:off x="143935" y="1010653"/>
            <a:ext cx="11637388" cy="5159140"/>
          </a:xfrm>
        </p:spPr>
        <p:txBody>
          <a:bodyPr numCol="2">
            <a:normAutofit lnSpcReduction="10000"/>
          </a:bodyPr>
          <a:lstStyle/>
          <a:p>
            <a:pPr marL="355600" indent="0">
              <a:lnSpc>
                <a:spcPct val="107000"/>
              </a:lnSpc>
              <a:spcBef>
                <a:spcPts val="0"/>
              </a:spcBef>
              <a:spcAft>
                <a:spcPts val="800"/>
              </a:spcAft>
              <a:buNone/>
            </a:pPr>
            <a:r>
              <a:rPr lang="en-AU" sz="1800" i="1" dirty="0">
                <a:effectLst/>
                <a:latin typeface="Calibri" panose="020F0502020204030204" pitchFamily="34" charset="0"/>
                <a:ea typeface="Calibri" panose="020F0502020204030204" pitchFamily="34" charset="0"/>
                <a:cs typeface="Times New Roman" panose="02020603050405020304" pitchFamily="18" charset="0"/>
              </a:rPr>
              <a:t>Let us begin with a scenario.</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355600" indent="0">
              <a:lnSpc>
                <a:spcPct val="107000"/>
              </a:lnSpc>
              <a:spcBef>
                <a:spcPts val="0"/>
              </a:spcBef>
              <a:spcAft>
                <a:spcPts val="800"/>
              </a:spcAft>
              <a:buNone/>
            </a:pPr>
            <a:r>
              <a:rPr lang="en-AU" sz="1800" i="1" dirty="0">
                <a:effectLst/>
                <a:latin typeface="Calibri" panose="020F0502020204030204" pitchFamily="34" charset="0"/>
                <a:ea typeface="Calibri" panose="020F0502020204030204" pitchFamily="34" charset="0"/>
                <a:cs typeface="Times New Roman" panose="02020603050405020304" pitchFamily="18" charset="0"/>
              </a:rPr>
              <a:t>You are standing next to a six-year-old boy in </a:t>
            </a:r>
            <a:r>
              <a:rPr lang="en-AU" sz="1800" i="1" dirty="0" err="1">
                <a:effectLst/>
                <a:latin typeface="Calibri" panose="020F0502020204030204" pitchFamily="34" charset="0"/>
                <a:ea typeface="Calibri" panose="020F0502020204030204" pitchFamily="34" charset="0"/>
                <a:cs typeface="Times New Roman" panose="02020603050405020304" pitchFamily="18" charset="0"/>
              </a:rPr>
              <a:t>Pormpuraaw</a:t>
            </a:r>
            <a:r>
              <a:rPr lang="en-AU" sz="1800" i="1" dirty="0">
                <a:effectLst/>
                <a:latin typeface="Calibri" panose="020F0502020204030204" pitchFamily="34" charset="0"/>
                <a:ea typeface="Calibri" panose="020F0502020204030204" pitchFamily="34" charset="0"/>
                <a:cs typeface="Times New Roman" panose="02020603050405020304" pitchFamily="18" charset="0"/>
              </a:rPr>
              <a:t>, an isolated Aboriginal community in Australia. When you ask him to point north, he points precisely and without hesitation.</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355600" indent="0">
              <a:lnSpc>
                <a:spcPct val="107000"/>
              </a:lnSpc>
              <a:spcBef>
                <a:spcPts val="0"/>
              </a:spcBef>
              <a:spcAft>
                <a:spcPts val="800"/>
              </a:spcAft>
              <a:buNone/>
            </a:pPr>
            <a:r>
              <a:rPr lang="en-AU" sz="1800" i="1" dirty="0">
                <a:effectLst/>
                <a:latin typeface="Calibri" panose="020F0502020204030204" pitchFamily="34" charset="0"/>
                <a:ea typeface="Calibri" panose="020F0502020204030204" pitchFamily="34" charset="0"/>
                <a:cs typeface="Times New Roman" panose="02020603050405020304" pitchFamily="18" charset="0"/>
              </a:rPr>
              <a:t>Your compass says he’s right.</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355600" indent="0">
              <a:lnSpc>
                <a:spcPct val="107000"/>
              </a:lnSpc>
              <a:spcBef>
                <a:spcPts val="0"/>
              </a:spcBef>
              <a:spcAft>
                <a:spcPts val="800"/>
              </a:spcAft>
              <a:buNone/>
            </a:pPr>
            <a:r>
              <a:rPr lang="en-AU" sz="1800" i="1" dirty="0">
                <a:effectLst/>
                <a:latin typeface="Calibri" panose="020F0502020204030204" pitchFamily="34" charset="0"/>
                <a:ea typeface="Calibri" panose="020F0502020204030204" pitchFamily="34" charset="0"/>
                <a:cs typeface="Times New Roman" panose="02020603050405020304" pitchFamily="18" charset="0"/>
              </a:rPr>
              <a:t>You then ask the same question to a group of your teachers. Not all of them know the answer and the ones who think they do end up pointing in several different directions before eventually reaching a state of confusion.</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355600" indent="0">
              <a:lnSpc>
                <a:spcPct val="107000"/>
              </a:lnSpc>
              <a:spcBef>
                <a:spcPts val="0"/>
              </a:spcBef>
              <a:spcAft>
                <a:spcPts val="800"/>
              </a:spcAft>
              <a:buNone/>
            </a:pPr>
            <a:r>
              <a:rPr lang="en-AU" sz="1800" i="1" dirty="0">
                <a:effectLst/>
                <a:latin typeface="Calibri" panose="020F0502020204030204" pitchFamily="34" charset="0"/>
                <a:ea typeface="Calibri" panose="020F0502020204030204" pitchFamily="34" charset="0"/>
                <a:cs typeface="Times New Roman" panose="02020603050405020304" pitchFamily="18" charset="0"/>
              </a:rPr>
              <a:t>Why is it that a six-year-old boy in one culture can do something effortlessly that educated, experienced adults in another culture struggle to do?</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355600" indent="0">
              <a:lnSpc>
                <a:spcPct val="107000"/>
              </a:lnSpc>
              <a:spcBef>
                <a:spcPts val="0"/>
              </a:spcBef>
              <a:spcAft>
                <a:spcPts val="800"/>
              </a:spcAft>
              <a:buNone/>
            </a:pPr>
            <a:r>
              <a:rPr lang="en-AU" sz="1800" i="1" dirty="0">
                <a:effectLst/>
                <a:latin typeface="Calibri" panose="020F0502020204030204" pitchFamily="34" charset="0"/>
                <a:ea typeface="Calibri" panose="020F0502020204030204" pitchFamily="34" charset="0"/>
                <a:cs typeface="Times New Roman" panose="02020603050405020304" pitchFamily="18" charset="0"/>
              </a:rPr>
              <a:t>The surprising answer, as Lera Boroditsky reported in the Wall Street Journal in 2010, might be the substantial influence of our native language over our thought processes. I will be using some of her ideas to help me make my points.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355600" indent="0">
              <a:lnSpc>
                <a:spcPct val="107000"/>
              </a:lnSpc>
              <a:spcBef>
                <a:spcPts val="0"/>
              </a:spcBef>
              <a:spcAft>
                <a:spcPts val="800"/>
              </a:spcAft>
              <a:buNone/>
            </a:pPr>
            <a:r>
              <a:rPr lang="en-AU" sz="1800" i="1" dirty="0">
                <a:effectLst/>
                <a:latin typeface="Calibri" panose="020F0502020204030204" pitchFamily="34" charset="0"/>
                <a:ea typeface="Calibri" panose="020F0502020204030204" pitchFamily="34" charset="0"/>
                <a:cs typeface="Times New Roman" panose="02020603050405020304" pitchFamily="18" charset="0"/>
              </a:rPr>
              <a:t>The relationship between language and thought has provided a rich topic for anthropological, psychological and linguistic research. Language, like culture, is a system we all create and define together, but unlike culture it is tightly structured. The idea that language might shape thought has often been seen as crazy and irrational, and untestable at best. However, a new flurry of cognitive scientific research has caused a shift in consensus and led us to wonder: Do the languages we speak have an effect on the way in which we construct our individual perceptions of reality and how we see the world?</a:t>
            </a:r>
          </a:p>
          <a:p>
            <a:pPr marL="273050" indent="0">
              <a:lnSpc>
                <a:spcPct val="107000"/>
              </a:lnSpc>
              <a:spcBef>
                <a:spcPts val="0"/>
              </a:spcBef>
              <a:spcAft>
                <a:spcPts val="800"/>
              </a:spcAft>
              <a:buNone/>
            </a:pP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182563" indent="0">
              <a:lnSpc>
                <a:spcPct val="107000"/>
              </a:lnSpc>
              <a:spcBef>
                <a:spcPts val="0"/>
              </a:spcBef>
              <a:spcAft>
                <a:spcPts val="800"/>
              </a:spcAft>
              <a:buNone/>
            </a:pPr>
            <a:r>
              <a:rPr lang="en-AU" sz="1800" b="1" dirty="0">
                <a:effectLst/>
                <a:latin typeface="Calibri" panose="020F0502020204030204" pitchFamily="34" charset="0"/>
                <a:ea typeface="Calibri" panose="020F0502020204030204" pitchFamily="34" charset="0"/>
                <a:cs typeface="Times New Roman" panose="02020603050405020304" pitchFamily="18" charset="0"/>
              </a:rPr>
              <a:t>Is this extract consistent with a written or a spoken register?</a:t>
            </a:r>
          </a:p>
          <a:p>
            <a:pPr marL="625475" indent="-260350">
              <a:lnSpc>
                <a:spcPct val="107000"/>
              </a:lnSpc>
              <a:spcBef>
                <a:spcPts val="0"/>
              </a:spcBef>
              <a:spcAft>
                <a:spcPts val="800"/>
              </a:spcAft>
            </a:pPr>
            <a:r>
              <a:rPr lang="en-AU" sz="1800" dirty="0">
                <a:effectLst/>
                <a:latin typeface="Calibri" panose="020F0502020204030204" pitchFamily="34" charset="0"/>
                <a:ea typeface="Calibri" panose="020F0502020204030204" pitchFamily="34" charset="0"/>
                <a:cs typeface="Times New Roman" panose="02020603050405020304" pitchFamily="18" charset="0"/>
              </a:rPr>
              <a:t>What syntax (sentence structures) suggest this?</a:t>
            </a:r>
          </a:p>
          <a:p>
            <a:pPr marL="625475" indent="-260350">
              <a:lnSpc>
                <a:spcPct val="107000"/>
              </a:lnSpc>
              <a:spcBef>
                <a:spcPts val="0"/>
              </a:spcBef>
              <a:spcAft>
                <a:spcPts val="800"/>
              </a:spcAft>
            </a:pPr>
            <a:r>
              <a:rPr lang="en-AU" sz="1800" dirty="0">
                <a:effectLst/>
                <a:latin typeface="Calibri" panose="020F0502020204030204" pitchFamily="34" charset="0"/>
                <a:ea typeface="Calibri" panose="020F0502020204030204" pitchFamily="34" charset="0"/>
                <a:cs typeface="Times New Roman" panose="02020603050405020304" pitchFamily="18" charset="0"/>
              </a:rPr>
              <a:t>What words suggest this?</a:t>
            </a:r>
            <a:endParaRPr lang="en-AU" dirty="0"/>
          </a:p>
        </p:txBody>
      </p:sp>
      <p:sp>
        <p:nvSpPr>
          <p:cNvPr id="4" name="TextBox 3">
            <a:extLst>
              <a:ext uri="{FF2B5EF4-FFF2-40B4-BE49-F238E27FC236}">
                <a16:creationId xmlns:a16="http://schemas.microsoft.com/office/drawing/2014/main" id="{76A30F8A-4CCB-DFDF-7153-9165D6FED559}"/>
              </a:ext>
            </a:extLst>
          </p:cNvPr>
          <p:cNvSpPr txBox="1"/>
          <p:nvPr/>
        </p:nvSpPr>
        <p:spPr>
          <a:xfrm>
            <a:off x="451977" y="309249"/>
            <a:ext cx="5719864" cy="369332"/>
          </a:xfrm>
          <a:prstGeom prst="rect">
            <a:avLst/>
          </a:prstGeom>
          <a:noFill/>
        </p:spPr>
        <p:txBody>
          <a:bodyPr wrap="square" rtlCol="0">
            <a:spAutoFit/>
          </a:bodyPr>
          <a:lstStyle/>
          <a:p>
            <a:r>
              <a:rPr lang="en-AU" b="1" dirty="0"/>
              <a:t>Example A</a:t>
            </a:r>
          </a:p>
        </p:txBody>
      </p:sp>
    </p:spTree>
    <p:extLst>
      <p:ext uri="{BB962C8B-B14F-4D97-AF65-F5344CB8AC3E}">
        <p14:creationId xmlns:p14="http://schemas.microsoft.com/office/powerpoint/2010/main" val="2697860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8A8C0E-1A8D-A98E-06B8-D6D7A073FBC6}"/>
              </a:ext>
            </a:extLst>
          </p:cNvPr>
          <p:cNvSpPr>
            <a:spLocks noGrp="1"/>
          </p:cNvSpPr>
          <p:nvPr>
            <p:ph idx="4294967295"/>
          </p:nvPr>
        </p:nvSpPr>
        <p:spPr>
          <a:xfrm>
            <a:off x="143935" y="1010653"/>
            <a:ext cx="11637388" cy="5159140"/>
          </a:xfrm>
        </p:spPr>
        <p:txBody>
          <a:bodyPr numCol="2">
            <a:normAutofit/>
          </a:bodyPr>
          <a:lstStyle/>
          <a:p>
            <a:pPr marL="355600" indent="0">
              <a:lnSpc>
                <a:spcPct val="107000"/>
              </a:lnSpc>
              <a:spcBef>
                <a:spcPts val="0"/>
              </a:spcBef>
              <a:spcAft>
                <a:spcPts val="800"/>
              </a:spcAft>
              <a:buNone/>
            </a:pPr>
            <a:r>
              <a:rPr lang="en-AU" sz="1800" i="1" dirty="0">
                <a:effectLst/>
                <a:latin typeface="Calibri" panose="020F0502020204030204" pitchFamily="34" charset="0"/>
                <a:ea typeface="Calibri" panose="020F0502020204030204" pitchFamily="34" charset="0"/>
                <a:cs typeface="Times New Roman" panose="02020603050405020304" pitchFamily="18" charset="0"/>
              </a:rPr>
              <a:t>In the medieval and early modern eras, many religions, including Christianity, taught that the devil could give people the power to harm others in return for their loyalty. A “witchcraft craze” rippled through Europe from the 1300s to the end of the 1600s. Tens of thousands of supposed witches—mostly women—were executed. Though the witch trials in Salem, Massachusetts took place just as the European craze was winding down, local circumstances explain their onset.</a:t>
            </a:r>
          </a:p>
          <a:p>
            <a:pPr marL="355600" indent="0">
              <a:lnSpc>
                <a:spcPct val="107000"/>
              </a:lnSpc>
              <a:spcBef>
                <a:spcPts val="0"/>
              </a:spcBef>
              <a:spcAft>
                <a:spcPts val="800"/>
              </a:spcAft>
              <a:buNone/>
            </a:pPr>
            <a:r>
              <a:rPr lang="en-AU" sz="1800" i="1" dirty="0">
                <a:effectLst/>
                <a:latin typeface="Calibri" panose="020F0502020204030204" pitchFamily="34" charset="0"/>
                <a:ea typeface="Calibri" panose="020F0502020204030204" pitchFamily="34" charset="0"/>
                <a:cs typeface="Times New Roman" panose="02020603050405020304" pitchFamily="18" charset="0"/>
              </a:rPr>
              <a:t>In 1689, English monarchs William and Mary started a war with France in the American colonies. Known as King William’s War to colonists, the conflict ravaged regions of upstate New York, Nova Scotia and Quebec, sending refugees into the county of Essex—and, specifically, Salem Village—in the Massachusetts Bay Colony. (Salem Village is present-day Danvers, Massachusetts; colonial Salem Town became what’s now Salem.)</a:t>
            </a:r>
          </a:p>
          <a:p>
            <a:pPr marL="355600" indent="0">
              <a:lnSpc>
                <a:spcPct val="107000"/>
              </a:lnSpc>
              <a:spcBef>
                <a:spcPts val="0"/>
              </a:spcBef>
              <a:spcAft>
                <a:spcPts val="800"/>
              </a:spcAft>
              <a:buNone/>
            </a:pPr>
            <a:r>
              <a:rPr lang="en-AU" sz="1800" i="1" dirty="0">
                <a:effectLst/>
                <a:latin typeface="Calibri" panose="020F0502020204030204" pitchFamily="34" charset="0"/>
                <a:ea typeface="Calibri" panose="020F0502020204030204" pitchFamily="34" charset="0"/>
                <a:cs typeface="Times New Roman" panose="02020603050405020304" pitchFamily="18" charset="0"/>
              </a:rPr>
              <a:t>The displaced people placed a strain on Salem’s resources, aggravating the existing rivalry between families with ties to the wealth of the port of Salem and those who still depended on agriculture. Controversy also brewed over the Reverend Samuel Parris, who became Salem Village’s first ordained minister in 1689 and quickly gained a reputation for his rigid ways and greedy nature. The Puritan villagers believed all the quarrelling was the work of the devil.</a:t>
            </a:r>
          </a:p>
          <a:p>
            <a:pPr marL="273050" indent="0">
              <a:lnSpc>
                <a:spcPct val="107000"/>
              </a:lnSpc>
              <a:spcBef>
                <a:spcPts val="0"/>
              </a:spcBef>
              <a:spcAft>
                <a:spcPts val="800"/>
              </a:spcAft>
              <a:buNone/>
            </a:pP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182563" indent="0">
              <a:lnSpc>
                <a:spcPct val="107000"/>
              </a:lnSpc>
              <a:spcBef>
                <a:spcPts val="0"/>
              </a:spcBef>
              <a:spcAft>
                <a:spcPts val="800"/>
              </a:spcAft>
              <a:buNone/>
            </a:pPr>
            <a:r>
              <a:rPr lang="en-AU" sz="1800" b="1" dirty="0">
                <a:effectLst/>
                <a:latin typeface="Calibri" panose="020F0502020204030204" pitchFamily="34" charset="0"/>
                <a:ea typeface="Calibri" panose="020F0502020204030204" pitchFamily="34" charset="0"/>
                <a:cs typeface="Times New Roman" panose="02020603050405020304" pitchFamily="18" charset="0"/>
              </a:rPr>
              <a:t>Is this extract consistent with a written or a spoken register?</a:t>
            </a:r>
          </a:p>
          <a:p>
            <a:pPr marL="625475" indent="-433388">
              <a:lnSpc>
                <a:spcPct val="107000"/>
              </a:lnSpc>
              <a:spcBef>
                <a:spcPts val="0"/>
              </a:spcBef>
              <a:spcAft>
                <a:spcPts val="800"/>
              </a:spcAft>
            </a:pPr>
            <a:r>
              <a:rPr lang="en-AU" sz="1800" dirty="0">
                <a:effectLst/>
                <a:latin typeface="Calibri" panose="020F0502020204030204" pitchFamily="34" charset="0"/>
                <a:ea typeface="Calibri" panose="020F0502020204030204" pitchFamily="34" charset="0"/>
                <a:cs typeface="Times New Roman" panose="02020603050405020304" pitchFamily="18" charset="0"/>
              </a:rPr>
              <a:t>What syntax (sentence structures) suggest this?</a:t>
            </a:r>
          </a:p>
          <a:p>
            <a:pPr marL="625475" indent="-433388">
              <a:lnSpc>
                <a:spcPct val="107000"/>
              </a:lnSpc>
              <a:spcBef>
                <a:spcPts val="0"/>
              </a:spcBef>
              <a:spcAft>
                <a:spcPts val="800"/>
              </a:spcAft>
            </a:pPr>
            <a:r>
              <a:rPr lang="en-AU" sz="1800" dirty="0">
                <a:effectLst/>
                <a:latin typeface="Calibri" panose="020F0502020204030204" pitchFamily="34" charset="0"/>
                <a:ea typeface="Calibri" panose="020F0502020204030204" pitchFamily="34" charset="0"/>
                <a:cs typeface="Times New Roman" panose="02020603050405020304" pitchFamily="18" charset="0"/>
              </a:rPr>
              <a:t>What words suggest this?</a:t>
            </a:r>
            <a:endParaRPr lang="en-AU" dirty="0"/>
          </a:p>
        </p:txBody>
      </p:sp>
      <p:sp>
        <p:nvSpPr>
          <p:cNvPr id="4" name="TextBox 3">
            <a:extLst>
              <a:ext uri="{FF2B5EF4-FFF2-40B4-BE49-F238E27FC236}">
                <a16:creationId xmlns:a16="http://schemas.microsoft.com/office/drawing/2014/main" id="{76A30F8A-4CCB-DFDF-7153-9165D6FED559}"/>
              </a:ext>
            </a:extLst>
          </p:cNvPr>
          <p:cNvSpPr txBox="1"/>
          <p:nvPr/>
        </p:nvSpPr>
        <p:spPr>
          <a:xfrm>
            <a:off x="451977" y="309249"/>
            <a:ext cx="5719864" cy="369332"/>
          </a:xfrm>
          <a:prstGeom prst="rect">
            <a:avLst/>
          </a:prstGeom>
          <a:noFill/>
        </p:spPr>
        <p:txBody>
          <a:bodyPr wrap="square" rtlCol="0">
            <a:spAutoFit/>
          </a:bodyPr>
          <a:lstStyle/>
          <a:p>
            <a:r>
              <a:rPr lang="en-AU" b="1" dirty="0"/>
              <a:t>Example B</a:t>
            </a:r>
          </a:p>
        </p:txBody>
      </p:sp>
    </p:spTree>
    <p:extLst>
      <p:ext uri="{BB962C8B-B14F-4D97-AF65-F5344CB8AC3E}">
        <p14:creationId xmlns:p14="http://schemas.microsoft.com/office/powerpoint/2010/main" val="1239311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8A8C0E-1A8D-A98E-06B8-D6D7A073FBC6}"/>
              </a:ext>
            </a:extLst>
          </p:cNvPr>
          <p:cNvSpPr>
            <a:spLocks noGrp="1"/>
          </p:cNvSpPr>
          <p:nvPr>
            <p:ph idx="4294967295"/>
          </p:nvPr>
        </p:nvSpPr>
        <p:spPr>
          <a:xfrm>
            <a:off x="143935" y="1010653"/>
            <a:ext cx="11637388" cy="5159140"/>
          </a:xfrm>
        </p:spPr>
        <p:txBody>
          <a:bodyPr numCol="2">
            <a:normAutofit/>
          </a:bodyPr>
          <a:lstStyle/>
          <a:p>
            <a:pPr marL="355600" indent="0">
              <a:lnSpc>
                <a:spcPct val="107000"/>
              </a:lnSpc>
              <a:spcBef>
                <a:spcPts val="0"/>
              </a:spcBef>
              <a:spcAft>
                <a:spcPts val="800"/>
              </a:spcAft>
              <a:buNone/>
            </a:pPr>
            <a:r>
              <a:rPr lang="en-AU" sz="2000" i="1" dirty="0">
                <a:effectLst/>
                <a:latin typeface="Calibri" panose="020F0502020204030204" pitchFamily="34" charset="0"/>
                <a:ea typeface="Calibri" panose="020F0502020204030204" pitchFamily="34" charset="0"/>
                <a:cs typeface="Times New Roman" panose="02020603050405020304" pitchFamily="18" charset="0"/>
              </a:rPr>
              <a:t>Australia’s 29 peacock spider species are the most attractive of the world’s more than 5000 species of jumping spider. At a tiny 4-6mm long, they stand out because of their small size, their relatively large eyes and, of course, the male’s dazzling </a:t>
            </a:r>
            <a:r>
              <a:rPr lang="en-AU" sz="2000" i="1" dirty="0" err="1">
                <a:effectLst/>
                <a:latin typeface="Calibri" panose="020F0502020204030204" pitchFamily="34" charset="0"/>
                <a:ea typeface="Calibri" panose="020F0502020204030204" pitchFamily="34" charset="0"/>
                <a:cs typeface="Times New Roman" panose="02020603050405020304" pitchFamily="18" charset="0"/>
              </a:rPr>
              <a:t>opisthosomal</a:t>
            </a:r>
            <a:r>
              <a:rPr lang="en-AU" sz="2000" i="1" dirty="0">
                <a:effectLst/>
                <a:latin typeface="Calibri" panose="020F0502020204030204" pitchFamily="34" charset="0"/>
                <a:ea typeface="Calibri" panose="020F0502020204030204" pitchFamily="34" charset="0"/>
                <a:cs typeface="Times New Roman" panose="02020603050405020304" pitchFamily="18" charset="0"/>
              </a:rPr>
              <a:t> fan.</a:t>
            </a:r>
          </a:p>
          <a:p>
            <a:pPr marL="355600" indent="0">
              <a:lnSpc>
                <a:spcPct val="107000"/>
              </a:lnSpc>
              <a:spcBef>
                <a:spcPts val="0"/>
              </a:spcBef>
              <a:spcAft>
                <a:spcPts val="800"/>
              </a:spcAft>
              <a:buNone/>
            </a:pPr>
            <a:r>
              <a:rPr lang="en-AU" sz="2000" i="1" dirty="0">
                <a:effectLst/>
                <a:latin typeface="Calibri" panose="020F0502020204030204" pitchFamily="34" charset="0"/>
                <a:ea typeface="Calibri" panose="020F0502020204030204" pitchFamily="34" charset="0"/>
                <a:cs typeface="Times New Roman" panose="02020603050405020304" pitchFamily="18" charset="0"/>
              </a:rPr>
              <a:t>This is a flap on the abdomen covered in bright iridescent scales, which makes it appear similar to a butterfly wing. The fans are bold in themselves but it’s the male’s unique courtship dance that has caught people’s attention, especially online.</a:t>
            </a:r>
          </a:p>
          <a:p>
            <a:pPr marL="355600" indent="0">
              <a:lnSpc>
                <a:spcPct val="107000"/>
              </a:lnSpc>
              <a:spcBef>
                <a:spcPts val="0"/>
              </a:spcBef>
              <a:spcAft>
                <a:spcPts val="800"/>
              </a:spcAft>
              <a:buNone/>
            </a:pPr>
            <a:r>
              <a:rPr lang="en-AU" sz="2000" i="1" dirty="0">
                <a:effectLst/>
                <a:latin typeface="Calibri" panose="020F0502020204030204" pitchFamily="34" charset="0"/>
                <a:ea typeface="Calibri" panose="020F0502020204030204" pitchFamily="34" charset="0"/>
                <a:cs typeface="Times New Roman" panose="02020603050405020304" pitchFamily="18" charset="0"/>
              </a:rPr>
              <a:t>Each species has its own unique choreography. Most begin by waving their legs to get the female’s attention, then follow with a dance using their third legs and </a:t>
            </a:r>
            <a:r>
              <a:rPr lang="en-AU" sz="2000" i="1" dirty="0" err="1">
                <a:effectLst/>
                <a:latin typeface="Calibri" panose="020F0502020204030204" pitchFamily="34" charset="0"/>
                <a:ea typeface="Calibri" panose="020F0502020204030204" pitchFamily="34" charset="0"/>
                <a:cs typeface="Times New Roman" panose="02020603050405020304" pitchFamily="18" charset="0"/>
              </a:rPr>
              <a:t>opisthosomal</a:t>
            </a:r>
            <a:r>
              <a:rPr lang="en-AU" sz="2000" i="1" dirty="0">
                <a:effectLst/>
                <a:latin typeface="Calibri" panose="020F0502020204030204" pitchFamily="34" charset="0"/>
                <a:ea typeface="Calibri" panose="020F0502020204030204" pitchFamily="34" charset="0"/>
                <a:cs typeface="Times New Roman" panose="02020603050405020304" pitchFamily="18" charset="0"/>
              </a:rPr>
              <a:t> fans. They also use rotating appendages called spinnerets (which other spider species use to spin webs) and vibrate their abdomens. The dance can last anywhere from 10 seconds to two hours.</a:t>
            </a:r>
          </a:p>
          <a:p>
            <a:pPr marL="273050" indent="0">
              <a:lnSpc>
                <a:spcPct val="107000"/>
              </a:lnSpc>
              <a:spcBef>
                <a:spcPts val="0"/>
              </a:spcBef>
              <a:spcAft>
                <a:spcPts val="800"/>
              </a:spcAft>
              <a:buNone/>
            </a:pP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p>
            <a:pPr marL="182563" indent="0">
              <a:lnSpc>
                <a:spcPct val="107000"/>
              </a:lnSpc>
              <a:spcBef>
                <a:spcPts val="0"/>
              </a:spcBef>
              <a:spcAft>
                <a:spcPts val="800"/>
              </a:spcAft>
              <a:buNone/>
            </a:pPr>
            <a:r>
              <a:rPr lang="en-AU" sz="2000" b="1" dirty="0">
                <a:effectLst/>
                <a:latin typeface="Calibri" panose="020F0502020204030204" pitchFamily="34" charset="0"/>
                <a:ea typeface="Calibri" panose="020F0502020204030204" pitchFamily="34" charset="0"/>
                <a:cs typeface="Times New Roman" panose="02020603050405020304" pitchFamily="18" charset="0"/>
              </a:rPr>
              <a:t>Is this extract consistent with a written or a spoken register?</a:t>
            </a:r>
          </a:p>
          <a:p>
            <a:pPr marL="182563" indent="0">
              <a:lnSpc>
                <a:spcPct val="107000"/>
              </a:lnSpc>
              <a:spcBef>
                <a:spcPts val="0"/>
              </a:spcBef>
              <a:spcAft>
                <a:spcPts val="800"/>
              </a:spcAft>
              <a:buNone/>
            </a:pPr>
            <a:r>
              <a:rPr lang="en-AU" sz="2000" b="1" dirty="0">
                <a:latin typeface="Calibri" panose="020F0502020204030204" pitchFamily="34" charset="0"/>
                <a:ea typeface="Calibri" panose="020F0502020204030204" pitchFamily="34" charset="0"/>
                <a:cs typeface="Times New Roman" panose="02020603050405020304" pitchFamily="18" charset="0"/>
              </a:rPr>
              <a:t>In a word document, rewrite this for the opposite register.</a:t>
            </a:r>
            <a:endParaRPr lang="en-AU" sz="2000" b="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76A30F8A-4CCB-DFDF-7153-9165D6FED559}"/>
              </a:ext>
            </a:extLst>
          </p:cNvPr>
          <p:cNvSpPr txBox="1"/>
          <p:nvPr/>
        </p:nvSpPr>
        <p:spPr>
          <a:xfrm>
            <a:off x="451977" y="309249"/>
            <a:ext cx="5719864" cy="369332"/>
          </a:xfrm>
          <a:prstGeom prst="rect">
            <a:avLst/>
          </a:prstGeom>
          <a:noFill/>
        </p:spPr>
        <p:txBody>
          <a:bodyPr wrap="square" rtlCol="0">
            <a:spAutoFit/>
          </a:bodyPr>
          <a:lstStyle/>
          <a:p>
            <a:r>
              <a:rPr lang="en-AU" b="1" dirty="0"/>
              <a:t>Example C</a:t>
            </a:r>
          </a:p>
        </p:txBody>
      </p:sp>
    </p:spTree>
    <p:extLst>
      <p:ext uri="{BB962C8B-B14F-4D97-AF65-F5344CB8AC3E}">
        <p14:creationId xmlns:p14="http://schemas.microsoft.com/office/powerpoint/2010/main" val="1394771160"/>
      </p:ext>
    </p:extLst>
  </p:cSld>
  <p:clrMapOvr>
    <a:masterClrMapping/>
  </p:clrMapOvr>
</p:sld>
</file>

<file path=ppt/theme/theme1.xml><?xml version="1.0" encoding="utf-8"?>
<a:theme xmlns:a="http://schemas.openxmlformats.org/drawingml/2006/main" name="AccentBoxVTI">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6DD71352A75C946BB20F54B03F82ED8" ma:contentTypeVersion="0" ma:contentTypeDescription="Create a new document." ma:contentTypeScope="" ma:versionID="eceeccfb90892b5bada9b120beb2cbcc">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69996DE-B52F-4CAF-AC43-ED8FFA44F881}"/>
</file>

<file path=customXml/itemProps2.xml><?xml version="1.0" encoding="utf-8"?>
<ds:datastoreItem xmlns:ds="http://schemas.openxmlformats.org/officeDocument/2006/customXml" ds:itemID="{2E21CA4A-994C-48BC-9A98-B925523FAF2E}"/>
</file>

<file path=customXml/itemProps3.xml><?xml version="1.0" encoding="utf-8"?>
<ds:datastoreItem xmlns:ds="http://schemas.openxmlformats.org/officeDocument/2006/customXml" ds:itemID="{EB1341A3-1660-4E36-B0AE-96723C9B4641}"/>
</file>

<file path=docProps/app.xml><?xml version="1.0" encoding="utf-8"?>
<Properties xmlns="http://schemas.openxmlformats.org/officeDocument/2006/extended-properties" xmlns:vt="http://schemas.openxmlformats.org/officeDocument/2006/docPropsVTypes">
  <TotalTime>18</TotalTime>
  <Words>1074</Words>
  <Application>Microsoft Office PowerPoint</Application>
  <PresentationFormat>Widescreen</PresentationFormat>
  <Paragraphs>83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Avenir Next LT Pro</vt:lpstr>
      <vt:lpstr>Calibri</vt:lpstr>
      <vt:lpstr>AccentBoxVTI</vt:lpstr>
      <vt:lpstr>Register</vt:lpstr>
      <vt:lpstr>Learning outcomes</vt:lpstr>
      <vt:lpstr>Agree or disagree?</vt:lpstr>
      <vt:lpstr>“Register” means the way we dress up our language. </vt:lpstr>
      <vt:lpstr>Why does it matter?</vt:lpstr>
      <vt:lpstr>Register</vt:lpstr>
      <vt:lpstr>Formal v Informal</vt:lpstr>
      <vt:lpstr>Written v Spoken</vt:lpstr>
      <vt:lpstr>Your task</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Register</dc:title>
  <dc:creator>Lincoln LE FEVRE</dc:creator>
  <cp:lastModifiedBy>Lincoln LE FEVRE</cp:lastModifiedBy>
  <cp:revision>1</cp:revision>
  <dcterms:created xsi:type="dcterms:W3CDTF">2023-07-11T23:03:54Z</dcterms:created>
  <dcterms:modified xsi:type="dcterms:W3CDTF">2023-07-11T23:22:40Z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0x010100F6DD71352A75C946BB20F54B03F82ED8</vt:lpwstr>
  </property>
</Properties>
</file>